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71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1430000" cy="8839200"/>
  <p:notesSz cx="11430000" cy="88392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4" d="100"/>
          <a:sy n="54" d="100"/>
        </p:scale>
        <p:origin x="1252" y="6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953000" cy="4429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473825" y="0"/>
            <a:ext cx="4953000" cy="4429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FBD841-A2CD-456E-ABD1-45491A5AD059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786188" y="1104900"/>
            <a:ext cx="3857625" cy="29829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143000" y="4254500"/>
            <a:ext cx="9144000" cy="3479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396288"/>
            <a:ext cx="4953000" cy="4429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473825" y="8396288"/>
            <a:ext cx="4953000" cy="4429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161533-27A1-4027-9A1D-05CA96C084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75104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7250" y="1998027"/>
            <a:ext cx="9715500" cy="13535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609340"/>
            <a:ext cx="8001000" cy="16113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7150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88645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242121">
              <a:alpha val="948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43750" y="253"/>
            <a:ext cx="4286250" cy="6438645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242121">
              <a:alpha val="948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11430000" cy="227711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242121">
              <a:alpha val="948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24879" y="434975"/>
            <a:ext cx="6672580" cy="539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1500" y="1482407"/>
            <a:ext cx="1028700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E8E2D9A-D269-A7A3-5267-187369FB10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1430000" cy="883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4554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4879" y="3302000"/>
            <a:ext cx="1654810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350" b="1" spc="-35" dirty="0">
                <a:solidFill>
                  <a:srgbClr val="FFFFFF"/>
                </a:solidFill>
                <a:latin typeface="Trebuchet MS"/>
                <a:cs typeface="Trebuchet MS"/>
              </a:rPr>
              <a:t>Abstract</a:t>
            </a:r>
            <a:endParaRPr sz="335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4866" y="4109948"/>
            <a:ext cx="10001885" cy="1669047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 marR="5080" algn="just">
              <a:lnSpc>
                <a:spcPct val="136900"/>
              </a:lnSpc>
              <a:spcBef>
                <a:spcPts val="40"/>
              </a:spcBef>
            </a:pPr>
            <a:r>
              <a:rPr sz="1600" spc="-60" dirty="0">
                <a:solidFill>
                  <a:srgbClr val="E5E0DF"/>
                </a:solidFill>
                <a:latin typeface="Lucida Sans Unicode"/>
                <a:cs typeface="Lucida Sans Unicode"/>
              </a:rPr>
              <a:t>This</a:t>
            </a:r>
            <a:r>
              <a:rPr sz="1600" spc="-7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600" spc="-55" dirty="0">
                <a:solidFill>
                  <a:srgbClr val="E5E0DF"/>
                </a:solidFill>
                <a:latin typeface="Lucida Sans Unicode"/>
                <a:cs typeface="Lucida Sans Unicode"/>
              </a:rPr>
              <a:t>presentation</a:t>
            </a:r>
            <a:r>
              <a:rPr sz="1600" spc="-70" dirty="0">
                <a:solidFill>
                  <a:srgbClr val="E5E0DF"/>
                </a:solidFill>
                <a:latin typeface="Lucida Sans Unicode"/>
                <a:cs typeface="Lucida Sans Unicode"/>
              </a:rPr>
              <a:t> explores</a:t>
            </a:r>
            <a:r>
              <a:rPr sz="16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600" spc="-30" dirty="0">
                <a:solidFill>
                  <a:srgbClr val="E5E0DF"/>
                </a:solidFill>
                <a:latin typeface="Lucida Sans Unicode"/>
                <a:cs typeface="Lucida Sans Unicode"/>
              </a:rPr>
              <a:t>a</a:t>
            </a:r>
            <a:r>
              <a:rPr sz="1600" spc="-7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600" spc="-60" dirty="0">
                <a:solidFill>
                  <a:srgbClr val="E5E0DF"/>
                </a:solidFill>
                <a:latin typeface="Lucida Sans Unicode"/>
                <a:cs typeface="Lucida Sans Unicode"/>
              </a:rPr>
              <a:t>robust</a:t>
            </a:r>
            <a:r>
              <a:rPr sz="16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600" spc="-55" dirty="0">
                <a:solidFill>
                  <a:srgbClr val="E5E0DF"/>
                </a:solidFill>
                <a:latin typeface="Lucida Sans Unicode"/>
                <a:cs typeface="Lucida Sans Unicode"/>
              </a:rPr>
              <a:t>methodology</a:t>
            </a:r>
            <a:r>
              <a:rPr sz="1600" spc="-7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6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for </a:t>
            </a:r>
            <a:r>
              <a:rPr sz="1600" spc="-30" dirty="0">
                <a:solidFill>
                  <a:srgbClr val="E5E0DF"/>
                </a:solidFill>
                <a:latin typeface="Lucida Sans Unicode"/>
                <a:cs typeface="Lucida Sans Unicode"/>
              </a:rPr>
              <a:t>detecting</a:t>
            </a:r>
            <a:r>
              <a:rPr sz="1600" spc="-7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600" spc="-45" dirty="0">
                <a:solidFill>
                  <a:srgbClr val="E5E0DF"/>
                </a:solidFill>
                <a:latin typeface="Lucida Sans Unicode"/>
                <a:cs typeface="Lucida Sans Unicode"/>
              </a:rPr>
              <a:t>deepfake</a:t>
            </a:r>
            <a:r>
              <a:rPr sz="1600" spc="-7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600" spc="-20" dirty="0">
                <a:solidFill>
                  <a:srgbClr val="E5E0DF"/>
                </a:solidFill>
                <a:latin typeface="Lucida Sans Unicode"/>
                <a:cs typeface="Lucida Sans Unicode"/>
              </a:rPr>
              <a:t>face</a:t>
            </a:r>
            <a:r>
              <a:rPr sz="16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600" spc="-70" dirty="0">
                <a:solidFill>
                  <a:srgbClr val="E5E0DF"/>
                </a:solidFill>
                <a:latin typeface="Lucida Sans Unicode"/>
                <a:cs typeface="Lucida Sans Unicode"/>
              </a:rPr>
              <a:t>swaps, </a:t>
            </a:r>
            <a:r>
              <a:rPr sz="1600" spc="-30" dirty="0">
                <a:solidFill>
                  <a:srgbClr val="E5E0DF"/>
                </a:solidFill>
                <a:latin typeface="Lucida Sans Unicode"/>
                <a:cs typeface="Lucida Sans Unicode"/>
              </a:rPr>
              <a:t>a</a:t>
            </a:r>
            <a:r>
              <a:rPr sz="16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600" spc="-70" dirty="0">
                <a:solidFill>
                  <a:srgbClr val="E5E0DF"/>
                </a:solidFill>
                <a:latin typeface="Lucida Sans Unicode"/>
                <a:cs typeface="Lucida Sans Unicode"/>
              </a:rPr>
              <a:t>growing </a:t>
            </a:r>
            <a:r>
              <a:rPr sz="1600" spc="-35" dirty="0">
                <a:solidFill>
                  <a:srgbClr val="E5E0DF"/>
                </a:solidFill>
                <a:latin typeface="Lucida Sans Unicode"/>
                <a:cs typeface="Lucida Sans Unicode"/>
              </a:rPr>
              <a:t>concern</a:t>
            </a:r>
            <a:r>
              <a:rPr sz="16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 in</a:t>
            </a:r>
            <a:r>
              <a:rPr sz="1600" spc="-7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600" spc="-50" dirty="0">
                <a:solidFill>
                  <a:srgbClr val="E5E0DF"/>
                </a:solidFill>
                <a:latin typeface="Lucida Sans Unicode"/>
                <a:cs typeface="Lucida Sans Unicode"/>
              </a:rPr>
              <a:t>digital</a:t>
            </a:r>
            <a:r>
              <a:rPr sz="16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600" spc="-60" dirty="0">
                <a:solidFill>
                  <a:srgbClr val="E5E0DF"/>
                </a:solidFill>
                <a:latin typeface="Lucida Sans Unicode"/>
                <a:cs typeface="Lucida Sans Unicode"/>
              </a:rPr>
              <a:t>media.</a:t>
            </a:r>
            <a:r>
              <a:rPr sz="1600" spc="-10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600" spc="-25" dirty="0">
                <a:solidFill>
                  <a:srgbClr val="E5E0DF"/>
                </a:solidFill>
                <a:latin typeface="Lucida Sans Unicode"/>
                <a:cs typeface="Lucida Sans Unicode"/>
              </a:rPr>
              <a:t>We </a:t>
            </a:r>
            <a:r>
              <a:rPr sz="1600" spc="-35" dirty="0">
                <a:solidFill>
                  <a:srgbClr val="E5E0DF"/>
                </a:solidFill>
                <a:latin typeface="Lucida Sans Unicode"/>
                <a:cs typeface="Lucida Sans Unicode"/>
              </a:rPr>
              <a:t>leverage</a:t>
            </a:r>
            <a:r>
              <a:rPr sz="16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600" spc="-30" dirty="0">
                <a:solidFill>
                  <a:srgbClr val="E5E0DF"/>
                </a:solidFill>
                <a:latin typeface="Lucida Sans Unicode"/>
                <a:cs typeface="Lucida Sans Unicode"/>
              </a:rPr>
              <a:t>the</a:t>
            </a:r>
            <a:r>
              <a:rPr sz="1600" spc="-6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600" spc="-50" dirty="0">
                <a:solidFill>
                  <a:srgbClr val="E5E0DF"/>
                </a:solidFill>
                <a:latin typeface="Lucida Sans Unicode"/>
                <a:cs typeface="Lucida Sans Unicode"/>
              </a:rPr>
              <a:t>power</a:t>
            </a:r>
            <a:r>
              <a:rPr sz="1600" spc="-6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6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of</a:t>
            </a:r>
            <a:r>
              <a:rPr sz="1600" spc="-6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600" spc="-40" dirty="0">
                <a:solidFill>
                  <a:srgbClr val="E5E0DF"/>
                </a:solidFill>
                <a:latin typeface="Lucida Sans Unicode"/>
                <a:cs typeface="Lucida Sans Unicode"/>
              </a:rPr>
              <a:t>deep</a:t>
            </a:r>
            <a:r>
              <a:rPr sz="1600" spc="-6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600" spc="-50" dirty="0">
                <a:solidFill>
                  <a:srgbClr val="E5E0DF"/>
                </a:solidFill>
                <a:latin typeface="Lucida Sans Unicode"/>
                <a:cs typeface="Lucida Sans Unicode"/>
              </a:rPr>
              <a:t>learning</a:t>
            </a:r>
            <a:r>
              <a:rPr sz="1600" spc="-6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600" spc="-50" dirty="0">
                <a:solidFill>
                  <a:srgbClr val="E5E0DF"/>
                </a:solidFill>
                <a:latin typeface="Lucida Sans Unicode"/>
                <a:cs typeface="Lucida Sans Unicode"/>
              </a:rPr>
              <a:t>and</a:t>
            </a:r>
            <a:r>
              <a:rPr sz="1600" spc="-6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600" spc="-50" dirty="0">
                <a:solidFill>
                  <a:srgbClr val="E5E0DF"/>
                </a:solidFill>
                <a:latin typeface="Lucida Sans Unicode"/>
                <a:cs typeface="Lucida Sans Unicode"/>
              </a:rPr>
              <a:t>computer</a:t>
            </a:r>
            <a:r>
              <a:rPr sz="16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600" spc="-55" dirty="0">
                <a:solidFill>
                  <a:srgbClr val="E5E0DF"/>
                </a:solidFill>
                <a:latin typeface="Lucida Sans Unicode"/>
                <a:cs typeface="Lucida Sans Unicode"/>
              </a:rPr>
              <a:t>vision</a:t>
            </a:r>
            <a:r>
              <a:rPr sz="1600" spc="-6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600" spc="-40" dirty="0">
                <a:solidFill>
                  <a:srgbClr val="E5E0DF"/>
                </a:solidFill>
                <a:latin typeface="Lucida Sans Unicode"/>
                <a:cs typeface="Lucida Sans Unicode"/>
              </a:rPr>
              <a:t>to</a:t>
            </a:r>
            <a:r>
              <a:rPr sz="1600" spc="-6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600" spc="-40" dirty="0">
                <a:solidFill>
                  <a:srgbClr val="E5E0DF"/>
                </a:solidFill>
                <a:latin typeface="Lucida Sans Unicode"/>
                <a:cs typeface="Lucida Sans Unicode"/>
              </a:rPr>
              <a:t>analyze</a:t>
            </a:r>
            <a:r>
              <a:rPr sz="1600" spc="-6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600" spc="-45" dirty="0">
                <a:solidFill>
                  <a:srgbClr val="E5E0DF"/>
                </a:solidFill>
                <a:latin typeface="Lucida Sans Unicode"/>
                <a:cs typeface="Lucida Sans Unicode"/>
              </a:rPr>
              <a:t>visual</a:t>
            </a:r>
            <a:r>
              <a:rPr sz="1600" spc="-60" dirty="0">
                <a:solidFill>
                  <a:srgbClr val="E5E0DF"/>
                </a:solidFill>
                <a:latin typeface="Lucida Sans Unicode"/>
                <a:cs typeface="Lucida Sans Unicode"/>
              </a:rPr>
              <a:t> anomalies, </a:t>
            </a:r>
            <a:r>
              <a:rPr sz="1600" spc="-50" dirty="0">
                <a:solidFill>
                  <a:srgbClr val="E5E0DF"/>
                </a:solidFill>
                <a:latin typeface="Lucida Sans Unicode"/>
                <a:cs typeface="Lucida Sans Unicode"/>
              </a:rPr>
              <a:t>inconsistencies,</a:t>
            </a:r>
            <a:r>
              <a:rPr sz="1600" spc="-6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600" spc="-50" dirty="0">
                <a:solidFill>
                  <a:srgbClr val="E5E0DF"/>
                </a:solidFill>
                <a:latin typeface="Lucida Sans Unicode"/>
                <a:cs typeface="Lucida Sans Unicode"/>
              </a:rPr>
              <a:t>and</a:t>
            </a:r>
            <a:r>
              <a:rPr sz="1600" spc="-6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600" spc="-55" dirty="0">
                <a:solidFill>
                  <a:srgbClr val="E5E0DF"/>
                </a:solidFill>
                <a:latin typeface="Lucida Sans Unicode"/>
                <a:cs typeface="Lucida Sans Unicode"/>
              </a:rPr>
              <a:t>subtle</a:t>
            </a:r>
            <a:r>
              <a:rPr sz="16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E5E0DF"/>
                </a:solidFill>
                <a:latin typeface="Lucida Sans Unicode"/>
                <a:cs typeface="Lucida Sans Unicode"/>
              </a:rPr>
              <a:t>artifacts </a:t>
            </a:r>
            <a:r>
              <a:rPr sz="1600" spc="-45" dirty="0">
                <a:solidFill>
                  <a:srgbClr val="E5E0DF"/>
                </a:solidFill>
                <a:latin typeface="Lucida Sans Unicode"/>
                <a:cs typeface="Lucida Sans Unicode"/>
              </a:rPr>
              <a:t>inherent</a:t>
            </a:r>
            <a:r>
              <a:rPr sz="16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 in </a:t>
            </a:r>
            <a:r>
              <a:rPr sz="1600" spc="-35" dirty="0">
                <a:solidFill>
                  <a:srgbClr val="E5E0DF"/>
                </a:solidFill>
                <a:latin typeface="Lucida Sans Unicode"/>
                <a:cs typeface="Lucida Sans Unicode"/>
              </a:rPr>
              <a:t>synthetically</a:t>
            </a:r>
            <a:r>
              <a:rPr sz="1600" spc="-6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600" spc="-40" dirty="0">
                <a:solidFill>
                  <a:srgbClr val="E5E0DF"/>
                </a:solidFill>
                <a:latin typeface="Lucida Sans Unicode"/>
                <a:cs typeface="Lucida Sans Unicode"/>
              </a:rPr>
              <a:t>generated</a:t>
            </a:r>
            <a:r>
              <a:rPr sz="16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 images.</a:t>
            </a:r>
            <a:r>
              <a:rPr sz="1600" spc="-6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600" spc="-50" dirty="0">
                <a:solidFill>
                  <a:srgbClr val="E5E0DF"/>
                </a:solidFill>
                <a:latin typeface="Lucida Sans Unicode"/>
                <a:cs typeface="Lucida Sans Unicode"/>
              </a:rPr>
              <a:t>Our</a:t>
            </a:r>
            <a:r>
              <a:rPr sz="16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600" spc="-50" dirty="0">
                <a:solidFill>
                  <a:srgbClr val="E5E0DF"/>
                </a:solidFill>
                <a:latin typeface="Lucida Sans Unicode"/>
                <a:cs typeface="Lucida Sans Unicode"/>
              </a:rPr>
              <a:t>approach</a:t>
            </a:r>
            <a:r>
              <a:rPr sz="16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 aims</a:t>
            </a:r>
            <a:r>
              <a:rPr sz="1600" spc="-6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600" spc="-40" dirty="0">
                <a:solidFill>
                  <a:srgbClr val="E5E0DF"/>
                </a:solidFill>
                <a:latin typeface="Lucida Sans Unicode"/>
                <a:cs typeface="Lucida Sans Unicode"/>
              </a:rPr>
              <a:t>to</a:t>
            </a:r>
            <a:r>
              <a:rPr sz="16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600" spc="-45" dirty="0">
                <a:solidFill>
                  <a:srgbClr val="E5E0DF"/>
                </a:solidFill>
                <a:latin typeface="Lucida Sans Unicode"/>
                <a:cs typeface="Lucida Sans Unicode"/>
              </a:rPr>
              <a:t>differentiate</a:t>
            </a:r>
            <a:r>
              <a:rPr sz="1600" spc="-6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600" spc="-55" dirty="0">
                <a:solidFill>
                  <a:srgbClr val="E5E0DF"/>
                </a:solidFill>
                <a:latin typeface="Lucida Sans Unicode"/>
                <a:cs typeface="Lucida Sans Unicode"/>
              </a:rPr>
              <a:t>genuine</a:t>
            </a:r>
            <a:r>
              <a:rPr sz="16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600" spc="-70" dirty="0">
                <a:solidFill>
                  <a:srgbClr val="E5E0DF"/>
                </a:solidFill>
                <a:latin typeface="Lucida Sans Unicode"/>
                <a:cs typeface="Lucida Sans Unicode"/>
              </a:rPr>
              <a:t>human</a:t>
            </a:r>
            <a:r>
              <a:rPr sz="1600" spc="-6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600" spc="-25" dirty="0">
                <a:solidFill>
                  <a:srgbClr val="E5E0DF"/>
                </a:solidFill>
                <a:latin typeface="Lucida Sans Unicode"/>
                <a:cs typeface="Lucida Sans Unicode"/>
              </a:rPr>
              <a:t>faces</a:t>
            </a:r>
            <a:r>
              <a:rPr sz="16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600" spc="-80" dirty="0">
                <a:solidFill>
                  <a:srgbClr val="E5E0DF"/>
                </a:solidFill>
                <a:latin typeface="Lucida Sans Unicode"/>
                <a:cs typeface="Lucida Sans Unicode"/>
              </a:rPr>
              <a:t>from</a:t>
            </a:r>
            <a:r>
              <a:rPr sz="16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E5E0DF"/>
                </a:solidFill>
                <a:latin typeface="Lucida Sans Unicode"/>
                <a:cs typeface="Lucida Sans Unicode"/>
              </a:rPr>
              <a:t>sophisticated </a:t>
            </a:r>
            <a:r>
              <a:rPr sz="1600" spc="-45" dirty="0">
                <a:solidFill>
                  <a:srgbClr val="E5E0DF"/>
                </a:solidFill>
                <a:latin typeface="Lucida Sans Unicode"/>
                <a:cs typeface="Lucida Sans Unicode"/>
              </a:rPr>
              <a:t>deepfake</a:t>
            </a:r>
            <a:r>
              <a:rPr sz="16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600" spc="-50" dirty="0">
                <a:solidFill>
                  <a:srgbClr val="E5E0DF"/>
                </a:solidFill>
                <a:latin typeface="Lucida Sans Unicode"/>
                <a:cs typeface="Lucida Sans Unicode"/>
              </a:rPr>
              <a:t>creations</a:t>
            </a:r>
            <a:r>
              <a:rPr sz="16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600" spc="-55" dirty="0">
                <a:solidFill>
                  <a:srgbClr val="E5E0DF"/>
                </a:solidFill>
                <a:latin typeface="Lucida Sans Unicode"/>
                <a:cs typeface="Lucida Sans Unicode"/>
              </a:rPr>
              <a:t>with</a:t>
            </a:r>
            <a:r>
              <a:rPr sz="16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600" spc="-75" dirty="0">
                <a:solidFill>
                  <a:srgbClr val="E5E0DF"/>
                </a:solidFill>
                <a:latin typeface="Lucida Sans Unicode"/>
                <a:cs typeface="Lucida Sans Unicode"/>
              </a:rPr>
              <a:t>high</a:t>
            </a:r>
            <a:r>
              <a:rPr sz="1600" spc="-6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600" spc="-40" dirty="0">
                <a:solidFill>
                  <a:srgbClr val="E5E0DF"/>
                </a:solidFill>
                <a:latin typeface="Lucida Sans Unicode"/>
                <a:cs typeface="Lucida Sans Unicode"/>
              </a:rPr>
              <a:t>accuracy,</a:t>
            </a:r>
            <a:r>
              <a:rPr sz="16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600" spc="-60" dirty="0">
                <a:solidFill>
                  <a:srgbClr val="E5E0DF"/>
                </a:solidFill>
                <a:latin typeface="Lucida Sans Unicode"/>
                <a:cs typeface="Lucida Sans Unicode"/>
              </a:rPr>
              <a:t>contributing</a:t>
            </a:r>
            <a:r>
              <a:rPr sz="16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600" spc="-40" dirty="0">
                <a:solidFill>
                  <a:srgbClr val="E5E0DF"/>
                </a:solidFill>
                <a:latin typeface="Lucida Sans Unicode"/>
                <a:cs typeface="Lucida Sans Unicode"/>
              </a:rPr>
              <a:t>to</a:t>
            </a:r>
            <a:r>
              <a:rPr sz="1600" spc="-6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600" spc="-30" dirty="0">
                <a:solidFill>
                  <a:srgbClr val="E5E0DF"/>
                </a:solidFill>
                <a:latin typeface="Lucida Sans Unicode"/>
                <a:cs typeface="Lucida Sans Unicode"/>
              </a:rPr>
              <a:t>the</a:t>
            </a:r>
            <a:r>
              <a:rPr sz="16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600" spc="-35" dirty="0">
                <a:solidFill>
                  <a:srgbClr val="E5E0DF"/>
                </a:solidFill>
                <a:latin typeface="Lucida Sans Unicode"/>
                <a:cs typeface="Lucida Sans Unicode"/>
              </a:rPr>
              <a:t>integrity</a:t>
            </a:r>
            <a:r>
              <a:rPr sz="16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 of</a:t>
            </a:r>
            <a:r>
              <a:rPr sz="1600" spc="-6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600" spc="-45" dirty="0">
                <a:solidFill>
                  <a:srgbClr val="E5E0DF"/>
                </a:solidFill>
                <a:latin typeface="Lucida Sans Unicode"/>
                <a:cs typeface="Lucida Sans Unicode"/>
              </a:rPr>
              <a:t>visual</a:t>
            </a:r>
            <a:r>
              <a:rPr sz="16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E5E0DF"/>
                </a:solidFill>
                <a:latin typeface="Lucida Sans Unicode"/>
                <a:cs typeface="Lucida Sans Unicode"/>
              </a:rPr>
              <a:t>information.</a:t>
            </a:r>
            <a:endParaRPr sz="1600" dirty="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8496300"/>
          </a:xfrm>
          <a:custGeom>
            <a:avLst/>
            <a:gdLst/>
            <a:ahLst/>
            <a:cxnLst/>
            <a:rect l="l" t="t" r="r" b="b"/>
            <a:pathLst>
              <a:path w="11430000" h="8496300">
                <a:moveTo>
                  <a:pt x="11430000" y="0"/>
                </a:moveTo>
                <a:lnTo>
                  <a:pt x="0" y="0"/>
                </a:lnTo>
                <a:lnTo>
                  <a:pt x="0" y="8496300"/>
                </a:lnTo>
                <a:lnTo>
                  <a:pt x="11430000" y="84963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242121">
              <a:alpha val="948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00" dirty="0"/>
              <a:t>Libraries</a:t>
            </a:r>
            <a:r>
              <a:rPr spc="-305" dirty="0"/>
              <a:t> </a:t>
            </a:r>
            <a:r>
              <a:rPr spc="-20" dirty="0"/>
              <a:t>Used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638175" y="1409699"/>
            <a:ext cx="4981575" cy="2066925"/>
            <a:chOff x="638175" y="1409699"/>
            <a:chExt cx="4981575" cy="2066925"/>
          </a:xfrm>
        </p:grpSpPr>
        <p:sp>
          <p:nvSpPr>
            <p:cNvPr id="5" name="object 5"/>
            <p:cNvSpPr/>
            <p:nvPr/>
          </p:nvSpPr>
          <p:spPr>
            <a:xfrm>
              <a:off x="642937" y="1414462"/>
              <a:ext cx="4972050" cy="2057400"/>
            </a:xfrm>
            <a:custGeom>
              <a:avLst/>
              <a:gdLst/>
              <a:ahLst/>
              <a:cxnLst/>
              <a:rect l="l" t="t" r="r" b="b"/>
              <a:pathLst>
                <a:path w="4972050" h="2057400">
                  <a:moveTo>
                    <a:pt x="4916932" y="0"/>
                  </a:moveTo>
                  <a:lnTo>
                    <a:pt x="55120" y="0"/>
                  </a:lnTo>
                  <a:lnTo>
                    <a:pt x="51286" y="381"/>
                  </a:lnTo>
                  <a:lnTo>
                    <a:pt x="14540" y="20015"/>
                  </a:lnTo>
                  <a:lnTo>
                    <a:pt x="0" y="55118"/>
                  </a:lnTo>
                  <a:lnTo>
                    <a:pt x="0" y="1998408"/>
                  </a:lnTo>
                  <a:lnTo>
                    <a:pt x="0" y="2002269"/>
                  </a:lnTo>
                  <a:lnTo>
                    <a:pt x="20017" y="2042858"/>
                  </a:lnTo>
                  <a:lnTo>
                    <a:pt x="55120" y="2057400"/>
                  </a:lnTo>
                  <a:lnTo>
                    <a:pt x="4916932" y="2057400"/>
                  </a:lnTo>
                  <a:lnTo>
                    <a:pt x="4957508" y="2037384"/>
                  </a:lnTo>
                  <a:lnTo>
                    <a:pt x="4972050" y="2002269"/>
                  </a:lnTo>
                  <a:lnTo>
                    <a:pt x="4972050" y="55118"/>
                  </a:lnTo>
                  <a:lnTo>
                    <a:pt x="4952034" y="14541"/>
                  </a:lnTo>
                  <a:lnTo>
                    <a:pt x="4920767" y="381"/>
                  </a:lnTo>
                  <a:lnTo>
                    <a:pt x="4916932" y="0"/>
                  </a:lnTo>
                  <a:close/>
                </a:path>
              </a:pathLst>
            </a:custGeom>
            <a:solidFill>
              <a:srgbClr val="7E01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42937" y="1414462"/>
              <a:ext cx="4972050" cy="2057400"/>
            </a:xfrm>
            <a:custGeom>
              <a:avLst/>
              <a:gdLst/>
              <a:ahLst/>
              <a:cxnLst/>
              <a:rect l="l" t="t" r="r" b="b"/>
              <a:pathLst>
                <a:path w="4972050" h="2057400">
                  <a:moveTo>
                    <a:pt x="0" y="1998408"/>
                  </a:moveTo>
                  <a:lnTo>
                    <a:pt x="0" y="58991"/>
                  </a:lnTo>
                  <a:lnTo>
                    <a:pt x="0" y="55118"/>
                  </a:lnTo>
                  <a:lnTo>
                    <a:pt x="377" y="51282"/>
                  </a:lnTo>
                  <a:lnTo>
                    <a:pt x="1131" y="47485"/>
                  </a:lnTo>
                  <a:lnTo>
                    <a:pt x="1889" y="43688"/>
                  </a:lnTo>
                  <a:lnTo>
                    <a:pt x="3006" y="39992"/>
                  </a:lnTo>
                  <a:lnTo>
                    <a:pt x="4489" y="36423"/>
                  </a:lnTo>
                  <a:lnTo>
                    <a:pt x="5972" y="32842"/>
                  </a:lnTo>
                  <a:lnTo>
                    <a:pt x="7788" y="29438"/>
                  </a:lnTo>
                  <a:lnTo>
                    <a:pt x="9941" y="26225"/>
                  </a:lnTo>
                  <a:lnTo>
                    <a:pt x="12094" y="22999"/>
                  </a:lnTo>
                  <a:lnTo>
                    <a:pt x="14540" y="20015"/>
                  </a:lnTo>
                  <a:lnTo>
                    <a:pt x="17278" y="17284"/>
                  </a:lnTo>
                  <a:lnTo>
                    <a:pt x="20017" y="14541"/>
                  </a:lnTo>
                  <a:lnTo>
                    <a:pt x="22998" y="12090"/>
                  </a:lnTo>
                  <a:lnTo>
                    <a:pt x="26219" y="9944"/>
                  </a:lnTo>
                  <a:lnTo>
                    <a:pt x="29438" y="7785"/>
                  </a:lnTo>
                  <a:lnTo>
                    <a:pt x="32840" y="5969"/>
                  </a:lnTo>
                  <a:lnTo>
                    <a:pt x="36418" y="4495"/>
                  </a:lnTo>
                  <a:lnTo>
                    <a:pt x="39999" y="3009"/>
                  </a:lnTo>
                  <a:lnTo>
                    <a:pt x="43685" y="1892"/>
                  </a:lnTo>
                  <a:lnTo>
                    <a:pt x="47486" y="1130"/>
                  </a:lnTo>
                  <a:lnTo>
                    <a:pt x="51286" y="381"/>
                  </a:lnTo>
                  <a:lnTo>
                    <a:pt x="55120" y="0"/>
                  </a:lnTo>
                  <a:lnTo>
                    <a:pt x="58995" y="0"/>
                  </a:lnTo>
                  <a:lnTo>
                    <a:pt x="4913058" y="0"/>
                  </a:lnTo>
                  <a:lnTo>
                    <a:pt x="4916932" y="0"/>
                  </a:lnTo>
                  <a:lnTo>
                    <a:pt x="4920767" y="381"/>
                  </a:lnTo>
                  <a:lnTo>
                    <a:pt x="4924564" y="1130"/>
                  </a:lnTo>
                  <a:lnTo>
                    <a:pt x="4928362" y="1892"/>
                  </a:lnTo>
                  <a:lnTo>
                    <a:pt x="4932045" y="3009"/>
                  </a:lnTo>
                  <a:lnTo>
                    <a:pt x="4935626" y="4495"/>
                  </a:lnTo>
                  <a:lnTo>
                    <a:pt x="4939207" y="5969"/>
                  </a:lnTo>
                  <a:lnTo>
                    <a:pt x="4942611" y="7785"/>
                  </a:lnTo>
                  <a:lnTo>
                    <a:pt x="4945837" y="9944"/>
                  </a:lnTo>
                  <a:lnTo>
                    <a:pt x="4949050" y="12090"/>
                  </a:lnTo>
                  <a:lnTo>
                    <a:pt x="4952034" y="14541"/>
                  </a:lnTo>
                  <a:lnTo>
                    <a:pt x="4954765" y="17284"/>
                  </a:lnTo>
                  <a:lnTo>
                    <a:pt x="4957508" y="20015"/>
                  </a:lnTo>
                  <a:lnTo>
                    <a:pt x="4959959" y="22999"/>
                  </a:lnTo>
                  <a:lnTo>
                    <a:pt x="4962105" y="26225"/>
                  </a:lnTo>
                  <a:lnTo>
                    <a:pt x="4964264" y="29438"/>
                  </a:lnTo>
                  <a:lnTo>
                    <a:pt x="4966081" y="32842"/>
                  </a:lnTo>
                  <a:lnTo>
                    <a:pt x="4967554" y="36423"/>
                  </a:lnTo>
                  <a:lnTo>
                    <a:pt x="4969040" y="39992"/>
                  </a:lnTo>
                  <a:lnTo>
                    <a:pt x="4970157" y="43688"/>
                  </a:lnTo>
                  <a:lnTo>
                    <a:pt x="4970919" y="47485"/>
                  </a:lnTo>
                  <a:lnTo>
                    <a:pt x="4971669" y="51282"/>
                  </a:lnTo>
                  <a:lnTo>
                    <a:pt x="4972050" y="55118"/>
                  </a:lnTo>
                  <a:lnTo>
                    <a:pt x="4972050" y="58991"/>
                  </a:lnTo>
                  <a:lnTo>
                    <a:pt x="4972050" y="1998408"/>
                  </a:lnTo>
                  <a:lnTo>
                    <a:pt x="4972050" y="2002269"/>
                  </a:lnTo>
                  <a:lnTo>
                    <a:pt x="4971669" y="2006117"/>
                  </a:lnTo>
                  <a:lnTo>
                    <a:pt x="4970919" y="2009914"/>
                  </a:lnTo>
                  <a:lnTo>
                    <a:pt x="4970157" y="2013712"/>
                  </a:lnTo>
                  <a:lnTo>
                    <a:pt x="4969040" y="2017395"/>
                  </a:lnTo>
                  <a:lnTo>
                    <a:pt x="4967554" y="2020976"/>
                  </a:lnTo>
                  <a:lnTo>
                    <a:pt x="4966081" y="2024557"/>
                  </a:lnTo>
                  <a:lnTo>
                    <a:pt x="4964264" y="2027961"/>
                  </a:lnTo>
                  <a:lnTo>
                    <a:pt x="4962105" y="2031174"/>
                  </a:lnTo>
                  <a:lnTo>
                    <a:pt x="4959959" y="2034400"/>
                  </a:lnTo>
                  <a:lnTo>
                    <a:pt x="4935626" y="2052904"/>
                  </a:lnTo>
                  <a:lnTo>
                    <a:pt x="4932045" y="2054390"/>
                  </a:lnTo>
                  <a:lnTo>
                    <a:pt x="4928362" y="2055507"/>
                  </a:lnTo>
                  <a:lnTo>
                    <a:pt x="4924564" y="2056269"/>
                  </a:lnTo>
                  <a:lnTo>
                    <a:pt x="4920767" y="2057019"/>
                  </a:lnTo>
                  <a:lnTo>
                    <a:pt x="4916932" y="2057400"/>
                  </a:lnTo>
                  <a:lnTo>
                    <a:pt x="4913058" y="2057400"/>
                  </a:lnTo>
                  <a:lnTo>
                    <a:pt x="58995" y="2057400"/>
                  </a:lnTo>
                  <a:lnTo>
                    <a:pt x="55120" y="2057400"/>
                  </a:lnTo>
                  <a:lnTo>
                    <a:pt x="51286" y="2057019"/>
                  </a:lnTo>
                  <a:lnTo>
                    <a:pt x="47486" y="2056269"/>
                  </a:lnTo>
                  <a:lnTo>
                    <a:pt x="43685" y="2055507"/>
                  </a:lnTo>
                  <a:lnTo>
                    <a:pt x="39999" y="2054390"/>
                  </a:lnTo>
                  <a:lnTo>
                    <a:pt x="36418" y="2052904"/>
                  </a:lnTo>
                  <a:lnTo>
                    <a:pt x="32840" y="2051431"/>
                  </a:lnTo>
                  <a:lnTo>
                    <a:pt x="29438" y="2049602"/>
                  </a:lnTo>
                  <a:lnTo>
                    <a:pt x="26219" y="2047455"/>
                  </a:lnTo>
                  <a:lnTo>
                    <a:pt x="22998" y="2045309"/>
                  </a:lnTo>
                  <a:lnTo>
                    <a:pt x="9941" y="2031174"/>
                  </a:lnTo>
                  <a:lnTo>
                    <a:pt x="7788" y="2027961"/>
                  </a:lnTo>
                  <a:lnTo>
                    <a:pt x="5972" y="2024557"/>
                  </a:lnTo>
                  <a:lnTo>
                    <a:pt x="4489" y="2020976"/>
                  </a:lnTo>
                  <a:lnTo>
                    <a:pt x="3006" y="2017395"/>
                  </a:lnTo>
                  <a:lnTo>
                    <a:pt x="1889" y="2013712"/>
                  </a:lnTo>
                  <a:lnTo>
                    <a:pt x="1131" y="2009914"/>
                  </a:lnTo>
                  <a:lnTo>
                    <a:pt x="377" y="2006117"/>
                  </a:lnTo>
                  <a:lnTo>
                    <a:pt x="0" y="2002269"/>
                  </a:lnTo>
                  <a:lnTo>
                    <a:pt x="0" y="1998408"/>
                  </a:lnTo>
                  <a:close/>
                </a:path>
              </a:pathLst>
            </a:custGeom>
            <a:ln w="9525">
              <a:solidFill>
                <a:srgbClr val="961B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28675" y="1600199"/>
              <a:ext cx="542925" cy="542925"/>
            </a:xfrm>
            <a:custGeom>
              <a:avLst/>
              <a:gdLst/>
              <a:ahLst/>
              <a:cxnLst/>
              <a:rect l="l" t="t" r="r" b="b"/>
              <a:pathLst>
                <a:path w="542925" h="542925">
                  <a:moveTo>
                    <a:pt x="271462" y="0"/>
                  </a:moveTo>
                  <a:lnTo>
                    <a:pt x="231629" y="2940"/>
                  </a:lnTo>
                  <a:lnTo>
                    <a:pt x="192662" y="11684"/>
                  </a:lnTo>
                  <a:lnTo>
                    <a:pt x="155397" y="26063"/>
                  </a:lnTo>
                  <a:lnTo>
                    <a:pt x="120644" y="45745"/>
                  </a:lnTo>
                  <a:lnTo>
                    <a:pt x="89159" y="70324"/>
                  </a:lnTo>
                  <a:lnTo>
                    <a:pt x="61620" y="99250"/>
                  </a:lnTo>
                  <a:lnTo>
                    <a:pt x="38620" y="131902"/>
                  </a:lnTo>
                  <a:lnTo>
                    <a:pt x="20662" y="167576"/>
                  </a:lnTo>
                  <a:lnTo>
                    <a:pt x="8134" y="205500"/>
                  </a:lnTo>
                  <a:lnTo>
                    <a:pt x="1304" y="244856"/>
                  </a:lnTo>
                  <a:lnTo>
                    <a:pt x="0" y="271462"/>
                  </a:lnTo>
                  <a:lnTo>
                    <a:pt x="81" y="278127"/>
                  </a:lnTo>
                  <a:lnTo>
                    <a:pt x="3995" y="317867"/>
                  </a:lnTo>
                  <a:lnTo>
                    <a:pt x="13699" y="356619"/>
                  </a:lnTo>
                  <a:lnTo>
                    <a:pt x="28983" y="393515"/>
                  </a:lnTo>
                  <a:lnTo>
                    <a:pt x="49520" y="427770"/>
                  </a:lnTo>
                  <a:lnTo>
                    <a:pt x="74854" y="458640"/>
                  </a:lnTo>
                  <a:lnTo>
                    <a:pt x="104450" y="485469"/>
                  </a:lnTo>
                  <a:lnTo>
                    <a:pt x="137657" y="507655"/>
                  </a:lnTo>
                  <a:lnTo>
                    <a:pt x="173766" y="524736"/>
                  </a:lnTo>
                  <a:lnTo>
                    <a:pt x="211984" y="536328"/>
                  </a:lnTo>
                  <a:lnTo>
                    <a:pt x="251493" y="542190"/>
                  </a:lnTo>
                  <a:lnTo>
                    <a:pt x="271462" y="542925"/>
                  </a:lnTo>
                  <a:lnTo>
                    <a:pt x="278126" y="542843"/>
                  </a:lnTo>
                  <a:lnTo>
                    <a:pt x="317870" y="538929"/>
                  </a:lnTo>
                  <a:lnTo>
                    <a:pt x="356615" y="529218"/>
                  </a:lnTo>
                  <a:lnTo>
                    <a:pt x="393513" y="513939"/>
                  </a:lnTo>
                  <a:lnTo>
                    <a:pt x="427775" y="493407"/>
                  </a:lnTo>
                  <a:lnTo>
                    <a:pt x="458646" y="468065"/>
                  </a:lnTo>
                  <a:lnTo>
                    <a:pt x="485469" y="438471"/>
                  </a:lnTo>
                  <a:lnTo>
                    <a:pt x="507657" y="405263"/>
                  </a:lnTo>
                  <a:lnTo>
                    <a:pt x="524738" y="369159"/>
                  </a:lnTo>
                  <a:lnTo>
                    <a:pt x="536329" y="330943"/>
                  </a:lnTo>
                  <a:lnTo>
                    <a:pt x="542190" y="291432"/>
                  </a:lnTo>
                  <a:lnTo>
                    <a:pt x="542925" y="271462"/>
                  </a:lnTo>
                  <a:lnTo>
                    <a:pt x="542843" y="264799"/>
                  </a:lnTo>
                  <a:lnTo>
                    <a:pt x="538929" y="225051"/>
                  </a:lnTo>
                  <a:lnTo>
                    <a:pt x="529229" y="186305"/>
                  </a:lnTo>
                  <a:lnTo>
                    <a:pt x="513939" y="149409"/>
                  </a:lnTo>
                  <a:lnTo>
                    <a:pt x="493407" y="115154"/>
                  </a:lnTo>
                  <a:lnTo>
                    <a:pt x="468065" y="84284"/>
                  </a:lnTo>
                  <a:lnTo>
                    <a:pt x="438473" y="57455"/>
                  </a:lnTo>
                  <a:lnTo>
                    <a:pt x="405267" y="35267"/>
                  </a:lnTo>
                  <a:lnTo>
                    <a:pt x="369158" y="18188"/>
                  </a:lnTo>
                  <a:lnTo>
                    <a:pt x="330940" y="6595"/>
                  </a:lnTo>
                  <a:lnTo>
                    <a:pt x="291429" y="734"/>
                  </a:lnTo>
                  <a:lnTo>
                    <a:pt x="271462" y="0"/>
                  </a:lnTo>
                  <a:close/>
                </a:path>
              </a:pathLst>
            </a:custGeom>
            <a:solidFill>
              <a:srgbClr val="F203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92169" y="1747154"/>
              <a:ext cx="223918" cy="256748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816570" y="2278062"/>
            <a:ext cx="4609465" cy="96202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10" dirty="0">
                <a:solidFill>
                  <a:srgbClr val="E5E0DF"/>
                </a:solidFill>
                <a:latin typeface="Trebuchet MS"/>
                <a:cs typeface="Trebuchet MS"/>
              </a:rPr>
              <a:t>Python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38400"/>
              </a:lnSpc>
              <a:spcBef>
                <a:spcPts val="700"/>
              </a:spcBef>
            </a:pPr>
            <a:r>
              <a:rPr sz="1400" spc="-45" dirty="0">
                <a:solidFill>
                  <a:srgbClr val="E5E0DF"/>
                </a:solidFill>
                <a:latin typeface="Lucida Sans Unicode"/>
                <a:cs typeface="Lucida Sans Unicode"/>
              </a:rPr>
              <a:t>The</a:t>
            </a:r>
            <a:r>
              <a:rPr sz="14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E5E0DF"/>
                </a:solidFill>
                <a:latin typeface="Lucida Sans Unicode"/>
                <a:cs typeface="Lucida Sans Unicode"/>
              </a:rPr>
              <a:t>core</a:t>
            </a:r>
            <a:r>
              <a:rPr sz="14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70" dirty="0">
                <a:solidFill>
                  <a:srgbClr val="E5E0DF"/>
                </a:solidFill>
                <a:latin typeface="Lucida Sans Unicode"/>
                <a:cs typeface="Lucida Sans Unicode"/>
              </a:rPr>
              <a:t>programming</a:t>
            </a:r>
            <a:r>
              <a:rPr sz="14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50" dirty="0">
                <a:solidFill>
                  <a:srgbClr val="E5E0DF"/>
                </a:solidFill>
                <a:latin typeface="Lucida Sans Unicode"/>
                <a:cs typeface="Lucida Sans Unicode"/>
              </a:rPr>
              <a:t>language</a:t>
            </a:r>
            <a:r>
              <a:rPr sz="14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 for </a:t>
            </a:r>
            <a:r>
              <a:rPr sz="1400" spc="-55" dirty="0">
                <a:solidFill>
                  <a:srgbClr val="E5E0DF"/>
                </a:solidFill>
                <a:latin typeface="Lucida Sans Unicode"/>
                <a:cs typeface="Lucida Sans Unicode"/>
              </a:rPr>
              <a:t>model</a:t>
            </a:r>
            <a:r>
              <a:rPr sz="14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E5E0DF"/>
                </a:solidFill>
                <a:latin typeface="Lucida Sans Unicode"/>
                <a:cs typeface="Lucida Sans Unicode"/>
              </a:rPr>
              <a:t>development </a:t>
            </a:r>
            <a:r>
              <a:rPr sz="1400" spc="-50" dirty="0">
                <a:solidFill>
                  <a:srgbClr val="E5E0DF"/>
                </a:solidFill>
                <a:latin typeface="Lucida Sans Unicode"/>
                <a:cs typeface="Lucida Sans Unicode"/>
              </a:rPr>
              <a:t>and</a:t>
            </a:r>
            <a:r>
              <a:rPr sz="1400" spc="-9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E5E0DF"/>
                </a:solidFill>
                <a:latin typeface="Lucida Sans Unicode"/>
                <a:cs typeface="Lucida Sans Unicode"/>
              </a:rPr>
              <a:t>implementation.</a:t>
            </a:r>
            <a:endParaRPr sz="1400">
              <a:latin typeface="Lucida Sans Unicode"/>
              <a:cs typeface="Lucida Sans Unicode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810250" y="1409699"/>
            <a:ext cx="4981575" cy="2066925"/>
            <a:chOff x="5810250" y="1409699"/>
            <a:chExt cx="4981575" cy="2066925"/>
          </a:xfrm>
        </p:grpSpPr>
        <p:sp>
          <p:nvSpPr>
            <p:cNvPr id="11" name="object 11"/>
            <p:cNvSpPr/>
            <p:nvPr/>
          </p:nvSpPr>
          <p:spPr>
            <a:xfrm>
              <a:off x="5815012" y="1414462"/>
              <a:ext cx="4972050" cy="2057400"/>
            </a:xfrm>
            <a:custGeom>
              <a:avLst/>
              <a:gdLst/>
              <a:ahLst/>
              <a:cxnLst/>
              <a:rect l="l" t="t" r="r" b="b"/>
              <a:pathLst>
                <a:path w="4972050" h="2057400">
                  <a:moveTo>
                    <a:pt x="4916932" y="0"/>
                  </a:moveTo>
                  <a:lnTo>
                    <a:pt x="55118" y="0"/>
                  </a:lnTo>
                  <a:lnTo>
                    <a:pt x="51282" y="381"/>
                  </a:lnTo>
                  <a:lnTo>
                    <a:pt x="14541" y="20015"/>
                  </a:lnTo>
                  <a:lnTo>
                    <a:pt x="0" y="55118"/>
                  </a:lnTo>
                  <a:lnTo>
                    <a:pt x="0" y="1998408"/>
                  </a:lnTo>
                  <a:lnTo>
                    <a:pt x="0" y="2002269"/>
                  </a:lnTo>
                  <a:lnTo>
                    <a:pt x="20015" y="2042858"/>
                  </a:lnTo>
                  <a:lnTo>
                    <a:pt x="55118" y="2057400"/>
                  </a:lnTo>
                  <a:lnTo>
                    <a:pt x="4916932" y="2057400"/>
                  </a:lnTo>
                  <a:lnTo>
                    <a:pt x="4957508" y="2037384"/>
                  </a:lnTo>
                  <a:lnTo>
                    <a:pt x="4972050" y="2002269"/>
                  </a:lnTo>
                  <a:lnTo>
                    <a:pt x="4972050" y="55118"/>
                  </a:lnTo>
                  <a:lnTo>
                    <a:pt x="4952034" y="14541"/>
                  </a:lnTo>
                  <a:lnTo>
                    <a:pt x="4920767" y="381"/>
                  </a:lnTo>
                  <a:lnTo>
                    <a:pt x="4916932" y="0"/>
                  </a:lnTo>
                  <a:close/>
                </a:path>
              </a:pathLst>
            </a:custGeom>
            <a:solidFill>
              <a:srgbClr val="7E01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815012" y="1414462"/>
              <a:ext cx="4972050" cy="2057400"/>
            </a:xfrm>
            <a:custGeom>
              <a:avLst/>
              <a:gdLst/>
              <a:ahLst/>
              <a:cxnLst/>
              <a:rect l="l" t="t" r="r" b="b"/>
              <a:pathLst>
                <a:path w="4972050" h="2057400">
                  <a:moveTo>
                    <a:pt x="0" y="1998408"/>
                  </a:moveTo>
                  <a:lnTo>
                    <a:pt x="0" y="58991"/>
                  </a:lnTo>
                  <a:lnTo>
                    <a:pt x="0" y="55118"/>
                  </a:lnTo>
                  <a:lnTo>
                    <a:pt x="381" y="51282"/>
                  </a:lnTo>
                  <a:lnTo>
                    <a:pt x="1130" y="47485"/>
                  </a:lnTo>
                  <a:lnTo>
                    <a:pt x="1892" y="43688"/>
                  </a:lnTo>
                  <a:lnTo>
                    <a:pt x="3009" y="39992"/>
                  </a:lnTo>
                  <a:lnTo>
                    <a:pt x="4495" y="36423"/>
                  </a:lnTo>
                  <a:lnTo>
                    <a:pt x="5969" y="32842"/>
                  </a:lnTo>
                  <a:lnTo>
                    <a:pt x="7785" y="29438"/>
                  </a:lnTo>
                  <a:lnTo>
                    <a:pt x="9944" y="26225"/>
                  </a:lnTo>
                  <a:lnTo>
                    <a:pt x="12090" y="22999"/>
                  </a:lnTo>
                  <a:lnTo>
                    <a:pt x="14541" y="20015"/>
                  </a:lnTo>
                  <a:lnTo>
                    <a:pt x="17284" y="17284"/>
                  </a:lnTo>
                  <a:lnTo>
                    <a:pt x="20015" y="14541"/>
                  </a:lnTo>
                  <a:lnTo>
                    <a:pt x="22999" y="12090"/>
                  </a:lnTo>
                  <a:lnTo>
                    <a:pt x="26212" y="9944"/>
                  </a:lnTo>
                  <a:lnTo>
                    <a:pt x="29438" y="7785"/>
                  </a:lnTo>
                  <a:lnTo>
                    <a:pt x="32842" y="5969"/>
                  </a:lnTo>
                  <a:lnTo>
                    <a:pt x="36423" y="4495"/>
                  </a:lnTo>
                  <a:lnTo>
                    <a:pt x="39992" y="3009"/>
                  </a:lnTo>
                  <a:lnTo>
                    <a:pt x="43688" y="1892"/>
                  </a:lnTo>
                  <a:lnTo>
                    <a:pt x="47485" y="1130"/>
                  </a:lnTo>
                  <a:lnTo>
                    <a:pt x="51282" y="381"/>
                  </a:lnTo>
                  <a:lnTo>
                    <a:pt x="55118" y="0"/>
                  </a:lnTo>
                  <a:lnTo>
                    <a:pt x="58991" y="0"/>
                  </a:lnTo>
                  <a:lnTo>
                    <a:pt x="4913058" y="0"/>
                  </a:lnTo>
                  <a:lnTo>
                    <a:pt x="4916932" y="0"/>
                  </a:lnTo>
                  <a:lnTo>
                    <a:pt x="4920767" y="381"/>
                  </a:lnTo>
                  <a:lnTo>
                    <a:pt x="4924564" y="1130"/>
                  </a:lnTo>
                  <a:lnTo>
                    <a:pt x="4928362" y="1892"/>
                  </a:lnTo>
                  <a:lnTo>
                    <a:pt x="4932045" y="3009"/>
                  </a:lnTo>
                  <a:lnTo>
                    <a:pt x="4935626" y="4495"/>
                  </a:lnTo>
                  <a:lnTo>
                    <a:pt x="4939207" y="5969"/>
                  </a:lnTo>
                  <a:lnTo>
                    <a:pt x="4942611" y="7785"/>
                  </a:lnTo>
                  <a:lnTo>
                    <a:pt x="4945837" y="9944"/>
                  </a:lnTo>
                  <a:lnTo>
                    <a:pt x="4949050" y="12090"/>
                  </a:lnTo>
                  <a:lnTo>
                    <a:pt x="4952034" y="14541"/>
                  </a:lnTo>
                  <a:lnTo>
                    <a:pt x="4954765" y="17284"/>
                  </a:lnTo>
                  <a:lnTo>
                    <a:pt x="4957508" y="20015"/>
                  </a:lnTo>
                  <a:lnTo>
                    <a:pt x="4959959" y="22999"/>
                  </a:lnTo>
                  <a:lnTo>
                    <a:pt x="4962105" y="26225"/>
                  </a:lnTo>
                  <a:lnTo>
                    <a:pt x="4964252" y="29438"/>
                  </a:lnTo>
                  <a:lnTo>
                    <a:pt x="4966081" y="32842"/>
                  </a:lnTo>
                  <a:lnTo>
                    <a:pt x="4967554" y="36423"/>
                  </a:lnTo>
                  <a:lnTo>
                    <a:pt x="4969040" y="39992"/>
                  </a:lnTo>
                  <a:lnTo>
                    <a:pt x="4970157" y="43688"/>
                  </a:lnTo>
                  <a:lnTo>
                    <a:pt x="4970919" y="47485"/>
                  </a:lnTo>
                  <a:lnTo>
                    <a:pt x="4971669" y="51282"/>
                  </a:lnTo>
                  <a:lnTo>
                    <a:pt x="4972050" y="55118"/>
                  </a:lnTo>
                  <a:lnTo>
                    <a:pt x="4972050" y="58991"/>
                  </a:lnTo>
                  <a:lnTo>
                    <a:pt x="4972050" y="1998408"/>
                  </a:lnTo>
                  <a:lnTo>
                    <a:pt x="4972050" y="2002269"/>
                  </a:lnTo>
                  <a:lnTo>
                    <a:pt x="4971669" y="2006117"/>
                  </a:lnTo>
                  <a:lnTo>
                    <a:pt x="4970919" y="2009914"/>
                  </a:lnTo>
                  <a:lnTo>
                    <a:pt x="4970157" y="2013712"/>
                  </a:lnTo>
                  <a:lnTo>
                    <a:pt x="4969040" y="2017395"/>
                  </a:lnTo>
                  <a:lnTo>
                    <a:pt x="4967554" y="2020976"/>
                  </a:lnTo>
                  <a:lnTo>
                    <a:pt x="4966081" y="2024557"/>
                  </a:lnTo>
                  <a:lnTo>
                    <a:pt x="4964252" y="2027961"/>
                  </a:lnTo>
                  <a:lnTo>
                    <a:pt x="4962105" y="2031174"/>
                  </a:lnTo>
                  <a:lnTo>
                    <a:pt x="4959959" y="2034400"/>
                  </a:lnTo>
                  <a:lnTo>
                    <a:pt x="4957508" y="2037384"/>
                  </a:lnTo>
                  <a:lnTo>
                    <a:pt x="4954765" y="2040128"/>
                  </a:lnTo>
                  <a:lnTo>
                    <a:pt x="4952034" y="2042858"/>
                  </a:lnTo>
                  <a:lnTo>
                    <a:pt x="4935626" y="2052904"/>
                  </a:lnTo>
                  <a:lnTo>
                    <a:pt x="4932045" y="2054390"/>
                  </a:lnTo>
                  <a:lnTo>
                    <a:pt x="4928362" y="2055507"/>
                  </a:lnTo>
                  <a:lnTo>
                    <a:pt x="4924564" y="2056269"/>
                  </a:lnTo>
                  <a:lnTo>
                    <a:pt x="4920767" y="2057019"/>
                  </a:lnTo>
                  <a:lnTo>
                    <a:pt x="4916932" y="2057400"/>
                  </a:lnTo>
                  <a:lnTo>
                    <a:pt x="4913058" y="2057400"/>
                  </a:lnTo>
                  <a:lnTo>
                    <a:pt x="58991" y="2057400"/>
                  </a:lnTo>
                  <a:lnTo>
                    <a:pt x="55118" y="2057400"/>
                  </a:lnTo>
                  <a:lnTo>
                    <a:pt x="51282" y="2057019"/>
                  </a:lnTo>
                  <a:lnTo>
                    <a:pt x="47485" y="2056269"/>
                  </a:lnTo>
                  <a:lnTo>
                    <a:pt x="43688" y="2055507"/>
                  </a:lnTo>
                  <a:lnTo>
                    <a:pt x="39992" y="2054390"/>
                  </a:lnTo>
                  <a:lnTo>
                    <a:pt x="36423" y="2052904"/>
                  </a:lnTo>
                  <a:lnTo>
                    <a:pt x="32842" y="2051431"/>
                  </a:lnTo>
                  <a:lnTo>
                    <a:pt x="9944" y="2031174"/>
                  </a:lnTo>
                  <a:lnTo>
                    <a:pt x="7785" y="2027961"/>
                  </a:lnTo>
                  <a:lnTo>
                    <a:pt x="5969" y="2024557"/>
                  </a:lnTo>
                  <a:lnTo>
                    <a:pt x="4495" y="2020976"/>
                  </a:lnTo>
                  <a:lnTo>
                    <a:pt x="3009" y="2017395"/>
                  </a:lnTo>
                  <a:lnTo>
                    <a:pt x="1892" y="2013712"/>
                  </a:lnTo>
                  <a:lnTo>
                    <a:pt x="1130" y="2009914"/>
                  </a:lnTo>
                  <a:lnTo>
                    <a:pt x="381" y="2006117"/>
                  </a:lnTo>
                  <a:lnTo>
                    <a:pt x="0" y="2002269"/>
                  </a:lnTo>
                  <a:lnTo>
                    <a:pt x="0" y="1998408"/>
                  </a:lnTo>
                  <a:close/>
                </a:path>
              </a:pathLst>
            </a:custGeom>
            <a:ln w="9525">
              <a:solidFill>
                <a:srgbClr val="961B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000750" y="1600199"/>
              <a:ext cx="542925" cy="542925"/>
            </a:xfrm>
            <a:custGeom>
              <a:avLst/>
              <a:gdLst/>
              <a:ahLst/>
              <a:cxnLst/>
              <a:rect l="l" t="t" r="r" b="b"/>
              <a:pathLst>
                <a:path w="542925" h="542925">
                  <a:moveTo>
                    <a:pt x="271462" y="0"/>
                  </a:moveTo>
                  <a:lnTo>
                    <a:pt x="231627" y="2940"/>
                  </a:lnTo>
                  <a:lnTo>
                    <a:pt x="192659" y="11684"/>
                  </a:lnTo>
                  <a:lnTo>
                    <a:pt x="155394" y="26063"/>
                  </a:lnTo>
                  <a:lnTo>
                    <a:pt x="120650" y="45745"/>
                  </a:lnTo>
                  <a:lnTo>
                    <a:pt x="89158" y="70324"/>
                  </a:lnTo>
                  <a:lnTo>
                    <a:pt x="61620" y="99250"/>
                  </a:lnTo>
                  <a:lnTo>
                    <a:pt x="38619" y="131902"/>
                  </a:lnTo>
                  <a:lnTo>
                    <a:pt x="20662" y="167576"/>
                  </a:lnTo>
                  <a:lnTo>
                    <a:pt x="8132" y="205500"/>
                  </a:lnTo>
                  <a:lnTo>
                    <a:pt x="1308" y="244856"/>
                  </a:lnTo>
                  <a:lnTo>
                    <a:pt x="0" y="271462"/>
                  </a:lnTo>
                  <a:lnTo>
                    <a:pt x="81" y="278127"/>
                  </a:lnTo>
                  <a:lnTo>
                    <a:pt x="3995" y="317867"/>
                  </a:lnTo>
                  <a:lnTo>
                    <a:pt x="13701" y="356619"/>
                  </a:lnTo>
                  <a:lnTo>
                    <a:pt x="28985" y="393515"/>
                  </a:lnTo>
                  <a:lnTo>
                    <a:pt x="49517" y="427770"/>
                  </a:lnTo>
                  <a:lnTo>
                    <a:pt x="74859" y="458640"/>
                  </a:lnTo>
                  <a:lnTo>
                    <a:pt x="104453" y="485469"/>
                  </a:lnTo>
                  <a:lnTo>
                    <a:pt x="137661" y="507655"/>
                  </a:lnTo>
                  <a:lnTo>
                    <a:pt x="173765" y="524736"/>
                  </a:lnTo>
                  <a:lnTo>
                    <a:pt x="211981" y="536328"/>
                  </a:lnTo>
                  <a:lnTo>
                    <a:pt x="251497" y="542190"/>
                  </a:lnTo>
                  <a:lnTo>
                    <a:pt x="271462" y="542925"/>
                  </a:lnTo>
                  <a:lnTo>
                    <a:pt x="278125" y="542843"/>
                  </a:lnTo>
                  <a:lnTo>
                    <a:pt x="317873" y="538929"/>
                  </a:lnTo>
                  <a:lnTo>
                    <a:pt x="356619" y="529218"/>
                  </a:lnTo>
                  <a:lnTo>
                    <a:pt x="393515" y="513939"/>
                  </a:lnTo>
                  <a:lnTo>
                    <a:pt x="427770" y="493407"/>
                  </a:lnTo>
                  <a:lnTo>
                    <a:pt x="458646" y="468065"/>
                  </a:lnTo>
                  <a:lnTo>
                    <a:pt x="485469" y="438471"/>
                  </a:lnTo>
                  <a:lnTo>
                    <a:pt x="507657" y="405263"/>
                  </a:lnTo>
                  <a:lnTo>
                    <a:pt x="524736" y="369159"/>
                  </a:lnTo>
                  <a:lnTo>
                    <a:pt x="536329" y="330943"/>
                  </a:lnTo>
                  <a:lnTo>
                    <a:pt x="542190" y="291432"/>
                  </a:lnTo>
                  <a:lnTo>
                    <a:pt x="542925" y="271462"/>
                  </a:lnTo>
                  <a:lnTo>
                    <a:pt x="542843" y="264799"/>
                  </a:lnTo>
                  <a:lnTo>
                    <a:pt x="538929" y="225051"/>
                  </a:lnTo>
                  <a:lnTo>
                    <a:pt x="529223" y="186305"/>
                  </a:lnTo>
                  <a:lnTo>
                    <a:pt x="513939" y="149409"/>
                  </a:lnTo>
                  <a:lnTo>
                    <a:pt x="493407" y="115154"/>
                  </a:lnTo>
                  <a:lnTo>
                    <a:pt x="468065" y="84284"/>
                  </a:lnTo>
                  <a:lnTo>
                    <a:pt x="438471" y="57455"/>
                  </a:lnTo>
                  <a:lnTo>
                    <a:pt x="405263" y="35267"/>
                  </a:lnTo>
                  <a:lnTo>
                    <a:pt x="369159" y="18188"/>
                  </a:lnTo>
                  <a:lnTo>
                    <a:pt x="330943" y="6595"/>
                  </a:lnTo>
                  <a:lnTo>
                    <a:pt x="291427" y="734"/>
                  </a:lnTo>
                  <a:lnTo>
                    <a:pt x="271462" y="0"/>
                  </a:lnTo>
                  <a:close/>
                </a:path>
              </a:pathLst>
            </a:custGeom>
            <a:solidFill>
              <a:srgbClr val="F203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38179" y="1751891"/>
              <a:ext cx="256750" cy="247276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5985078" y="2278062"/>
            <a:ext cx="4304030" cy="96202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10" dirty="0">
                <a:solidFill>
                  <a:srgbClr val="E5E0DF"/>
                </a:solidFill>
                <a:latin typeface="Trebuchet MS"/>
                <a:cs typeface="Trebuchet MS"/>
              </a:rPr>
              <a:t>TensorFlow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38400"/>
              </a:lnSpc>
              <a:spcBef>
                <a:spcPts val="700"/>
              </a:spcBef>
            </a:pPr>
            <a:r>
              <a:rPr sz="1400" dirty="0">
                <a:solidFill>
                  <a:srgbClr val="E5E0DF"/>
                </a:solidFill>
                <a:latin typeface="Lucida Sans Unicode"/>
                <a:cs typeface="Lucida Sans Unicode"/>
              </a:rPr>
              <a:t>A</a:t>
            </a:r>
            <a:r>
              <a:rPr sz="1400" spc="-12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55" dirty="0">
                <a:solidFill>
                  <a:srgbClr val="E5E0DF"/>
                </a:solidFill>
                <a:latin typeface="Lucida Sans Unicode"/>
                <a:cs typeface="Lucida Sans Unicode"/>
              </a:rPr>
              <a:t>powerful</a:t>
            </a:r>
            <a:r>
              <a:rPr sz="1400" spc="-6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100" dirty="0">
                <a:solidFill>
                  <a:srgbClr val="E5E0DF"/>
                </a:solidFill>
                <a:latin typeface="Lucida Sans Unicode"/>
                <a:cs typeface="Lucida Sans Unicode"/>
              </a:rPr>
              <a:t>open-</a:t>
            </a:r>
            <a:r>
              <a:rPr sz="1400" spc="-50" dirty="0">
                <a:solidFill>
                  <a:srgbClr val="E5E0DF"/>
                </a:solidFill>
                <a:latin typeface="Lucida Sans Unicode"/>
                <a:cs typeface="Lucida Sans Unicode"/>
              </a:rPr>
              <a:t>source</a:t>
            </a:r>
            <a:r>
              <a:rPr sz="1400" spc="-5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E5E0DF"/>
                </a:solidFill>
                <a:latin typeface="Lucida Sans Unicode"/>
                <a:cs typeface="Lucida Sans Unicode"/>
              </a:rPr>
              <a:t>library</a:t>
            </a:r>
            <a:r>
              <a:rPr sz="1400" spc="-6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for</a:t>
            </a:r>
            <a:r>
              <a:rPr sz="1400" spc="-6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50" dirty="0">
                <a:solidFill>
                  <a:srgbClr val="E5E0DF"/>
                </a:solidFill>
                <a:latin typeface="Lucida Sans Unicode"/>
                <a:cs typeface="Lucida Sans Unicode"/>
              </a:rPr>
              <a:t>machine</a:t>
            </a:r>
            <a:r>
              <a:rPr sz="1400" spc="-6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E5E0DF"/>
                </a:solidFill>
                <a:latin typeface="Lucida Sans Unicode"/>
                <a:cs typeface="Lucida Sans Unicode"/>
              </a:rPr>
              <a:t>learning, </a:t>
            </a:r>
            <a:r>
              <a:rPr sz="1400" spc="-40" dirty="0">
                <a:solidFill>
                  <a:srgbClr val="E5E0DF"/>
                </a:solidFill>
                <a:latin typeface="Lucida Sans Unicode"/>
                <a:cs typeface="Lucida Sans Unicode"/>
              </a:rPr>
              <a:t>crucial</a:t>
            </a:r>
            <a:r>
              <a:rPr sz="1400" spc="-7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for</a:t>
            </a:r>
            <a:r>
              <a:rPr sz="1400" spc="-7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building </a:t>
            </a:r>
            <a:r>
              <a:rPr sz="1400" spc="-50" dirty="0">
                <a:solidFill>
                  <a:srgbClr val="E5E0DF"/>
                </a:solidFill>
                <a:latin typeface="Lucida Sans Unicode"/>
                <a:cs typeface="Lucida Sans Unicode"/>
              </a:rPr>
              <a:t>and</a:t>
            </a:r>
            <a:r>
              <a:rPr sz="1400" spc="-7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55" dirty="0">
                <a:solidFill>
                  <a:srgbClr val="E5E0DF"/>
                </a:solidFill>
                <a:latin typeface="Lucida Sans Unicode"/>
                <a:cs typeface="Lucida Sans Unicode"/>
              </a:rPr>
              <a:t>training</a:t>
            </a:r>
            <a:r>
              <a:rPr sz="14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45" dirty="0">
                <a:solidFill>
                  <a:srgbClr val="E5E0DF"/>
                </a:solidFill>
                <a:latin typeface="Lucida Sans Unicode"/>
                <a:cs typeface="Lucida Sans Unicode"/>
              </a:rPr>
              <a:t>neural</a:t>
            </a:r>
            <a:r>
              <a:rPr sz="1400" spc="-7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E5E0DF"/>
                </a:solidFill>
                <a:latin typeface="Lucida Sans Unicode"/>
                <a:cs typeface="Lucida Sans Unicode"/>
              </a:rPr>
              <a:t>networks.</a:t>
            </a:r>
            <a:endParaRPr sz="1400">
              <a:latin typeface="Lucida Sans Unicode"/>
              <a:cs typeface="Lucida Sans Unicode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38175" y="3657600"/>
            <a:ext cx="4981575" cy="2076450"/>
            <a:chOff x="638175" y="3657600"/>
            <a:chExt cx="4981575" cy="2076450"/>
          </a:xfrm>
        </p:grpSpPr>
        <p:sp>
          <p:nvSpPr>
            <p:cNvPr id="17" name="object 17"/>
            <p:cNvSpPr/>
            <p:nvPr/>
          </p:nvSpPr>
          <p:spPr>
            <a:xfrm>
              <a:off x="642937" y="3662362"/>
              <a:ext cx="4972050" cy="2066925"/>
            </a:xfrm>
            <a:custGeom>
              <a:avLst/>
              <a:gdLst/>
              <a:ahLst/>
              <a:cxnLst/>
              <a:rect l="l" t="t" r="r" b="b"/>
              <a:pathLst>
                <a:path w="4972050" h="2066925">
                  <a:moveTo>
                    <a:pt x="4916932" y="0"/>
                  </a:moveTo>
                  <a:lnTo>
                    <a:pt x="55120" y="0"/>
                  </a:lnTo>
                  <a:lnTo>
                    <a:pt x="51286" y="381"/>
                  </a:lnTo>
                  <a:lnTo>
                    <a:pt x="14540" y="20015"/>
                  </a:lnTo>
                  <a:lnTo>
                    <a:pt x="0" y="55118"/>
                  </a:lnTo>
                  <a:lnTo>
                    <a:pt x="0" y="2007933"/>
                  </a:lnTo>
                  <a:lnTo>
                    <a:pt x="0" y="2011794"/>
                  </a:lnTo>
                  <a:lnTo>
                    <a:pt x="20017" y="2052383"/>
                  </a:lnTo>
                  <a:lnTo>
                    <a:pt x="55120" y="2066925"/>
                  </a:lnTo>
                  <a:lnTo>
                    <a:pt x="4916932" y="2066925"/>
                  </a:lnTo>
                  <a:lnTo>
                    <a:pt x="4957508" y="2046909"/>
                  </a:lnTo>
                  <a:lnTo>
                    <a:pt x="4972050" y="2011794"/>
                  </a:lnTo>
                  <a:lnTo>
                    <a:pt x="4972050" y="55118"/>
                  </a:lnTo>
                  <a:lnTo>
                    <a:pt x="4952034" y="14541"/>
                  </a:lnTo>
                  <a:lnTo>
                    <a:pt x="4920767" y="381"/>
                  </a:lnTo>
                  <a:lnTo>
                    <a:pt x="4916932" y="0"/>
                  </a:lnTo>
                  <a:close/>
                </a:path>
              </a:pathLst>
            </a:custGeom>
            <a:solidFill>
              <a:srgbClr val="7E01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42937" y="3662362"/>
              <a:ext cx="4972050" cy="2066925"/>
            </a:xfrm>
            <a:custGeom>
              <a:avLst/>
              <a:gdLst/>
              <a:ahLst/>
              <a:cxnLst/>
              <a:rect l="l" t="t" r="r" b="b"/>
              <a:pathLst>
                <a:path w="4972050" h="2066925">
                  <a:moveTo>
                    <a:pt x="0" y="2007933"/>
                  </a:moveTo>
                  <a:lnTo>
                    <a:pt x="0" y="58991"/>
                  </a:lnTo>
                  <a:lnTo>
                    <a:pt x="0" y="55118"/>
                  </a:lnTo>
                  <a:lnTo>
                    <a:pt x="377" y="51282"/>
                  </a:lnTo>
                  <a:lnTo>
                    <a:pt x="1131" y="47485"/>
                  </a:lnTo>
                  <a:lnTo>
                    <a:pt x="1889" y="43688"/>
                  </a:lnTo>
                  <a:lnTo>
                    <a:pt x="3006" y="39992"/>
                  </a:lnTo>
                  <a:lnTo>
                    <a:pt x="4489" y="36423"/>
                  </a:lnTo>
                  <a:lnTo>
                    <a:pt x="5972" y="32842"/>
                  </a:lnTo>
                  <a:lnTo>
                    <a:pt x="7788" y="29438"/>
                  </a:lnTo>
                  <a:lnTo>
                    <a:pt x="9941" y="26225"/>
                  </a:lnTo>
                  <a:lnTo>
                    <a:pt x="12094" y="22999"/>
                  </a:lnTo>
                  <a:lnTo>
                    <a:pt x="14540" y="20015"/>
                  </a:lnTo>
                  <a:lnTo>
                    <a:pt x="17278" y="17284"/>
                  </a:lnTo>
                  <a:lnTo>
                    <a:pt x="20017" y="14541"/>
                  </a:lnTo>
                  <a:lnTo>
                    <a:pt x="22998" y="12090"/>
                  </a:lnTo>
                  <a:lnTo>
                    <a:pt x="26219" y="9944"/>
                  </a:lnTo>
                  <a:lnTo>
                    <a:pt x="29438" y="7785"/>
                  </a:lnTo>
                  <a:lnTo>
                    <a:pt x="32840" y="5969"/>
                  </a:lnTo>
                  <a:lnTo>
                    <a:pt x="36418" y="4495"/>
                  </a:lnTo>
                  <a:lnTo>
                    <a:pt x="39999" y="3009"/>
                  </a:lnTo>
                  <a:lnTo>
                    <a:pt x="43685" y="1892"/>
                  </a:lnTo>
                  <a:lnTo>
                    <a:pt x="47486" y="1130"/>
                  </a:lnTo>
                  <a:lnTo>
                    <a:pt x="51286" y="381"/>
                  </a:lnTo>
                  <a:lnTo>
                    <a:pt x="55120" y="0"/>
                  </a:lnTo>
                  <a:lnTo>
                    <a:pt x="58995" y="0"/>
                  </a:lnTo>
                  <a:lnTo>
                    <a:pt x="4913058" y="0"/>
                  </a:lnTo>
                  <a:lnTo>
                    <a:pt x="4916932" y="0"/>
                  </a:lnTo>
                  <a:lnTo>
                    <a:pt x="4920767" y="381"/>
                  </a:lnTo>
                  <a:lnTo>
                    <a:pt x="4924564" y="1130"/>
                  </a:lnTo>
                  <a:lnTo>
                    <a:pt x="4928362" y="1892"/>
                  </a:lnTo>
                  <a:lnTo>
                    <a:pt x="4932045" y="3009"/>
                  </a:lnTo>
                  <a:lnTo>
                    <a:pt x="4935626" y="4495"/>
                  </a:lnTo>
                  <a:lnTo>
                    <a:pt x="4939207" y="5969"/>
                  </a:lnTo>
                  <a:lnTo>
                    <a:pt x="4942611" y="7785"/>
                  </a:lnTo>
                  <a:lnTo>
                    <a:pt x="4945837" y="9944"/>
                  </a:lnTo>
                  <a:lnTo>
                    <a:pt x="4949050" y="12090"/>
                  </a:lnTo>
                  <a:lnTo>
                    <a:pt x="4952034" y="14541"/>
                  </a:lnTo>
                  <a:lnTo>
                    <a:pt x="4954765" y="17284"/>
                  </a:lnTo>
                  <a:lnTo>
                    <a:pt x="4957508" y="20015"/>
                  </a:lnTo>
                  <a:lnTo>
                    <a:pt x="4959959" y="22999"/>
                  </a:lnTo>
                  <a:lnTo>
                    <a:pt x="4962105" y="26225"/>
                  </a:lnTo>
                  <a:lnTo>
                    <a:pt x="4964264" y="29438"/>
                  </a:lnTo>
                  <a:lnTo>
                    <a:pt x="4966081" y="32842"/>
                  </a:lnTo>
                  <a:lnTo>
                    <a:pt x="4967554" y="36423"/>
                  </a:lnTo>
                  <a:lnTo>
                    <a:pt x="4969040" y="39992"/>
                  </a:lnTo>
                  <a:lnTo>
                    <a:pt x="4970157" y="43688"/>
                  </a:lnTo>
                  <a:lnTo>
                    <a:pt x="4970919" y="47485"/>
                  </a:lnTo>
                  <a:lnTo>
                    <a:pt x="4971669" y="51282"/>
                  </a:lnTo>
                  <a:lnTo>
                    <a:pt x="4972050" y="55118"/>
                  </a:lnTo>
                  <a:lnTo>
                    <a:pt x="4972050" y="58991"/>
                  </a:lnTo>
                  <a:lnTo>
                    <a:pt x="4972050" y="2007933"/>
                  </a:lnTo>
                  <a:lnTo>
                    <a:pt x="4972050" y="2011794"/>
                  </a:lnTo>
                  <a:lnTo>
                    <a:pt x="4971669" y="2015642"/>
                  </a:lnTo>
                  <a:lnTo>
                    <a:pt x="4970919" y="2019439"/>
                  </a:lnTo>
                  <a:lnTo>
                    <a:pt x="4970157" y="2023237"/>
                  </a:lnTo>
                  <a:lnTo>
                    <a:pt x="4969040" y="2026920"/>
                  </a:lnTo>
                  <a:lnTo>
                    <a:pt x="4967554" y="2030501"/>
                  </a:lnTo>
                  <a:lnTo>
                    <a:pt x="4966081" y="2034082"/>
                  </a:lnTo>
                  <a:lnTo>
                    <a:pt x="4964264" y="2037486"/>
                  </a:lnTo>
                  <a:lnTo>
                    <a:pt x="4962105" y="2040699"/>
                  </a:lnTo>
                  <a:lnTo>
                    <a:pt x="4959959" y="2043925"/>
                  </a:lnTo>
                  <a:lnTo>
                    <a:pt x="4957508" y="2046909"/>
                  </a:lnTo>
                  <a:lnTo>
                    <a:pt x="4954765" y="2049640"/>
                  </a:lnTo>
                  <a:lnTo>
                    <a:pt x="4952034" y="2052383"/>
                  </a:lnTo>
                  <a:lnTo>
                    <a:pt x="4935626" y="2062429"/>
                  </a:lnTo>
                  <a:lnTo>
                    <a:pt x="4932045" y="2063915"/>
                  </a:lnTo>
                  <a:lnTo>
                    <a:pt x="4928362" y="2065032"/>
                  </a:lnTo>
                  <a:lnTo>
                    <a:pt x="4924564" y="2065794"/>
                  </a:lnTo>
                  <a:lnTo>
                    <a:pt x="4920767" y="2066544"/>
                  </a:lnTo>
                  <a:lnTo>
                    <a:pt x="4916932" y="2066925"/>
                  </a:lnTo>
                  <a:lnTo>
                    <a:pt x="4913058" y="2066925"/>
                  </a:lnTo>
                  <a:lnTo>
                    <a:pt x="58995" y="2066925"/>
                  </a:lnTo>
                  <a:lnTo>
                    <a:pt x="55120" y="2066925"/>
                  </a:lnTo>
                  <a:lnTo>
                    <a:pt x="51286" y="2066544"/>
                  </a:lnTo>
                  <a:lnTo>
                    <a:pt x="26219" y="2056980"/>
                  </a:lnTo>
                  <a:lnTo>
                    <a:pt x="22998" y="2054834"/>
                  </a:lnTo>
                  <a:lnTo>
                    <a:pt x="20017" y="2052383"/>
                  </a:lnTo>
                  <a:lnTo>
                    <a:pt x="17278" y="2049640"/>
                  </a:lnTo>
                  <a:lnTo>
                    <a:pt x="14540" y="2046909"/>
                  </a:lnTo>
                  <a:lnTo>
                    <a:pt x="12094" y="2043925"/>
                  </a:lnTo>
                  <a:lnTo>
                    <a:pt x="9941" y="2040699"/>
                  </a:lnTo>
                  <a:lnTo>
                    <a:pt x="7788" y="2037486"/>
                  </a:lnTo>
                  <a:lnTo>
                    <a:pt x="5972" y="2034082"/>
                  </a:lnTo>
                  <a:lnTo>
                    <a:pt x="4489" y="2030501"/>
                  </a:lnTo>
                  <a:lnTo>
                    <a:pt x="3006" y="2026920"/>
                  </a:lnTo>
                  <a:lnTo>
                    <a:pt x="1889" y="2023237"/>
                  </a:lnTo>
                  <a:lnTo>
                    <a:pt x="1131" y="2019439"/>
                  </a:lnTo>
                  <a:lnTo>
                    <a:pt x="377" y="2015642"/>
                  </a:lnTo>
                  <a:lnTo>
                    <a:pt x="0" y="2011794"/>
                  </a:lnTo>
                  <a:lnTo>
                    <a:pt x="0" y="2007933"/>
                  </a:lnTo>
                  <a:close/>
                </a:path>
              </a:pathLst>
            </a:custGeom>
            <a:ln w="9525">
              <a:solidFill>
                <a:srgbClr val="961B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28675" y="3857625"/>
              <a:ext cx="542925" cy="542925"/>
            </a:xfrm>
            <a:custGeom>
              <a:avLst/>
              <a:gdLst/>
              <a:ahLst/>
              <a:cxnLst/>
              <a:rect l="l" t="t" r="r" b="b"/>
              <a:pathLst>
                <a:path w="542925" h="542925">
                  <a:moveTo>
                    <a:pt x="271462" y="0"/>
                  </a:moveTo>
                  <a:lnTo>
                    <a:pt x="231629" y="2940"/>
                  </a:lnTo>
                  <a:lnTo>
                    <a:pt x="192662" y="11684"/>
                  </a:lnTo>
                  <a:lnTo>
                    <a:pt x="155397" y="26063"/>
                  </a:lnTo>
                  <a:lnTo>
                    <a:pt x="120644" y="45745"/>
                  </a:lnTo>
                  <a:lnTo>
                    <a:pt x="89159" y="70319"/>
                  </a:lnTo>
                  <a:lnTo>
                    <a:pt x="61620" y="99250"/>
                  </a:lnTo>
                  <a:lnTo>
                    <a:pt x="38620" y="131902"/>
                  </a:lnTo>
                  <a:lnTo>
                    <a:pt x="20662" y="167576"/>
                  </a:lnTo>
                  <a:lnTo>
                    <a:pt x="8134" y="205500"/>
                  </a:lnTo>
                  <a:lnTo>
                    <a:pt x="1304" y="244856"/>
                  </a:lnTo>
                  <a:lnTo>
                    <a:pt x="0" y="271462"/>
                  </a:lnTo>
                  <a:lnTo>
                    <a:pt x="81" y="278127"/>
                  </a:lnTo>
                  <a:lnTo>
                    <a:pt x="3995" y="317867"/>
                  </a:lnTo>
                  <a:lnTo>
                    <a:pt x="13699" y="356619"/>
                  </a:lnTo>
                  <a:lnTo>
                    <a:pt x="28983" y="393515"/>
                  </a:lnTo>
                  <a:lnTo>
                    <a:pt x="49520" y="427770"/>
                  </a:lnTo>
                  <a:lnTo>
                    <a:pt x="74854" y="458646"/>
                  </a:lnTo>
                  <a:lnTo>
                    <a:pt x="104450" y="485469"/>
                  </a:lnTo>
                  <a:lnTo>
                    <a:pt x="137657" y="507655"/>
                  </a:lnTo>
                  <a:lnTo>
                    <a:pt x="173766" y="524736"/>
                  </a:lnTo>
                  <a:lnTo>
                    <a:pt x="211984" y="536328"/>
                  </a:lnTo>
                  <a:lnTo>
                    <a:pt x="251493" y="542190"/>
                  </a:lnTo>
                  <a:lnTo>
                    <a:pt x="271462" y="542925"/>
                  </a:lnTo>
                  <a:lnTo>
                    <a:pt x="278126" y="542843"/>
                  </a:lnTo>
                  <a:lnTo>
                    <a:pt x="317870" y="538929"/>
                  </a:lnTo>
                  <a:lnTo>
                    <a:pt x="356615" y="529218"/>
                  </a:lnTo>
                  <a:lnTo>
                    <a:pt x="393513" y="513939"/>
                  </a:lnTo>
                  <a:lnTo>
                    <a:pt x="427775" y="493407"/>
                  </a:lnTo>
                  <a:lnTo>
                    <a:pt x="458646" y="468070"/>
                  </a:lnTo>
                  <a:lnTo>
                    <a:pt x="485469" y="438471"/>
                  </a:lnTo>
                  <a:lnTo>
                    <a:pt x="507657" y="405263"/>
                  </a:lnTo>
                  <a:lnTo>
                    <a:pt x="524738" y="369159"/>
                  </a:lnTo>
                  <a:lnTo>
                    <a:pt x="536329" y="330943"/>
                  </a:lnTo>
                  <a:lnTo>
                    <a:pt x="542190" y="291432"/>
                  </a:lnTo>
                  <a:lnTo>
                    <a:pt x="542925" y="271462"/>
                  </a:lnTo>
                  <a:lnTo>
                    <a:pt x="542843" y="264799"/>
                  </a:lnTo>
                  <a:lnTo>
                    <a:pt x="538929" y="225051"/>
                  </a:lnTo>
                  <a:lnTo>
                    <a:pt x="529229" y="186305"/>
                  </a:lnTo>
                  <a:lnTo>
                    <a:pt x="513939" y="149409"/>
                  </a:lnTo>
                  <a:lnTo>
                    <a:pt x="493407" y="115154"/>
                  </a:lnTo>
                  <a:lnTo>
                    <a:pt x="468065" y="84284"/>
                  </a:lnTo>
                  <a:lnTo>
                    <a:pt x="438473" y="57455"/>
                  </a:lnTo>
                  <a:lnTo>
                    <a:pt x="405267" y="35267"/>
                  </a:lnTo>
                  <a:lnTo>
                    <a:pt x="369158" y="18188"/>
                  </a:lnTo>
                  <a:lnTo>
                    <a:pt x="330940" y="6595"/>
                  </a:lnTo>
                  <a:lnTo>
                    <a:pt x="291429" y="734"/>
                  </a:lnTo>
                  <a:lnTo>
                    <a:pt x="271462" y="0"/>
                  </a:lnTo>
                  <a:close/>
                </a:path>
              </a:pathLst>
            </a:custGeom>
            <a:solidFill>
              <a:srgbClr val="F203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32754" y="3995055"/>
              <a:ext cx="142503" cy="256748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816570" y="4535487"/>
            <a:ext cx="4140835" cy="95250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10" dirty="0">
                <a:solidFill>
                  <a:srgbClr val="E5E0DF"/>
                </a:solidFill>
                <a:latin typeface="Trebuchet MS"/>
                <a:cs typeface="Trebuchet MS"/>
              </a:rPr>
              <a:t>Keras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33900"/>
              </a:lnSpc>
              <a:spcBef>
                <a:spcPts val="775"/>
              </a:spcBef>
            </a:pPr>
            <a:r>
              <a:rPr sz="1400" dirty="0">
                <a:solidFill>
                  <a:srgbClr val="E5E0DF"/>
                </a:solidFill>
                <a:latin typeface="Lucida Sans Unicode"/>
                <a:cs typeface="Lucida Sans Unicode"/>
              </a:rPr>
              <a:t>A</a:t>
            </a:r>
            <a:r>
              <a:rPr sz="1400" spc="-13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110" dirty="0">
                <a:solidFill>
                  <a:srgbClr val="E5E0DF"/>
                </a:solidFill>
                <a:latin typeface="Lucida Sans Unicode"/>
                <a:cs typeface="Lucida Sans Unicode"/>
              </a:rPr>
              <a:t>high-</a:t>
            </a:r>
            <a:r>
              <a:rPr sz="1400" spc="-30" dirty="0">
                <a:solidFill>
                  <a:srgbClr val="E5E0DF"/>
                </a:solidFill>
                <a:latin typeface="Lucida Sans Unicode"/>
                <a:cs typeface="Lucida Sans Unicode"/>
              </a:rPr>
              <a:t>level</a:t>
            </a:r>
            <a:r>
              <a:rPr sz="1400" spc="-7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45" dirty="0">
                <a:solidFill>
                  <a:srgbClr val="E5E0DF"/>
                </a:solidFill>
                <a:latin typeface="Lucida Sans Unicode"/>
                <a:cs typeface="Lucida Sans Unicode"/>
              </a:rPr>
              <a:t>neural</a:t>
            </a:r>
            <a:r>
              <a:rPr sz="1400" spc="-7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55" dirty="0">
                <a:solidFill>
                  <a:srgbClr val="E5E0DF"/>
                </a:solidFill>
                <a:latin typeface="Lucida Sans Unicode"/>
                <a:cs typeface="Lucida Sans Unicode"/>
              </a:rPr>
              <a:t>networks</a:t>
            </a:r>
            <a:r>
              <a:rPr sz="1400" spc="-13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E5E0DF"/>
                </a:solidFill>
                <a:latin typeface="Lucida Sans Unicode"/>
                <a:cs typeface="Lucida Sans Unicode"/>
              </a:rPr>
              <a:t>API,</a:t>
            </a:r>
            <a:r>
              <a:rPr sz="1400" spc="-7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running</a:t>
            </a:r>
            <a:r>
              <a:rPr sz="1400" spc="-7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80" dirty="0">
                <a:solidFill>
                  <a:srgbClr val="E5E0DF"/>
                </a:solidFill>
                <a:latin typeface="Lucida Sans Unicode"/>
                <a:cs typeface="Lucida Sans Unicode"/>
              </a:rPr>
              <a:t>on</a:t>
            </a:r>
            <a:r>
              <a:rPr sz="1400" spc="-7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55" dirty="0">
                <a:solidFill>
                  <a:srgbClr val="E5E0DF"/>
                </a:solidFill>
                <a:latin typeface="Lucida Sans Unicode"/>
                <a:cs typeface="Lucida Sans Unicode"/>
              </a:rPr>
              <a:t>top</a:t>
            </a:r>
            <a:r>
              <a:rPr sz="1400" spc="-7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E5E0DF"/>
                </a:solidFill>
                <a:latin typeface="Lucida Sans Unicode"/>
                <a:cs typeface="Lucida Sans Unicode"/>
              </a:rPr>
              <a:t>of </a:t>
            </a:r>
            <a:r>
              <a:rPr sz="1400" spc="-70" dirty="0">
                <a:solidFill>
                  <a:srgbClr val="E5E0DF"/>
                </a:solidFill>
                <a:latin typeface="Lucida Sans Unicode"/>
                <a:cs typeface="Lucida Sans Unicode"/>
              </a:rPr>
              <a:t>TensorFlow,</a:t>
            </a:r>
            <a:r>
              <a:rPr sz="1400" spc="-8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45" dirty="0">
                <a:solidFill>
                  <a:srgbClr val="E5E0DF"/>
                </a:solidFill>
                <a:latin typeface="Lucida Sans Unicode"/>
                <a:cs typeface="Lucida Sans Unicode"/>
              </a:rPr>
              <a:t>enabling</a:t>
            </a:r>
            <a:r>
              <a:rPr sz="1400" spc="-7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55" dirty="0">
                <a:solidFill>
                  <a:srgbClr val="E5E0DF"/>
                </a:solidFill>
                <a:latin typeface="Lucida Sans Unicode"/>
                <a:cs typeface="Lucida Sans Unicode"/>
              </a:rPr>
              <a:t>rapid</a:t>
            </a:r>
            <a:r>
              <a:rPr sz="1400" spc="-7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E5E0DF"/>
                </a:solidFill>
                <a:latin typeface="Lucida Sans Unicode"/>
                <a:cs typeface="Lucida Sans Unicode"/>
              </a:rPr>
              <a:t>prototyping.</a:t>
            </a:r>
            <a:endParaRPr sz="1400">
              <a:latin typeface="Lucida Sans Unicode"/>
              <a:cs typeface="Lucida Sans Unicode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5810250" y="3657600"/>
            <a:ext cx="4981575" cy="2076450"/>
            <a:chOff x="5810250" y="3657600"/>
            <a:chExt cx="4981575" cy="2076450"/>
          </a:xfrm>
        </p:grpSpPr>
        <p:sp>
          <p:nvSpPr>
            <p:cNvPr id="23" name="object 23"/>
            <p:cNvSpPr/>
            <p:nvPr/>
          </p:nvSpPr>
          <p:spPr>
            <a:xfrm>
              <a:off x="5815012" y="3662362"/>
              <a:ext cx="4972050" cy="2066925"/>
            </a:xfrm>
            <a:custGeom>
              <a:avLst/>
              <a:gdLst/>
              <a:ahLst/>
              <a:cxnLst/>
              <a:rect l="l" t="t" r="r" b="b"/>
              <a:pathLst>
                <a:path w="4972050" h="2066925">
                  <a:moveTo>
                    <a:pt x="4916932" y="0"/>
                  </a:moveTo>
                  <a:lnTo>
                    <a:pt x="55118" y="0"/>
                  </a:lnTo>
                  <a:lnTo>
                    <a:pt x="51282" y="381"/>
                  </a:lnTo>
                  <a:lnTo>
                    <a:pt x="14541" y="20015"/>
                  </a:lnTo>
                  <a:lnTo>
                    <a:pt x="0" y="55118"/>
                  </a:lnTo>
                  <a:lnTo>
                    <a:pt x="0" y="2007933"/>
                  </a:lnTo>
                  <a:lnTo>
                    <a:pt x="0" y="2011794"/>
                  </a:lnTo>
                  <a:lnTo>
                    <a:pt x="20015" y="2052383"/>
                  </a:lnTo>
                  <a:lnTo>
                    <a:pt x="55118" y="2066925"/>
                  </a:lnTo>
                  <a:lnTo>
                    <a:pt x="4916932" y="2066925"/>
                  </a:lnTo>
                  <a:lnTo>
                    <a:pt x="4957508" y="2046909"/>
                  </a:lnTo>
                  <a:lnTo>
                    <a:pt x="4972050" y="2011794"/>
                  </a:lnTo>
                  <a:lnTo>
                    <a:pt x="4972050" y="55118"/>
                  </a:lnTo>
                  <a:lnTo>
                    <a:pt x="4952034" y="14541"/>
                  </a:lnTo>
                  <a:lnTo>
                    <a:pt x="4920767" y="381"/>
                  </a:lnTo>
                  <a:lnTo>
                    <a:pt x="4916932" y="0"/>
                  </a:lnTo>
                  <a:close/>
                </a:path>
              </a:pathLst>
            </a:custGeom>
            <a:solidFill>
              <a:srgbClr val="7E01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815012" y="3662362"/>
              <a:ext cx="4972050" cy="2066925"/>
            </a:xfrm>
            <a:custGeom>
              <a:avLst/>
              <a:gdLst/>
              <a:ahLst/>
              <a:cxnLst/>
              <a:rect l="l" t="t" r="r" b="b"/>
              <a:pathLst>
                <a:path w="4972050" h="2066925">
                  <a:moveTo>
                    <a:pt x="0" y="2007933"/>
                  </a:moveTo>
                  <a:lnTo>
                    <a:pt x="0" y="58991"/>
                  </a:lnTo>
                  <a:lnTo>
                    <a:pt x="0" y="55118"/>
                  </a:lnTo>
                  <a:lnTo>
                    <a:pt x="381" y="51282"/>
                  </a:lnTo>
                  <a:lnTo>
                    <a:pt x="1130" y="47485"/>
                  </a:lnTo>
                  <a:lnTo>
                    <a:pt x="1892" y="43688"/>
                  </a:lnTo>
                  <a:lnTo>
                    <a:pt x="3009" y="39992"/>
                  </a:lnTo>
                  <a:lnTo>
                    <a:pt x="4495" y="36423"/>
                  </a:lnTo>
                  <a:lnTo>
                    <a:pt x="5969" y="32842"/>
                  </a:lnTo>
                  <a:lnTo>
                    <a:pt x="7785" y="29438"/>
                  </a:lnTo>
                  <a:lnTo>
                    <a:pt x="9944" y="26225"/>
                  </a:lnTo>
                  <a:lnTo>
                    <a:pt x="12090" y="22999"/>
                  </a:lnTo>
                  <a:lnTo>
                    <a:pt x="14541" y="20015"/>
                  </a:lnTo>
                  <a:lnTo>
                    <a:pt x="17284" y="17284"/>
                  </a:lnTo>
                  <a:lnTo>
                    <a:pt x="20015" y="14541"/>
                  </a:lnTo>
                  <a:lnTo>
                    <a:pt x="22999" y="12090"/>
                  </a:lnTo>
                  <a:lnTo>
                    <a:pt x="26212" y="9944"/>
                  </a:lnTo>
                  <a:lnTo>
                    <a:pt x="29438" y="7785"/>
                  </a:lnTo>
                  <a:lnTo>
                    <a:pt x="32842" y="5969"/>
                  </a:lnTo>
                  <a:lnTo>
                    <a:pt x="36423" y="4495"/>
                  </a:lnTo>
                  <a:lnTo>
                    <a:pt x="39992" y="3009"/>
                  </a:lnTo>
                  <a:lnTo>
                    <a:pt x="43688" y="1892"/>
                  </a:lnTo>
                  <a:lnTo>
                    <a:pt x="47485" y="1130"/>
                  </a:lnTo>
                  <a:lnTo>
                    <a:pt x="51282" y="381"/>
                  </a:lnTo>
                  <a:lnTo>
                    <a:pt x="55118" y="0"/>
                  </a:lnTo>
                  <a:lnTo>
                    <a:pt x="58991" y="0"/>
                  </a:lnTo>
                  <a:lnTo>
                    <a:pt x="4913058" y="0"/>
                  </a:lnTo>
                  <a:lnTo>
                    <a:pt x="4916932" y="0"/>
                  </a:lnTo>
                  <a:lnTo>
                    <a:pt x="4920767" y="381"/>
                  </a:lnTo>
                  <a:lnTo>
                    <a:pt x="4924564" y="1130"/>
                  </a:lnTo>
                  <a:lnTo>
                    <a:pt x="4928362" y="1892"/>
                  </a:lnTo>
                  <a:lnTo>
                    <a:pt x="4932045" y="3009"/>
                  </a:lnTo>
                  <a:lnTo>
                    <a:pt x="4935626" y="4495"/>
                  </a:lnTo>
                  <a:lnTo>
                    <a:pt x="4939207" y="5969"/>
                  </a:lnTo>
                  <a:lnTo>
                    <a:pt x="4942611" y="7785"/>
                  </a:lnTo>
                  <a:lnTo>
                    <a:pt x="4945837" y="9944"/>
                  </a:lnTo>
                  <a:lnTo>
                    <a:pt x="4949050" y="12090"/>
                  </a:lnTo>
                  <a:lnTo>
                    <a:pt x="4952034" y="14541"/>
                  </a:lnTo>
                  <a:lnTo>
                    <a:pt x="4954765" y="17284"/>
                  </a:lnTo>
                  <a:lnTo>
                    <a:pt x="4957508" y="20015"/>
                  </a:lnTo>
                  <a:lnTo>
                    <a:pt x="4959959" y="22999"/>
                  </a:lnTo>
                  <a:lnTo>
                    <a:pt x="4962105" y="26225"/>
                  </a:lnTo>
                  <a:lnTo>
                    <a:pt x="4964252" y="29438"/>
                  </a:lnTo>
                  <a:lnTo>
                    <a:pt x="4966081" y="32842"/>
                  </a:lnTo>
                  <a:lnTo>
                    <a:pt x="4967554" y="36423"/>
                  </a:lnTo>
                  <a:lnTo>
                    <a:pt x="4969040" y="39992"/>
                  </a:lnTo>
                  <a:lnTo>
                    <a:pt x="4970157" y="43688"/>
                  </a:lnTo>
                  <a:lnTo>
                    <a:pt x="4970919" y="47485"/>
                  </a:lnTo>
                  <a:lnTo>
                    <a:pt x="4971669" y="51282"/>
                  </a:lnTo>
                  <a:lnTo>
                    <a:pt x="4972050" y="55118"/>
                  </a:lnTo>
                  <a:lnTo>
                    <a:pt x="4972050" y="58991"/>
                  </a:lnTo>
                  <a:lnTo>
                    <a:pt x="4972050" y="2007933"/>
                  </a:lnTo>
                  <a:lnTo>
                    <a:pt x="4972050" y="2011794"/>
                  </a:lnTo>
                  <a:lnTo>
                    <a:pt x="4971669" y="2015642"/>
                  </a:lnTo>
                  <a:lnTo>
                    <a:pt x="4970919" y="2019439"/>
                  </a:lnTo>
                  <a:lnTo>
                    <a:pt x="4970157" y="2023237"/>
                  </a:lnTo>
                  <a:lnTo>
                    <a:pt x="4969040" y="2026920"/>
                  </a:lnTo>
                  <a:lnTo>
                    <a:pt x="4967554" y="2030501"/>
                  </a:lnTo>
                  <a:lnTo>
                    <a:pt x="4966081" y="2034082"/>
                  </a:lnTo>
                  <a:lnTo>
                    <a:pt x="4964252" y="2037486"/>
                  </a:lnTo>
                  <a:lnTo>
                    <a:pt x="4962105" y="2040699"/>
                  </a:lnTo>
                  <a:lnTo>
                    <a:pt x="4959959" y="2043925"/>
                  </a:lnTo>
                  <a:lnTo>
                    <a:pt x="4957508" y="2046909"/>
                  </a:lnTo>
                  <a:lnTo>
                    <a:pt x="4954765" y="2049640"/>
                  </a:lnTo>
                  <a:lnTo>
                    <a:pt x="4952034" y="2052383"/>
                  </a:lnTo>
                  <a:lnTo>
                    <a:pt x="4916932" y="2066925"/>
                  </a:lnTo>
                  <a:lnTo>
                    <a:pt x="4913058" y="2066925"/>
                  </a:lnTo>
                  <a:lnTo>
                    <a:pt x="58991" y="2066925"/>
                  </a:lnTo>
                  <a:lnTo>
                    <a:pt x="55118" y="2066925"/>
                  </a:lnTo>
                  <a:lnTo>
                    <a:pt x="51282" y="2066544"/>
                  </a:lnTo>
                  <a:lnTo>
                    <a:pt x="47485" y="2065794"/>
                  </a:lnTo>
                  <a:lnTo>
                    <a:pt x="43688" y="2065032"/>
                  </a:lnTo>
                  <a:lnTo>
                    <a:pt x="39992" y="2063915"/>
                  </a:lnTo>
                  <a:lnTo>
                    <a:pt x="36423" y="2062429"/>
                  </a:lnTo>
                  <a:lnTo>
                    <a:pt x="32842" y="2060943"/>
                  </a:lnTo>
                  <a:lnTo>
                    <a:pt x="17284" y="2049640"/>
                  </a:lnTo>
                  <a:lnTo>
                    <a:pt x="14541" y="2046909"/>
                  </a:lnTo>
                  <a:lnTo>
                    <a:pt x="12090" y="2043925"/>
                  </a:lnTo>
                  <a:lnTo>
                    <a:pt x="9944" y="2040699"/>
                  </a:lnTo>
                  <a:lnTo>
                    <a:pt x="7785" y="2037486"/>
                  </a:lnTo>
                  <a:lnTo>
                    <a:pt x="5969" y="2034082"/>
                  </a:lnTo>
                  <a:lnTo>
                    <a:pt x="4495" y="2030501"/>
                  </a:lnTo>
                  <a:lnTo>
                    <a:pt x="3009" y="2026920"/>
                  </a:lnTo>
                  <a:lnTo>
                    <a:pt x="1892" y="2023237"/>
                  </a:lnTo>
                  <a:lnTo>
                    <a:pt x="1130" y="2019439"/>
                  </a:lnTo>
                  <a:lnTo>
                    <a:pt x="381" y="2015642"/>
                  </a:lnTo>
                  <a:lnTo>
                    <a:pt x="0" y="2011794"/>
                  </a:lnTo>
                  <a:lnTo>
                    <a:pt x="0" y="2007933"/>
                  </a:lnTo>
                  <a:close/>
                </a:path>
              </a:pathLst>
            </a:custGeom>
            <a:ln w="9525">
              <a:solidFill>
                <a:srgbClr val="961B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000750" y="3857625"/>
              <a:ext cx="542925" cy="542925"/>
            </a:xfrm>
            <a:custGeom>
              <a:avLst/>
              <a:gdLst/>
              <a:ahLst/>
              <a:cxnLst/>
              <a:rect l="l" t="t" r="r" b="b"/>
              <a:pathLst>
                <a:path w="542925" h="542925">
                  <a:moveTo>
                    <a:pt x="271462" y="0"/>
                  </a:moveTo>
                  <a:lnTo>
                    <a:pt x="231627" y="2940"/>
                  </a:lnTo>
                  <a:lnTo>
                    <a:pt x="192659" y="11684"/>
                  </a:lnTo>
                  <a:lnTo>
                    <a:pt x="155394" y="26063"/>
                  </a:lnTo>
                  <a:lnTo>
                    <a:pt x="120650" y="45745"/>
                  </a:lnTo>
                  <a:lnTo>
                    <a:pt x="89158" y="70319"/>
                  </a:lnTo>
                  <a:lnTo>
                    <a:pt x="61620" y="99250"/>
                  </a:lnTo>
                  <a:lnTo>
                    <a:pt x="38619" y="131902"/>
                  </a:lnTo>
                  <a:lnTo>
                    <a:pt x="20662" y="167576"/>
                  </a:lnTo>
                  <a:lnTo>
                    <a:pt x="8132" y="205500"/>
                  </a:lnTo>
                  <a:lnTo>
                    <a:pt x="1308" y="244856"/>
                  </a:lnTo>
                  <a:lnTo>
                    <a:pt x="0" y="271462"/>
                  </a:lnTo>
                  <a:lnTo>
                    <a:pt x="81" y="278127"/>
                  </a:lnTo>
                  <a:lnTo>
                    <a:pt x="3995" y="317867"/>
                  </a:lnTo>
                  <a:lnTo>
                    <a:pt x="13701" y="356619"/>
                  </a:lnTo>
                  <a:lnTo>
                    <a:pt x="28985" y="393515"/>
                  </a:lnTo>
                  <a:lnTo>
                    <a:pt x="49517" y="427770"/>
                  </a:lnTo>
                  <a:lnTo>
                    <a:pt x="74859" y="458646"/>
                  </a:lnTo>
                  <a:lnTo>
                    <a:pt x="104453" y="485469"/>
                  </a:lnTo>
                  <a:lnTo>
                    <a:pt x="137661" y="507655"/>
                  </a:lnTo>
                  <a:lnTo>
                    <a:pt x="173765" y="524736"/>
                  </a:lnTo>
                  <a:lnTo>
                    <a:pt x="211981" y="536328"/>
                  </a:lnTo>
                  <a:lnTo>
                    <a:pt x="251497" y="542190"/>
                  </a:lnTo>
                  <a:lnTo>
                    <a:pt x="271462" y="542925"/>
                  </a:lnTo>
                  <a:lnTo>
                    <a:pt x="278125" y="542843"/>
                  </a:lnTo>
                  <a:lnTo>
                    <a:pt x="317873" y="538929"/>
                  </a:lnTo>
                  <a:lnTo>
                    <a:pt x="356619" y="529218"/>
                  </a:lnTo>
                  <a:lnTo>
                    <a:pt x="393515" y="513939"/>
                  </a:lnTo>
                  <a:lnTo>
                    <a:pt x="427770" y="493407"/>
                  </a:lnTo>
                  <a:lnTo>
                    <a:pt x="458646" y="468070"/>
                  </a:lnTo>
                  <a:lnTo>
                    <a:pt x="485469" y="438471"/>
                  </a:lnTo>
                  <a:lnTo>
                    <a:pt x="507657" y="405263"/>
                  </a:lnTo>
                  <a:lnTo>
                    <a:pt x="524736" y="369159"/>
                  </a:lnTo>
                  <a:lnTo>
                    <a:pt x="536329" y="330943"/>
                  </a:lnTo>
                  <a:lnTo>
                    <a:pt x="542190" y="291432"/>
                  </a:lnTo>
                  <a:lnTo>
                    <a:pt x="542925" y="271462"/>
                  </a:lnTo>
                  <a:lnTo>
                    <a:pt x="542843" y="264799"/>
                  </a:lnTo>
                  <a:lnTo>
                    <a:pt x="538929" y="225051"/>
                  </a:lnTo>
                  <a:lnTo>
                    <a:pt x="529223" y="186305"/>
                  </a:lnTo>
                  <a:lnTo>
                    <a:pt x="513939" y="149409"/>
                  </a:lnTo>
                  <a:lnTo>
                    <a:pt x="493407" y="115154"/>
                  </a:lnTo>
                  <a:lnTo>
                    <a:pt x="468065" y="84284"/>
                  </a:lnTo>
                  <a:lnTo>
                    <a:pt x="438471" y="57455"/>
                  </a:lnTo>
                  <a:lnTo>
                    <a:pt x="405263" y="35267"/>
                  </a:lnTo>
                  <a:lnTo>
                    <a:pt x="369159" y="18188"/>
                  </a:lnTo>
                  <a:lnTo>
                    <a:pt x="330943" y="6595"/>
                  </a:lnTo>
                  <a:lnTo>
                    <a:pt x="291427" y="734"/>
                  </a:lnTo>
                  <a:lnTo>
                    <a:pt x="271462" y="0"/>
                  </a:lnTo>
                  <a:close/>
                </a:path>
              </a:pathLst>
            </a:custGeom>
            <a:solidFill>
              <a:srgbClr val="F203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38180" y="4014714"/>
              <a:ext cx="256748" cy="217290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5985078" y="4535487"/>
            <a:ext cx="4239260" cy="95250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10" dirty="0">
                <a:solidFill>
                  <a:srgbClr val="E5E0DF"/>
                </a:solidFill>
                <a:latin typeface="Trebuchet MS"/>
                <a:cs typeface="Trebuchet MS"/>
              </a:rPr>
              <a:t>OpenCV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33900"/>
              </a:lnSpc>
              <a:spcBef>
                <a:spcPts val="775"/>
              </a:spcBef>
            </a:pPr>
            <a:r>
              <a:rPr sz="1400" spc="-40" dirty="0">
                <a:solidFill>
                  <a:srgbClr val="E5E0DF"/>
                </a:solidFill>
                <a:latin typeface="Lucida Sans Unicode"/>
                <a:cs typeface="Lucida Sans Unicode"/>
              </a:rPr>
              <a:t>An</a:t>
            </a:r>
            <a:r>
              <a:rPr sz="14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50" dirty="0">
                <a:solidFill>
                  <a:srgbClr val="E5E0DF"/>
                </a:solidFill>
                <a:latin typeface="Lucida Sans Unicode"/>
                <a:cs typeface="Lucida Sans Unicode"/>
              </a:rPr>
              <a:t>extensive</a:t>
            </a:r>
            <a:r>
              <a:rPr sz="14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50" dirty="0">
                <a:solidFill>
                  <a:srgbClr val="E5E0DF"/>
                </a:solidFill>
                <a:latin typeface="Lucida Sans Unicode"/>
                <a:cs typeface="Lucida Sans Unicode"/>
              </a:rPr>
              <a:t>computer</a:t>
            </a:r>
            <a:r>
              <a:rPr sz="1400" spc="-6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55" dirty="0">
                <a:solidFill>
                  <a:srgbClr val="E5E0DF"/>
                </a:solidFill>
                <a:latin typeface="Lucida Sans Unicode"/>
                <a:cs typeface="Lucida Sans Unicode"/>
              </a:rPr>
              <a:t>vision</a:t>
            </a:r>
            <a:r>
              <a:rPr sz="14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E5E0DF"/>
                </a:solidFill>
                <a:latin typeface="Lucida Sans Unicode"/>
                <a:cs typeface="Lucida Sans Unicode"/>
              </a:rPr>
              <a:t>library</a:t>
            </a:r>
            <a:r>
              <a:rPr sz="14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55" dirty="0">
                <a:solidFill>
                  <a:srgbClr val="E5E0DF"/>
                </a:solidFill>
                <a:latin typeface="Lucida Sans Unicode"/>
                <a:cs typeface="Lucida Sans Unicode"/>
              </a:rPr>
              <a:t>used</a:t>
            </a:r>
            <a:r>
              <a:rPr sz="1400" spc="-6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for </a:t>
            </a:r>
            <a:r>
              <a:rPr sz="1400" spc="-10" dirty="0">
                <a:solidFill>
                  <a:srgbClr val="E5E0DF"/>
                </a:solidFill>
                <a:latin typeface="Lucida Sans Unicode"/>
                <a:cs typeface="Lucida Sans Unicode"/>
              </a:rPr>
              <a:t>image </a:t>
            </a:r>
            <a:r>
              <a:rPr sz="1400" spc="-55" dirty="0">
                <a:solidFill>
                  <a:srgbClr val="E5E0DF"/>
                </a:solidFill>
                <a:latin typeface="Lucida Sans Unicode"/>
                <a:cs typeface="Lucida Sans Unicode"/>
              </a:rPr>
              <a:t>processing </a:t>
            </a:r>
            <a:r>
              <a:rPr sz="1400" spc="-50" dirty="0">
                <a:solidFill>
                  <a:srgbClr val="E5E0DF"/>
                </a:solidFill>
                <a:latin typeface="Lucida Sans Unicode"/>
                <a:cs typeface="Lucida Sans Unicode"/>
              </a:rPr>
              <a:t>and</a:t>
            </a:r>
            <a:r>
              <a:rPr sz="1400" spc="-5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50" dirty="0">
                <a:solidFill>
                  <a:srgbClr val="E5E0DF"/>
                </a:solidFill>
                <a:latin typeface="Lucida Sans Unicode"/>
                <a:cs typeface="Lucida Sans Unicode"/>
              </a:rPr>
              <a:t>feature </a:t>
            </a:r>
            <a:r>
              <a:rPr sz="1400" spc="-10" dirty="0">
                <a:solidFill>
                  <a:srgbClr val="E5E0DF"/>
                </a:solidFill>
                <a:latin typeface="Lucida Sans Unicode"/>
                <a:cs typeface="Lucida Sans Unicode"/>
              </a:rPr>
              <a:t>extraction.</a:t>
            </a:r>
            <a:endParaRPr sz="1400">
              <a:latin typeface="Lucida Sans Unicode"/>
              <a:cs typeface="Lucida Sans Unicode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638175" y="5915025"/>
            <a:ext cx="4981575" cy="2076450"/>
            <a:chOff x="638175" y="5915025"/>
            <a:chExt cx="4981575" cy="2076450"/>
          </a:xfrm>
        </p:grpSpPr>
        <p:sp>
          <p:nvSpPr>
            <p:cNvPr id="29" name="object 29"/>
            <p:cNvSpPr/>
            <p:nvPr/>
          </p:nvSpPr>
          <p:spPr>
            <a:xfrm>
              <a:off x="642937" y="5919787"/>
              <a:ext cx="4972050" cy="2066925"/>
            </a:xfrm>
            <a:custGeom>
              <a:avLst/>
              <a:gdLst/>
              <a:ahLst/>
              <a:cxnLst/>
              <a:rect l="l" t="t" r="r" b="b"/>
              <a:pathLst>
                <a:path w="4972050" h="2066925">
                  <a:moveTo>
                    <a:pt x="4916932" y="0"/>
                  </a:moveTo>
                  <a:lnTo>
                    <a:pt x="55120" y="0"/>
                  </a:lnTo>
                  <a:lnTo>
                    <a:pt x="51286" y="381"/>
                  </a:lnTo>
                  <a:lnTo>
                    <a:pt x="14540" y="20015"/>
                  </a:lnTo>
                  <a:lnTo>
                    <a:pt x="0" y="55118"/>
                  </a:lnTo>
                  <a:lnTo>
                    <a:pt x="0" y="2007930"/>
                  </a:lnTo>
                  <a:lnTo>
                    <a:pt x="0" y="2011800"/>
                  </a:lnTo>
                  <a:lnTo>
                    <a:pt x="20017" y="2052380"/>
                  </a:lnTo>
                  <a:lnTo>
                    <a:pt x="55120" y="2066921"/>
                  </a:lnTo>
                  <a:lnTo>
                    <a:pt x="4916932" y="2066921"/>
                  </a:lnTo>
                  <a:lnTo>
                    <a:pt x="4957508" y="2046903"/>
                  </a:lnTo>
                  <a:lnTo>
                    <a:pt x="4972050" y="2011800"/>
                  </a:lnTo>
                  <a:lnTo>
                    <a:pt x="4972050" y="55118"/>
                  </a:lnTo>
                  <a:lnTo>
                    <a:pt x="4952034" y="14541"/>
                  </a:lnTo>
                  <a:lnTo>
                    <a:pt x="4920767" y="381"/>
                  </a:lnTo>
                  <a:lnTo>
                    <a:pt x="4916932" y="0"/>
                  </a:lnTo>
                  <a:close/>
                </a:path>
              </a:pathLst>
            </a:custGeom>
            <a:solidFill>
              <a:srgbClr val="7E01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42937" y="5919787"/>
              <a:ext cx="4972050" cy="2066925"/>
            </a:xfrm>
            <a:custGeom>
              <a:avLst/>
              <a:gdLst/>
              <a:ahLst/>
              <a:cxnLst/>
              <a:rect l="l" t="t" r="r" b="b"/>
              <a:pathLst>
                <a:path w="4972050" h="2066925">
                  <a:moveTo>
                    <a:pt x="0" y="2007930"/>
                  </a:moveTo>
                  <a:lnTo>
                    <a:pt x="0" y="58991"/>
                  </a:lnTo>
                  <a:lnTo>
                    <a:pt x="0" y="55118"/>
                  </a:lnTo>
                  <a:lnTo>
                    <a:pt x="377" y="51282"/>
                  </a:lnTo>
                  <a:lnTo>
                    <a:pt x="1131" y="47485"/>
                  </a:lnTo>
                  <a:lnTo>
                    <a:pt x="1889" y="43688"/>
                  </a:lnTo>
                  <a:lnTo>
                    <a:pt x="3006" y="39992"/>
                  </a:lnTo>
                  <a:lnTo>
                    <a:pt x="4489" y="36423"/>
                  </a:lnTo>
                  <a:lnTo>
                    <a:pt x="5972" y="32842"/>
                  </a:lnTo>
                  <a:lnTo>
                    <a:pt x="7788" y="29438"/>
                  </a:lnTo>
                  <a:lnTo>
                    <a:pt x="9941" y="26225"/>
                  </a:lnTo>
                  <a:lnTo>
                    <a:pt x="12094" y="22999"/>
                  </a:lnTo>
                  <a:lnTo>
                    <a:pt x="14540" y="20015"/>
                  </a:lnTo>
                  <a:lnTo>
                    <a:pt x="17278" y="17284"/>
                  </a:lnTo>
                  <a:lnTo>
                    <a:pt x="20017" y="14541"/>
                  </a:lnTo>
                  <a:lnTo>
                    <a:pt x="22998" y="12090"/>
                  </a:lnTo>
                  <a:lnTo>
                    <a:pt x="26219" y="9944"/>
                  </a:lnTo>
                  <a:lnTo>
                    <a:pt x="29438" y="7785"/>
                  </a:lnTo>
                  <a:lnTo>
                    <a:pt x="32840" y="5969"/>
                  </a:lnTo>
                  <a:lnTo>
                    <a:pt x="36418" y="4495"/>
                  </a:lnTo>
                  <a:lnTo>
                    <a:pt x="39999" y="3009"/>
                  </a:lnTo>
                  <a:lnTo>
                    <a:pt x="43685" y="1892"/>
                  </a:lnTo>
                  <a:lnTo>
                    <a:pt x="47486" y="1130"/>
                  </a:lnTo>
                  <a:lnTo>
                    <a:pt x="51286" y="381"/>
                  </a:lnTo>
                  <a:lnTo>
                    <a:pt x="55120" y="0"/>
                  </a:lnTo>
                  <a:lnTo>
                    <a:pt x="58995" y="0"/>
                  </a:lnTo>
                  <a:lnTo>
                    <a:pt x="4913058" y="0"/>
                  </a:lnTo>
                  <a:lnTo>
                    <a:pt x="4916932" y="0"/>
                  </a:lnTo>
                  <a:lnTo>
                    <a:pt x="4920767" y="381"/>
                  </a:lnTo>
                  <a:lnTo>
                    <a:pt x="4924564" y="1130"/>
                  </a:lnTo>
                  <a:lnTo>
                    <a:pt x="4928362" y="1892"/>
                  </a:lnTo>
                  <a:lnTo>
                    <a:pt x="4932045" y="3009"/>
                  </a:lnTo>
                  <a:lnTo>
                    <a:pt x="4935626" y="4495"/>
                  </a:lnTo>
                  <a:lnTo>
                    <a:pt x="4939207" y="5969"/>
                  </a:lnTo>
                  <a:lnTo>
                    <a:pt x="4942611" y="7785"/>
                  </a:lnTo>
                  <a:lnTo>
                    <a:pt x="4945837" y="9944"/>
                  </a:lnTo>
                  <a:lnTo>
                    <a:pt x="4949050" y="12090"/>
                  </a:lnTo>
                  <a:lnTo>
                    <a:pt x="4952034" y="14541"/>
                  </a:lnTo>
                  <a:lnTo>
                    <a:pt x="4954765" y="17284"/>
                  </a:lnTo>
                  <a:lnTo>
                    <a:pt x="4957508" y="20015"/>
                  </a:lnTo>
                  <a:lnTo>
                    <a:pt x="4959959" y="22999"/>
                  </a:lnTo>
                  <a:lnTo>
                    <a:pt x="4962105" y="26225"/>
                  </a:lnTo>
                  <a:lnTo>
                    <a:pt x="4964264" y="29438"/>
                  </a:lnTo>
                  <a:lnTo>
                    <a:pt x="4966081" y="32842"/>
                  </a:lnTo>
                  <a:lnTo>
                    <a:pt x="4967554" y="36423"/>
                  </a:lnTo>
                  <a:lnTo>
                    <a:pt x="4969040" y="39992"/>
                  </a:lnTo>
                  <a:lnTo>
                    <a:pt x="4970157" y="43688"/>
                  </a:lnTo>
                  <a:lnTo>
                    <a:pt x="4970919" y="47485"/>
                  </a:lnTo>
                  <a:lnTo>
                    <a:pt x="4971669" y="51282"/>
                  </a:lnTo>
                  <a:lnTo>
                    <a:pt x="4972050" y="55118"/>
                  </a:lnTo>
                  <a:lnTo>
                    <a:pt x="4972050" y="58991"/>
                  </a:lnTo>
                  <a:lnTo>
                    <a:pt x="4972050" y="2007930"/>
                  </a:lnTo>
                  <a:lnTo>
                    <a:pt x="4972050" y="2011800"/>
                  </a:lnTo>
                  <a:lnTo>
                    <a:pt x="4971669" y="2015639"/>
                  </a:lnTo>
                  <a:lnTo>
                    <a:pt x="4970919" y="2019439"/>
                  </a:lnTo>
                  <a:lnTo>
                    <a:pt x="4970157" y="2023234"/>
                  </a:lnTo>
                  <a:lnTo>
                    <a:pt x="4969040" y="2026926"/>
                  </a:lnTo>
                  <a:lnTo>
                    <a:pt x="4967554" y="2030502"/>
                  </a:lnTo>
                  <a:lnTo>
                    <a:pt x="4966081" y="2034084"/>
                  </a:lnTo>
                  <a:lnTo>
                    <a:pt x="4964264" y="2037482"/>
                  </a:lnTo>
                  <a:lnTo>
                    <a:pt x="4962105" y="2040702"/>
                  </a:lnTo>
                  <a:lnTo>
                    <a:pt x="4959959" y="2043926"/>
                  </a:lnTo>
                  <a:lnTo>
                    <a:pt x="4957508" y="2046903"/>
                  </a:lnTo>
                  <a:lnTo>
                    <a:pt x="4954765" y="2049641"/>
                  </a:lnTo>
                  <a:lnTo>
                    <a:pt x="4952034" y="2052380"/>
                  </a:lnTo>
                  <a:lnTo>
                    <a:pt x="4935626" y="2062431"/>
                  </a:lnTo>
                  <a:lnTo>
                    <a:pt x="4932045" y="2063915"/>
                  </a:lnTo>
                  <a:lnTo>
                    <a:pt x="4913058" y="2066926"/>
                  </a:lnTo>
                  <a:lnTo>
                    <a:pt x="58995" y="2066926"/>
                  </a:lnTo>
                  <a:lnTo>
                    <a:pt x="20017" y="2052380"/>
                  </a:lnTo>
                  <a:lnTo>
                    <a:pt x="17278" y="2049641"/>
                  </a:lnTo>
                  <a:lnTo>
                    <a:pt x="14540" y="2046903"/>
                  </a:lnTo>
                  <a:lnTo>
                    <a:pt x="12094" y="2043926"/>
                  </a:lnTo>
                  <a:lnTo>
                    <a:pt x="9941" y="2040702"/>
                  </a:lnTo>
                  <a:lnTo>
                    <a:pt x="7788" y="2037482"/>
                  </a:lnTo>
                  <a:lnTo>
                    <a:pt x="5972" y="2034084"/>
                  </a:lnTo>
                  <a:lnTo>
                    <a:pt x="4489" y="2030502"/>
                  </a:lnTo>
                  <a:lnTo>
                    <a:pt x="3006" y="2026926"/>
                  </a:lnTo>
                  <a:lnTo>
                    <a:pt x="1889" y="2023234"/>
                  </a:lnTo>
                  <a:lnTo>
                    <a:pt x="1131" y="2019439"/>
                  </a:lnTo>
                  <a:lnTo>
                    <a:pt x="377" y="2015639"/>
                  </a:lnTo>
                  <a:lnTo>
                    <a:pt x="0" y="2011800"/>
                  </a:lnTo>
                  <a:lnTo>
                    <a:pt x="0" y="2007930"/>
                  </a:lnTo>
                  <a:close/>
                </a:path>
              </a:pathLst>
            </a:custGeom>
            <a:ln w="9525">
              <a:solidFill>
                <a:srgbClr val="961B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28675" y="6105525"/>
              <a:ext cx="542925" cy="552450"/>
            </a:xfrm>
            <a:custGeom>
              <a:avLst/>
              <a:gdLst/>
              <a:ahLst/>
              <a:cxnLst/>
              <a:rect l="l" t="t" r="r" b="b"/>
              <a:pathLst>
                <a:path w="542925" h="552450">
                  <a:moveTo>
                    <a:pt x="271462" y="0"/>
                  </a:moveTo>
                  <a:lnTo>
                    <a:pt x="231629" y="2940"/>
                  </a:lnTo>
                  <a:lnTo>
                    <a:pt x="192662" y="11684"/>
                  </a:lnTo>
                  <a:lnTo>
                    <a:pt x="155397" y="26063"/>
                  </a:lnTo>
                  <a:lnTo>
                    <a:pt x="120644" y="45745"/>
                  </a:lnTo>
                  <a:lnTo>
                    <a:pt x="89159" y="70319"/>
                  </a:lnTo>
                  <a:lnTo>
                    <a:pt x="61620" y="99250"/>
                  </a:lnTo>
                  <a:lnTo>
                    <a:pt x="38620" y="131900"/>
                  </a:lnTo>
                  <a:lnTo>
                    <a:pt x="20662" y="167576"/>
                  </a:lnTo>
                  <a:lnTo>
                    <a:pt x="8134" y="205500"/>
                  </a:lnTo>
                  <a:lnTo>
                    <a:pt x="1304" y="244856"/>
                  </a:lnTo>
                  <a:lnTo>
                    <a:pt x="0" y="271462"/>
                  </a:lnTo>
                  <a:lnTo>
                    <a:pt x="0" y="280987"/>
                  </a:lnTo>
                  <a:lnTo>
                    <a:pt x="2937" y="320817"/>
                  </a:lnTo>
                  <a:lnTo>
                    <a:pt x="11687" y="359791"/>
                  </a:lnTo>
                  <a:lnTo>
                    <a:pt x="26061" y="397055"/>
                  </a:lnTo>
                  <a:lnTo>
                    <a:pt x="45749" y="431800"/>
                  </a:lnTo>
                  <a:lnTo>
                    <a:pt x="70322" y="463286"/>
                  </a:lnTo>
                  <a:lnTo>
                    <a:pt x="99247" y="490829"/>
                  </a:lnTo>
                  <a:lnTo>
                    <a:pt x="131902" y="513824"/>
                  </a:lnTo>
                  <a:lnTo>
                    <a:pt x="167580" y="531787"/>
                  </a:lnTo>
                  <a:lnTo>
                    <a:pt x="205503" y="544315"/>
                  </a:lnTo>
                  <a:lnTo>
                    <a:pt x="244852" y="551141"/>
                  </a:lnTo>
                  <a:lnTo>
                    <a:pt x="271462" y="552450"/>
                  </a:lnTo>
                  <a:lnTo>
                    <a:pt x="278126" y="552368"/>
                  </a:lnTo>
                  <a:lnTo>
                    <a:pt x="317870" y="548454"/>
                  </a:lnTo>
                  <a:lnTo>
                    <a:pt x="356615" y="538743"/>
                  </a:lnTo>
                  <a:lnTo>
                    <a:pt x="393513" y="523464"/>
                  </a:lnTo>
                  <a:lnTo>
                    <a:pt x="427775" y="502927"/>
                  </a:lnTo>
                  <a:lnTo>
                    <a:pt x="458646" y="477590"/>
                  </a:lnTo>
                  <a:lnTo>
                    <a:pt x="485469" y="447996"/>
                  </a:lnTo>
                  <a:lnTo>
                    <a:pt x="507657" y="414788"/>
                  </a:lnTo>
                  <a:lnTo>
                    <a:pt x="524738" y="378684"/>
                  </a:lnTo>
                  <a:lnTo>
                    <a:pt x="536329" y="340468"/>
                  </a:lnTo>
                  <a:lnTo>
                    <a:pt x="542190" y="300957"/>
                  </a:lnTo>
                  <a:lnTo>
                    <a:pt x="542925" y="280987"/>
                  </a:lnTo>
                  <a:lnTo>
                    <a:pt x="542925" y="271462"/>
                  </a:lnTo>
                  <a:lnTo>
                    <a:pt x="539989" y="231627"/>
                  </a:lnTo>
                  <a:lnTo>
                    <a:pt x="531241" y="192659"/>
                  </a:lnTo>
                  <a:lnTo>
                    <a:pt x="516861" y="155394"/>
                  </a:lnTo>
                  <a:lnTo>
                    <a:pt x="497179" y="120637"/>
                  </a:lnTo>
                  <a:lnTo>
                    <a:pt x="472600" y="89163"/>
                  </a:lnTo>
                  <a:lnTo>
                    <a:pt x="443674" y="61620"/>
                  </a:lnTo>
                  <a:lnTo>
                    <a:pt x="411022" y="38619"/>
                  </a:lnTo>
                  <a:lnTo>
                    <a:pt x="375344" y="20662"/>
                  </a:lnTo>
                  <a:lnTo>
                    <a:pt x="337421" y="8132"/>
                  </a:lnTo>
                  <a:lnTo>
                    <a:pt x="298067" y="1308"/>
                  </a:lnTo>
                  <a:lnTo>
                    <a:pt x="271462" y="0"/>
                  </a:lnTo>
                  <a:close/>
                </a:path>
              </a:pathLst>
            </a:custGeom>
            <a:solidFill>
              <a:srgbClr val="F203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981075" y="6289268"/>
              <a:ext cx="246379" cy="183515"/>
            </a:xfrm>
            <a:custGeom>
              <a:avLst/>
              <a:gdLst/>
              <a:ahLst/>
              <a:cxnLst/>
              <a:rect l="l" t="t" r="r" b="b"/>
              <a:pathLst>
                <a:path w="246380" h="183514">
                  <a:moveTo>
                    <a:pt x="0" y="25"/>
                  </a:moveTo>
                  <a:lnTo>
                    <a:pt x="100255" y="0"/>
                  </a:lnTo>
                </a:path>
                <a:path w="246380" h="183514">
                  <a:moveTo>
                    <a:pt x="50318" y="12"/>
                  </a:moveTo>
                  <a:lnTo>
                    <a:pt x="50338" y="182727"/>
                  </a:lnTo>
                </a:path>
                <a:path w="246380" h="183514">
                  <a:moveTo>
                    <a:pt x="245864" y="330"/>
                  </a:moveTo>
                  <a:lnTo>
                    <a:pt x="188758" y="92367"/>
                  </a:lnTo>
                  <a:lnTo>
                    <a:pt x="130953" y="1066"/>
                  </a:lnTo>
                </a:path>
                <a:path w="246380" h="183514">
                  <a:moveTo>
                    <a:pt x="130919" y="183172"/>
                  </a:moveTo>
                  <a:lnTo>
                    <a:pt x="130953" y="1066"/>
                  </a:lnTo>
                </a:path>
                <a:path w="246380" h="183514">
                  <a:moveTo>
                    <a:pt x="245844" y="183172"/>
                  </a:moveTo>
                  <a:lnTo>
                    <a:pt x="245864" y="330"/>
                  </a:lnTo>
                </a:path>
              </a:pathLst>
            </a:custGeom>
            <a:ln w="1088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816570" y="6792912"/>
            <a:ext cx="4213860" cy="95250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10" dirty="0">
                <a:solidFill>
                  <a:srgbClr val="E5E0DF"/>
                </a:solidFill>
                <a:latin typeface="Trebuchet MS"/>
                <a:cs typeface="Trebuchet MS"/>
              </a:rPr>
              <a:t>NumPy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38400"/>
              </a:lnSpc>
              <a:spcBef>
                <a:spcPts val="625"/>
              </a:spcBef>
            </a:pPr>
            <a:r>
              <a:rPr sz="1400" spc="-45" dirty="0">
                <a:solidFill>
                  <a:srgbClr val="E5E0DF"/>
                </a:solidFill>
                <a:latin typeface="Lucida Sans Unicode"/>
                <a:cs typeface="Lucida Sans Unicode"/>
              </a:rPr>
              <a:t>Fundamental package </a:t>
            </a:r>
            <a:r>
              <a:rPr sz="14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for</a:t>
            </a:r>
            <a:r>
              <a:rPr sz="1400" spc="-4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50" dirty="0">
                <a:solidFill>
                  <a:srgbClr val="E5E0DF"/>
                </a:solidFill>
                <a:latin typeface="Lucida Sans Unicode"/>
                <a:cs typeface="Lucida Sans Unicode"/>
              </a:rPr>
              <a:t>numerical</a:t>
            </a:r>
            <a:r>
              <a:rPr sz="1400" spc="-4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60" dirty="0">
                <a:solidFill>
                  <a:srgbClr val="E5E0DF"/>
                </a:solidFill>
                <a:latin typeface="Lucida Sans Unicode"/>
                <a:cs typeface="Lucida Sans Unicode"/>
              </a:rPr>
              <a:t>computation</a:t>
            </a:r>
            <a:r>
              <a:rPr sz="1400" spc="-4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E5E0DF"/>
                </a:solidFill>
                <a:latin typeface="Lucida Sans Unicode"/>
                <a:cs typeface="Lucida Sans Unicode"/>
              </a:rPr>
              <a:t>in Python,</a:t>
            </a:r>
            <a:r>
              <a:rPr sz="14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45" dirty="0">
                <a:solidFill>
                  <a:srgbClr val="E5E0DF"/>
                </a:solidFill>
                <a:latin typeface="Lucida Sans Unicode"/>
                <a:cs typeface="Lucida Sans Unicode"/>
              </a:rPr>
              <a:t>essential</a:t>
            </a:r>
            <a:r>
              <a:rPr sz="1400" spc="-6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for</a:t>
            </a:r>
            <a:r>
              <a:rPr sz="1400" spc="-6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45" dirty="0">
                <a:solidFill>
                  <a:srgbClr val="E5E0DF"/>
                </a:solidFill>
                <a:latin typeface="Lucida Sans Unicode"/>
                <a:cs typeface="Lucida Sans Unicode"/>
              </a:rPr>
              <a:t>data</a:t>
            </a:r>
            <a:r>
              <a:rPr sz="1400" spc="-6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E5E0DF"/>
                </a:solidFill>
                <a:latin typeface="Lucida Sans Unicode"/>
                <a:cs typeface="Lucida Sans Unicode"/>
              </a:rPr>
              <a:t>manipulation.</a:t>
            </a:r>
            <a:endParaRPr sz="1400">
              <a:latin typeface="Lucida Sans Unicode"/>
              <a:cs typeface="Lucida Sans Unicode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5810250" y="5915025"/>
            <a:ext cx="4981575" cy="2076450"/>
            <a:chOff x="5810250" y="5915025"/>
            <a:chExt cx="4981575" cy="2076450"/>
          </a:xfrm>
        </p:grpSpPr>
        <p:sp>
          <p:nvSpPr>
            <p:cNvPr id="35" name="object 35"/>
            <p:cNvSpPr/>
            <p:nvPr/>
          </p:nvSpPr>
          <p:spPr>
            <a:xfrm>
              <a:off x="5815012" y="5919787"/>
              <a:ext cx="4972050" cy="2066925"/>
            </a:xfrm>
            <a:custGeom>
              <a:avLst/>
              <a:gdLst/>
              <a:ahLst/>
              <a:cxnLst/>
              <a:rect l="l" t="t" r="r" b="b"/>
              <a:pathLst>
                <a:path w="4972050" h="2066925">
                  <a:moveTo>
                    <a:pt x="4916932" y="0"/>
                  </a:moveTo>
                  <a:lnTo>
                    <a:pt x="55118" y="0"/>
                  </a:lnTo>
                  <a:lnTo>
                    <a:pt x="51282" y="381"/>
                  </a:lnTo>
                  <a:lnTo>
                    <a:pt x="14541" y="20015"/>
                  </a:lnTo>
                  <a:lnTo>
                    <a:pt x="0" y="55118"/>
                  </a:lnTo>
                  <a:lnTo>
                    <a:pt x="0" y="2007930"/>
                  </a:lnTo>
                  <a:lnTo>
                    <a:pt x="0" y="2011800"/>
                  </a:lnTo>
                  <a:lnTo>
                    <a:pt x="20015" y="2052380"/>
                  </a:lnTo>
                  <a:lnTo>
                    <a:pt x="55118" y="2066921"/>
                  </a:lnTo>
                  <a:lnTo>
                    <a:pt x="4916932" y="2066921"/>
                  </a:lnTo>
                  <a:lnTo>
                    <a:pt x="4957508" y="2046903"/>
                  </a:lnTo>
                  <a:lnTo>
                    <a:pt x="4972050" y="2011800"/>
                  </a:lnTo>
                  <a:lnTo>
                    <a:pt x="4972050" y="55118"/>
                  </a:lnTo>
                  <a:lnTo>
                    <a:pt x="4952034" y="14541"/>
                  </a:lnTo>
                  <a:lnTo>
                    <a:pt x="4920767" y="381"/>
                  </a:lnTo>
                  <a:lnTo>
                    <a:pt x="4916932" y="0"/>
                  </a:lnTo>
                  <a:close/>
                </a:path>
              </a:pathLst>
            </a:custGeom>
            <a:solidFill>
              <a:srgbClr val="7E01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815012" y="5919787"/>
              <a:ext cx="4972050" cy="2066925"/>
            </a:xfrm>
            <a:custGeom>
              <a:avLst/>
              <a:gdLst/>
              <a:ahLst/>
              <a:cxnLst/>
              <a:rect l="l" t="t" r="r" b="b"/>
              <a:pathLst>
                <a:path w="4972050" h="2066925">
                  <a:moveTo>
                    <a:pt x="0" y="2007930"/>
                  </a:moveTo>
                  <a:lnTo>
                    <a:pt x="0" y="58991"/>
                  </a:lnTo>
                  <a:lnTo>
                    <a:pt x="0" y="55118"/>
                  </a:lnTo>
                  <a:lnTo>
                    <a:pt x="381" y="51282"/>
                  </a:lnTo>
                  <a:lnTo>
                    <a:pt x="1130" y="47485"/>
                  </a:lnTo>
                  <a:lnTo>
                    <a:pt x="1892" y="43688"/>
                  </a:lnTo>
                  <a:lnTo>
                    <a:pt x="3009" y="39992"/>
                  </a:lnTo>
                  <a:lnTo>
                    <a:pt x="4495" y="36423"/>
                  </a:lnTo>
                  <a:lnTo>
                    <a:pt x="5969" y="32842"/>
                  </a:lnTo>
                  <a:lnTo>
                    <a:pt x="7785" y="29438"/>
                  </a:lnTo>
                  <a:lnTo>
                    <a:pt x="9944" y="26225"/>
                  </a:lnTo>
                  <a:lnTo>
                    <a:pt x="12090" y="22999"/>
                  </a:lnTo>
                  <a:lnTo>
                    <a:pt x="14541" y="20015"/>
                  </a:lnTo>
                  <a:lnTo>
                    <a:pt x="17284" y="17284"/>
                  </a:lnTo>
                  <a:lnTo>
                    <a:pt x="20015" y="14541"/>
                  </a:lnTo>
                  <a:lnTo>
                    <a:pt x="22999" y="12090"/>
                  </a:lnTo>
                  <a:lnTo>
                    <a:pt x="26212" y="9944"/>
                  </a:lnTo>
                  <a:lnTo>
                    <a:pt x="29438" y="7785"/>
                  </a:lnTo>
                  <a:lnTo>
                    <a:pt x="32842" y="5969"/>
                  </a:lnTo>
                  <a:lnTo>
                    <a:pt x="36423" y="4495"/>
                  </a:lnTo>
                  <a:lnTo>
                    <a:pt x="39992" y="3009"/>
                  </a:lnTo>
                  <a:lnTo>
                    <a:pt x="43688" y="1892"/>
                  </a:lnTo>
                  <a:lnTo>
                    <a:pt x="47485" y="1130"/>
                  </a:lnTo>
                  <a:lnTo>
                    <a:pt x="51282" y="381"/>
                  </a:lnTo>
                  <a:lnTo>
                    <a:pt x="55118" y="0"/>
                  </a:lnTo>
                  <a:lnTo>
                    <a:pt x="58991" y="0"/>
                  </a:lnTo>
                  <a:lnTo>
                    <a:pt x="4913058" y="0"/>
                  </a:lnTo>
                  <a:lnTo>
                    <a:pt x="4916932" y="0"/>
                  </a:lnTo>
                  <a:lnTo>
                    <a:pt x="4920767" y="381"/>
                  </a:lnTo>
                  <a:lnTo>
                    <a:pt x="4924564" y="1130"/>
                  </a:lnTo>
                  <a:lnTo>
                    <a:pt x="4928362" y="1892"/>
                  </a:lnTo>
                  <a:lnTo>
                    <a:pt x="4932045" y="3009"/>
                  </a:lnTo>
                  <a:lnTo>
                    <a:pt x="4935626" y="4495"/>
                  </a:lnTo>
                  <a:lnTo>
                    <a:pt x="4939207" y="5969"/>
                  </a:lnTo>
                  <a:lnTo>
                    <a:pt x="4942611" y="7785"/>
                  </a:lnTo>
                  <a:lnTo>
                    <a:pt x="4945837" y="9944"/>
                  </a:lnTo>
                  <a:lnTo>
                    <a:pt x="4949050" y="12090"/>
                  </a:lnTo>
                  <a:lnTo>
                    <a:pt x="4952034" y="14541"/>
                  </a:lnTo>
                  <a:lnTo>
                    <a:pt x="4954765" y="17284"/>
                  </a:lnTo>
                  <a:lnTo>
                    <a:pt x="4957508" y="20015"/>
                  </a:lnTo>
                  <a:lnTo>
                    <a:pt x="4959959" y="22999"/>
                  </a:lnTo>
                  <a:lnTo>
                    <a:pt x="4962105" y="26225"/>
                  </a:lnTo>
                  <a:lnTo>
                    <a:pt x="4964252" y="29438"/>
                  </a:lnTo>
                  <a:lnTo>
                    <a:pt x="4966081" y="32842"/>
                  </a:lnTo>
                  <a:lnTo>
                    <a:pt x="4967554" y="36423"/>
                  </a:lnTo>
                  <a:lnTo>
                    <a:pt x="4969040" y="39992"/>
                  </a:lnTo>
                  <a:lnTo>
                    <a:pt x="4970157" y="43688"/>
                  </a:lnTo>
                  <a:lnTo>
                    <a:pt x="4970919" y="47485"/>
                  </a:lnTo>
                  <a:lnTo>
                    <a:pt x="4971669" y="51282"/>
                  </a:lnTo>
                  <a:lnTo>
                    <a:pt x="4972050" y="55118"/>
                  </a:lnTo>
                  <a:lnTo>
                    <a:pt x="4972050" y="58991"/>
                  </a:lnTo>
                  <a:lnTo>
                    <a:pt x="4972050" y="2007930"/>
                  </a:lnTo>
                  <a:lnTo>
                    <a:pt x="4972050" y="2011800"/>
                  </a:lnTo>
                  <a:lnTo>
                    <a:pt x="4971669" y="2015639"/>
                  </a:lnTo>
                  <a:lnTo>
                    <a:pt x="4970919" y="2019439"/>
                  </a:lnTo>
                  <a:lnTo>
                    <a:pt x="4970157" y="2023234"/>
                  </a:lnTo>
                  <a:lnTo>
                    <a:pt x="4969040" y="2026926"/>
                  </a:lnTo>
                  <a:lnTo>
                    <a:pt x="4967554" y="2030502"/>
                  </a:lnTo>
                  <a:lnTo>
                    <a:pt x="4966081" y="2034084"/>
                  </a:lnTo>
                  <a:lnTo>
                    <a:pt x="4964252" y="2037482"/>
                  </a:lnTo>
                  <a:lnTo>
                    <a:pt x="4962105" y="2040702"/>
                  </a:lnTo>
                  <a:lnTo>
                    <a:pt x="4959959" y="2043926"/>
                  </a:lnTo>
                  <a:lnTo>
                    <a:pt x="4957508" y="2046903"/>
                  </a:lnTo>
                  <a:lnTo>
                    <a:pt x="4954765" y="2049641"/>
                  </a:lnTo>
                  <a:lnTo>
                    <a:pt x="4952034" y="2052380"/>
                  </a:lnTo>
                  <a:lnTo>
                    <a:pt x="4913058" y="2066926"/>
                  </a:lnTo>
                  <a:lnTo>
                    <a:pt x="58991" y="2066926"/>
                  </a:lnTo>
                  <a:lnTo>
                    <a:pt x="36423" y="2062431"/>
                  </a:lnTo>
                  <a:lnTo>
                    <a:pt x="32842" y="2060948"/>
                  </a:lnTo>
                  <a:lnTo>
                    <a:pt x="17284" y="2049641"/>
                  </a:lnTo>
                  <a:lnTo>
                    <a:pt x="14541" y="2046903"/>
                  </a:lnTo>
                  <a:lnTo>
                    <a:pt x="12090" y="2043926"/>
                  </a:lnTo>
                  <a:lnTo>
                    <a:pt x="9944" y="2040702"/>
                  </a:lnTo>
                  <a:lnTo>
                    <a:pt x="7785" y="2037482"/>
                  </a:lnTo>
                  <a:lnTo>
                    <a:pt x="5969" y="2034084"/>
                  </a:lnTo>
                  <a:lnTo>
                    <a:pt x="4495" y="2030502"/>
                  </a:lnTo>
                  <a:lnTo>
                    <a:pt x="3009" y="2026926"/>
                  </a:lnTo>
                  <a:lnTo>
                    <a:pt x="1892" y="2023234"/>
                  </a:lnTo>
                  <a:lnTo>
                    <a:pt x="1130" y="2019439"/>
                  </a:lnTo>
                  <a:lnTo>
                    <a:pt x="381" y="2015639"/>
                  </a:lnTo>
                  <a:lnTo>
                    <a:pt x="0" y="2011800"/>
                  </a:lnTo>
                  <a:lnTo>
                    <a:pt x="0" y="2007930"/>
                  </a:lnTo>
                  <a:close/>
                </a:path>
              </a:pathLst>
            </a:custGeom>
            <a:ln w="9525">
              <a:solidFill>
                <a:srgbClr val="961B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000750" y="6105525"/>
              <a:ext cx="542925" cy="552450"/>
            </a:xfrm>
            <a:custGeom>
              <a:avLst/>
              <a:gdLst/>
              <a:ahLst/>
              <a:cxnLst/>
              <a:rect l="l" t="t" r="r" b="b"/>
              <a:pathLst>
                <a:path w="542925" h="552450">
                  <a:moveTo>
                    <a:pt x="271462" y="0"/>
                  </a:moveTo>
                  <a:lnTo>
                    <a:pt x="231627" y="2940"/>
                  </a:lnTo>
                  <a:lnTo>
                    <a:pt x="192659" y="11684"/>
                  </a:lnTo>
                  <a:lnTo>
                    <a:pt x="155394" y="26063"/>
                  </a:lnTo>
                  <a:lnTo>
                    <a:pt x="120650" y="45745"/>
                  </a:lnTo>
                  <a:lnTo>
                    <a:pt x="89158" y="70319"/>
                  </a:lnTo>
                  <a:lnTo>
                    <a:pt x="61620" y="99250"/>
                  </a:lnTo>
                  <a:lnTo>
                    <a:pt x="38619" y="131900"/>
                  </a:lnTo>
                  <a:lnTo>
                    <a:pt x="20662" y="167576"/>
                  </a:lnTo>
                  <a:lnTo>
                    <a:pt x="8132" y="205500"/>
                  </a:lnTo>
                  <a:lnTo>
                    <a:pt x="1308" y="244856"/>
                  </a:lnTo>
                  <a:lnTo>
                    <a:pt x="0" y="271462"/>
                  </a:lnTo>
                  <a:lnTo>
                    <a:pt x="0" y="280987"/>
                  </a:lnTo>
                  <a:lnTo>
                    <a:pt x="2935" y="320817"/>
                  </a:lnTo>
                  <a:lnTo>
                    <a:pt x="11684" y="359791"/>
                  </a:lnTo>
                  <a:lnTo>
                    <a:pt x="26063" y="397055"/>
                  </a:lnTo>
                  <a:lnTo>
                    <a:pt x="45745" y="431800"/>
                  </a:lnTo>
                  <a:lnTo>
                    <a:pt x="70324" y="463286"/>
                  </a:lnTo>
                  <a:lnTo>
                    <a:pt x="99250" y="490829"/>
                  </a:lnTo>
                  <a:lnTo>
                    <a:pt x="131906" y="513824"/>
                  </a:lnTo>
                  <a:lnTo>
                    <a:pt x="167576" y="531787"/>
                  </a:lnTo>
                  <a:lnTo>
                    <a:pt x="205500" y="544315"/>
                  </a:lnTo>
                  <a:lnTo>
                    <a:pt x="244856" y="551141"/>
                  </a:lnTo>
                  <a:lnTo>
                    <a:pt x="271462" y="552450"/>
                  </a:lnTo>
                  <a:lnTo>
                    <a:pt x="278125" y="552368"/>
                  </a:lnTo>
                  <a:lnTo>
                    <a:pt x="317873" y="548454"/>
                  </a:lnTo>
                  <a:lnTo>
                    <a:pt x="356619" y="538743"/>
                  </a:lnTo>
                  <a:lnTo>
                    <a:pt x="393515" y="523464"/>
                  </a:lnTo>
                  <a:lnTo>
                    <a:pt x="427770" y="502927"/>
                  </a:lnTo>
                  <a:lnTo>
                    <a:pt x="458646" y="477590"/>
                  </a:lnTo>
                  <a:lnTo>
                    <a:pt x="485469" y="447996"/>
                  </a:lnTo>
                  <a:lnTo>
                    <a:pt x="507657" y="414788"/>
                  </a:lnTo>
                  <a:lnTo>
                    <a:pt x="524736" y="378684"/>
                  </a:lnTo>
                  <a:lnTo>
                    <a:pt x="536329" y="340468"/>
                  </a:lnTo>
                  <a:lnTo>
                    <a:pt x="542190" y="300957"/>
                  </a:lnTo>
                  <a:lnTo>
                    <a:pt x="542925" y="280987"/>
                  </a:lnTo>
                  <a:lnTo>
                    <a:pt x="542925" y="271462"/>
                  </a:lnTo>
                  <a:lnTo>
                    <a:pt x="539989" y="231627"/>
                  </a:lnTo>
                  <a:lnTo>
                    <a:pt x="531241" y="192659"/>
                  </a:lnTo>
                  <a:lnTo>
                    <a:pt x="516861" y="155394"/>
                  </a:lnTo>
                  <a:lnTo>
                    <a:pt x="497179" y="120637"/>
                  </a:lnTo>
                  <a:lnTo>
                    <a:pt x="472600" y="89163"/>
                  </a:lnTo>
                  <a:lnTo>
                    <a:pt x="443674" y="61620"/>
                  </a:lnTo>
                  <a:lnTo>
                    <a:pt x="411018" y="38619"/>
                  </a:lnTo>
                  <a:lnTo>
                    <a:pt x="375348" y="20662"/>
                  </a:lnTo>
                  <a:lnTo>
                    <a:pt x="337424" y="8132"/>
                  </a:lnTo>
                  <a:lnTo>
                    <a:pt x="298069" y="1308"/>
                  </a:lnTo>
                  <a:lnTo>
                    <a:pt x="271462" y="0"/>
                  </a:lnTo>
                  <a:close/>
                </a:path>
              </a:pathLst>
            </a:custGeom>
            <a:solidFill>
              <a:srgbClr val="F203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39970" y="6252479"/>
              <a:ext cx="253180" cy="256749"/>
            </a:xfrm>
            <a:prstGeom prst="rect">
              <a:avLst/>
            </a:prstGeom>
          </p:spPr>
        </p:pic>
      </p:grpSp>
      <p:sp>
        <p:nvSpPr>
          <p:cNvPr id="39" name="object 39"/>
          <p:cNvSpPr txBox="1"/>
          <p:nvPr/>
        </p:nvSpPr>
        <p:spPr>
          <a:xfrm>
            <a:off x="5985078" y="6792912"/>
            <a:ext cx="4437380" cy="95250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25" dirty="0">
                <a:solidFill>
                  <a:srgbClr val="E5E0DF"/>
                </a:solidFill>
                <a:latin typeface="Trebuchet MS"/>
                <a:cs typeface="Trebuchet MS"/>
              </a:rPr>
              <a:t>Scikit-</a:t>
            </a:r>
            <a:r>
              <a:rPr sz="1650" b="1" spc="-20" dirty="0">
                <a:solidFill>
                  <a:srgbClr val="E5E0DF"/>
                </a:solidFill>
                <a:latin typeface="Trebuchet MS"/>
                <a:cs typeface="Trebuchet MS"/>
              </a:rPr>
              <a:t>learn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38400"/>
              </a:lnSpc>
              <a:spcBef>
                <a:spcPts val="625"/>
              </a:spcBef>
            </a:pPr>
            <a:r>
              <a:rPr sz="1400" spc="-30" dirty="0">
                <a:solidFill>
                  <a:srgbClr val="E5E0DF"/>
                </a:solidFill>
                <a:latin typeface="Lucida Sans Unicode"/>
                <a:cs typeface="Lucida Sans Unicode"/>
              </a:rPr>
              <a:t>Provides</a:t>
            </a:r>
            <a:r>
              <a:rPr sz="1400" spc="-8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55" dirty="0">
                <a:solidFill>
                  <a:srgbClr val="E5E0DF"/>
                </a:solidFill>
                <a:latin typeface="Lucida Sans Unicode"/>
                <a:cs typeface="Lucida Sans Unicode"/>
              </a:rPr>
              <a:t>simple</a:t>
            </a:r>
            <a:r>
              <a:rPr sz="1400" spc="-7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50" dirty="0">
                <a:solidFill>
                  <a:srgbClr val="E5E0DF"/>
                </a:solidFill>
                <a:latin typeface="Lucida Sans Unicode"/>
                <a:cs typeface="Lucida Sans Unicode"/>
              </a:rPr>
              <a:t>and</a:t>
            </a:r>
            <a:r>
              <a:rPr sz="1400" spc="-8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E5E0DF"/>
                </a:solidFill>
                <a:latin typeface="Lucida Sans Unicode"/>
                <a:cs typeface="Lucida Sans Unicode"/>
              </a:rPr>
              <a:t>efficient</a:t>
            </a:r>
            <a:r>
              <a:rPr sz="1400" spc="-7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45" dirty="0">
                <a:solidFill>
                  <a:srgbClr val="E5E0DF"/>
                </a:solidFill>
                <a:latin typeface="Lucida Sans Unicode"/>
                <a:cs typeface="Lucida Sans Unicode"/>
              </a:rPr>
              <a:t>tools</a:t>
            </a:r>
            <a:r>
              <a:rPr sz="1400" spc="-7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for</a:t>
            </a:r>
            <a:r>
              <a:rPr sz="1400" spc="-8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45" dirty="0">
                <a:solidFill>
                  <a:srgbClr val="E5E0DF"/>
                </a:solidFill>
                <a:latin typeface="Lucida Sans Unicode"/>
                <a:cs typeface="Lucida Sans Unicode"/>
              </a:rPr>
              <a:t>data</a:t>
            </a:r>
            <a:r>
              <a:rPr sz="1400" spc="-7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70" dirty="0">
                <a:solidFill>
                  <a:srgbClr val="E5E0DF"/>
                </a:solidFill>
                <a:latin typeface="Lucida Sans Unicode"/>
                <a:cs typeface="Lucida Sans Unicode"/>
              </a:rPr>
              <a:t>mining</a:t>
            </a:r>
            <a:r>
              <a:rPr sz="1400" spc="-8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E5E0DF"/>
                </a:solidFill>
                <a:latin typeface="Lucida Sans Unicode"/>
                <a:cs typeface="Lucida Sans Unicode"/>
              </a:rPr>
              <a:t>and </a:t>
            </a:r>
            <a:r>
              <a:rPr sz="1400" spc="-45" dirty="0">
                <a:solidFill>
                  <a:srgbClr val="E5E0DF"/>
                </a:solidFill>
                <a:latin typeface="Lucida Sans Unicode"/>
                <a:cs typeface="Lucida Sans Unicode"/>
              </a:rPr>
              <a:t>data</a:t>
            </a:r>
            <a:r>
              <a:rPr sz="1400" spc="-8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E5E0DF"/>
                </a:solidFill>
                <a:latin typeface="Lucida Sans Unicode"/>
                <a:cs typeface="Lucida Sans Unicode"/>
              </a:rPr>
              <a:t>analysis.</a:t>
            </a:r>
            <a:endParaRPr sz="14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8839200"/>
          </a:xfrm>
          <a:custGeom>
            <a:avLst/>
            <a:gdLst/>
            <a:ahLst/>
            <a:cxnLst/>
            <a:rect l="l" t="t" r="r" b="b"/>
            <a:pathLst>
              <a:path w="11430000" h="7086600">
                <a:moveTo>
                  <a:pt x="11430000" y="0"/>
                </a:moveTo>
                <a:lnTo>
                  <a:pt x="0" y="0"/>
                </a:lnTo>
                <a:lnTo>
                  <a:pt x="0" y="7086600"/>
                </a:lnTo>
                <a:lnTo>
                  <a:pt x="11430000" y="70866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242121">
              <a:alpha val="948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Block</a:t>
            </a:r>
            <a:r>
              <a:rPr spc="-315" dirty="0"/>
              <a:t> </a:t>
            </a:r>
            <a:r>
              <a:rPr spc="-65" dirty="0"/>
              <a:t>Diagram:</a:t>
            </a:r>
            <a:r>
              <a:rPr spc="-315" dirty="0"/>
              <a:t> </a:t>
            </a:r>
            <a:r>
              <a:rPr spc="-95" dirty="0"/>
              <a:t>Detection</a:t>
            </a:r>
            <a:r>
              <a:rPr spc="-310" dirty="0"/>
              <a:t> </a:t>
            </a:r>
            <a:r>
              <a:rPr spc="-114" dirty="0"/>
              <a:t>Workflow</a:t>
            </a:r>
          </a:p>
        </p:txBody>
      </p:sp>
      <p:sp>
        <p:nvSpPr>
          <p:cNvPr id="4" name="object 4"/>
          <p:cNvSpPr/>
          <p:nvPr/>
        </p:nvSpPr>
        <p:spPr>
          <a:xfrm>
            <a:off x="833567" y="1604987"/>
            <a:ext cx="9764395" cy="3996054"/>
          </a:xfrm>
          <a:custGeom>
            <a:avLst/>
            <a:gdLst/>
            <a:ahLst/>
            <a:cxnLst/>
            <a:rect l="l" t="t" r="r" b="b"/>
            <a:pathLst>
              <a:path w="9764395" h="3996054">
                <a:moveTo>
                  <a:pt x="1815779" y="0"/>
                </a:moveTo>
                <a:lnTo>
                  <a:pt x="294619" y="0"/>
                </a:lnTo>
                <a:lnTo>
                  <a:pt x="246157" y="5581"/>
                </a:lnTo>
                <a:lnTo>
                  <a:pt x="201669" y="21480"/>
                </a:lnTo>
                <a:lnTo>
                  <a:pt x="162426" y="46428"/>
                </a:lnTo>
                <a:lnTo>
                  <a:pt x="129695" y="79157"/>
                </a:lnTo>
                <a:lnTo>
                  <a:pt x="104745" y="118400"/>
                </a:lnTo>
                <a:lnTo>
                  <a:pt x="88845" y="162888"/>
                </a:lnTo>
                <a:lnTo>
                  <a:pt x="83263" y="211353"/>
                </a:lnTo>
                <a:lnTo>
                  <a:pt x="83263" y="1912035"/>
                </a:lnTo>
                <a:lnTo>
                  <a:pt x="50251" y="1924522"/>
                </a:lnTo>
                <a:lnTo>
                  <a:pt x="23852" y="1946978"/>
                </a:lnTo>
                <a:lnTo>
                  <a:pt x="6342" y="1977127"/>
                </a:lnTo>
                <a:lnTo>
                  <a:pt x="0" y="2012696"/>
                </a:lnTo>
                <a:lnTo>
                  <a:pt x="8053" y="2052582"/>
                </a:lnTo>
                <a:lnTo>
                  <a:pt x="30015" y="2085155"/>
                </a:lnTo>
                <a:lnTo>
                  <a:pt x="62589" y="2107118"/>
                </a:lnTo>
                <a:lnTo>
                  <a:pt x="102477" y="2115172"/>
                </a:lnTo>
                <a:lnTo>
                  <a:pt x="142365" y="2107118"/>
                </a:lnTo>
                <a:lnTo>
                  <a:pt x="174939" y="2085155"/>
                </a:lnTo>
                <a:lnTo>
                  <a:pt x="196901" y="2052582"/>
                </a:lnTo>
                <a:lnTo>
                  <a:pt x="204955" y="2012696"/>
                </a:lnTo>
                <a:lnTo>
                  <a:pt x="198612" y="1977127"/>
                </a:lnTo>
                <a:lnTo>
                  <a:pt x="181102" y="1946978"/>
                </a:lnTo>
                <a:lnTo>
                  <a:pt x="154703" y="1924522"/>
                </a:lnTo>
                <a:lnTo>
                  <a:pt x="121691" y="1912035"/>
                </a:lnTo>
                <a:lnTo>
                  <a:pt x="121691" y="211353"/>
                </a:lnTo>
                <a:lnTo>
                  <a:pt x="127868" y="165377"/>
                </a:lnTo>
                <a:lnTo>
                  <a:pt x="145301" y="124066"/>
                </a:lnTo>
                <a:lnTo>
                  <a:pt x="172342" y="89066"/>
                </a:lnTo>
                <a:lnTo>
                  <a:pt x="207340" y="62026"/>
                </a:lnTo>
                <a:lnTo>
                  <a:pt x="248649" y="44594"/>
                </a:lnTo>
                <a:lnTo>
                  <a:pt x="294619" y="38417"/>
                </a:lnTo>
                <a:lnTo>
                  <a:pt x="1815779" y="38417"/>
                </a:lnTo>
                <a:lnTo>
                  <a:pt x="1861751" y="44594"/>
                </a:lnTo>
                <a:lnTo>
                  <a:pt x="1903061" y="62026"/>
                </a:lnTo>
                <a:lnTo>
                  <a:pt x="1938061" y="89066"/>
                </a:lnTo>
                <a:lnTo>
                  <a:pt x="1965103" y="124066"/>
                </a:lnTo>
                <a:lnTo>
                  <a:pt x="1982538" y="165377"/>
                </a:lnTo>
                <a:lnTo>
                  <a:pt x="1988715" y="211353"/>
                </a:lnTo>
                <a:lnTo>
                  <a:pt x="1988715" y="2018322"/>
                </a:lnTo>
                <a:lnTo>
                  <a:pt x="1917545" y="1947164"/>
                </a:lnTo>
                <a:lnTo>
                  <a:pt x="1908426" y="1947164"/>
                </a:lnTo>
                <a:lnTo>
                  <a:pt x="1897174" y="1958416"/>
                </a:lnTo>
                <a:lnTo>
                  <a:pt x="1897174" y="1967547"/>
                </a:lnTo>
                <a:lnTo>
                  <a:pt x="1988715" y="2059076"/>
                </a:lnTo>
                <a:lnTo>
                  <a:pt x="1988715" y="3777094"/>
                </a:lnTo>
                <a:lnTo>
                  <a:pt x="1994263" y="3825407"/>
                </a:lnTo>
                <a:lnTo>
                  <a:pt x="2010071" y="3869781"/>
                </a:lnTo>
                <a:lnTo>
                  <a:pt x="2034883" y="3908957"/>
                </a:lnTo>
                <a:lnTo>
                  <a:pt x="2067446" y="3941673"/>
                </a:lnTo>
                <a:lnTo>
                  <a:pt x="2106504" y="3966669"/>
                </a:lnTo>
                <a:lnTo>
                  <a:pt x="2150804" y="3982685"/>
                </a:lnTo>
                <a:lnTo>
                  <a:pt x="2199091" y="3988460"/>
                </a:lnTo>
                <a:lnTo>
                  <a:pt x="3769865" y="3995686"/>
                </a:lnTo>
                <a:lnTo>
                  <a:pt x="3818500" y="3990296"/>
                </a:lnTo>
                <a:lnTo>
                  <a:pt x="3863173" y="3974509"/>
                </a:lnTo>
                <a:lnTo>
                  <a:pt x="3902600" y="3949602"/>
                </a:lnTo>
                <a:lnTo>
                  <a:pt x="3935499" y="3916853"/>
                </a:lnTo>
                <a:lnTo>
                  <a:pt x="3960587" y="3877538"/>
                </a:lnTo>
                <a:lnTo>
                  <a:pt x="3976580" y="3832934"/>
                </a:lnTo>
                <a:lnTo>
                  <a:pt x="3982196" y="3784320"/>
                </a:lnTo>
                <a:lnTo>
                  <a:pt x="3982196" y="2006244"/>
                </a:lnTo>
                <a:lnTo>
                  <a:pt x="4042102" y="2066150"/>
                </a:lnTo>
                <a:lnTo>
                  <a:pt x="4051221" y="2066150"/>
                </a:lnTo>
                <a:lnTo>
                  <a:pt x="4062473" y="2054885"/>
                </a:lnTo>
                <a:lnTo>
                  <a:pt x="4062473" y="2045766"/>
                </a:lnTo>
                <a:lnTo>
                  <a:pt x="3982196" y="1965490"/>
                </a:lnTo>
                <a:lnTo>
                  <a:pt x="3982196" y="219468"/>
                </a:lnTo>
                <a:lnTo>
                  <a:pt x="3988336" y="173634"/>
                </a:lnTo>
                <a:lnTo>
                  <a:pt x="4005668" y="132421"/>
                </a:lnTo>
                <a:lnTo>
                  <a:pt x="4032563" y="97467"/>
                </a:lnTo>
                <a:lnTo>
                  <a:pt x="4067390" y="70410"/>
                </a:lnTo>
                <a:lnTo>
                  <a:pt x="4108519" y="52886"/>
                </a:lnTo>
                <a:lnTo>
                  <a:pt x="4154319" y="46532"/>
                </a:lnTo>
                <a:lnTo>
                  <a:pt x="5705891" y="39319"/>
                </a:lnTo>
                <a:lnTo>
                  <a:pt x="5752026" y="45320"/>
                </a:lnTo>
                <a:lnTo>
                  <a:pt x="5793512" y="62663"/>
                </a:lnTo>
                <a:lnTo>
                  <a:pt x="5828681" y="89687"/>
                </a:lnTo>
                <a:lnTo>
                  <a:pt x="5855866" y="124733"/>
                </a:lnTo>
                <a:lnTo>
                  <a:pt x="5873399" y="166142"/>
                </a:lnTo>
                <a:lnTo>
                  <a:pt x="5879614" y="212255"/>
                </a:lnTo>
                <a:lnTo>
                  <a:pt x="5879614" y="2008720"/>
                </a:lnTo>
                <a:lnTo>
                  <a:pt x="5818058" y="1947164"/>
                </a:lnTo>
                <a:lnTo>
                  <a:pt x="5808939" y="1947164"/>
                </a:lnTo>
                <a:lnTo>
                  <a:pt x="5797687" y="1958416"/>
                </a:lnTo>
                <a:lnTo>
                  <a:pt x="5797687" y="1967547"/>
                </a:lnTo>
                <a:lnTo>
                  <a:pt x="5879614" y="2049475"/>
                </a:lnTo>
                <a:lnTo>
                  <a:pt x="5879614" y="3776205"/>
                </a:lnTo>
                <a:lnTo>
                  <a:pt x="5885197" y="3824670"/>
                </a:lnTo>
                <a:lnTo>
                  <a:pt x="5901097" y="3869160"/>
                </a:lnTo>
                <a:lnTo>
                  <a:pt x="5926047" y="3908405"/>
                </a:lnTo>
                <a:lnTo>
                  <a:pt x="5958778" y="3941138"/>
                </a:lnTo>
                <a:lnTo>
                  <a:pt x="5998021" y="3966088"/>
                </a:lnTo>
                <a:lnTo>
                  <a:pt x="6042507" y="3981989"/>
                </a:lnTo>
                <a:lnTo>
                  <a:pt x="6090968" y="3987571"/>
                </a:lnTo>
                <a:lnTo>
                  <a:pt x="7594495" y="3987571"/>
                </a:lnTo>
                <a:lnTo>
                  <a:pt x="7642957" y="3981989"/>
                </a:lnTo>
                <a:lnTo>
                  <a:pt x="7687445" y="3966088"/>
                </a:lnTo>
                <a:lnTo>
                  <a:pt x="7726691" y="3941138"/>
                </a:lnTo>
                <a:lnTo>
                  <a:pt x="7759424" y="3908405"/>
                </a:lnTo>
                <a:lnTo>
                  <a:pt x="7784377" y="3869160"/>
                </a:lnTo>
                <a:lnTo>
                  <a:pt x="7800279" y="3824670"/>
                </a:lnTo>
                <a:lnTo>
                  <a:pt x="7805862" y="3776205"/>
                </a:lnTo>
                <a:lnTo>
                  <a:pt x="7805862" y="2006244"/>
                </a:lnTo>
                <a:lnTo>
                  <a:pt x="7875369" y="2075738"/>
                </a:lnTo>
                <a:lnTo>
                  <a:pt x="7884487" y="2075738"/>
                </a:lnTo>
                <a:lnTo>
                  <a:pt x="7895752" y="2064499"/>
                </a:lnTo>
                <a:lnTo>
                  <a:pt x="7895752" y="2055368"/>
                </a:lnTo>
                <a:lnTo>
                  <a:pt x="7805862" y="1965490"/>
                </a:lnTo>
                <a:lnTo>
                  <a:pt x="7805862" y="220357"/>
                </a:lnTo>
                <a:lnTo>
                  <a:pt x="7812038" y="174386"/>
                </a:lnTo>
                <a:lnTo>
                  <a:pt x="7829470" y="133076"/>
                </a:lnTo>
                <a:lnTo>
                  <a:pt x="7856509" y="98075"/>
                </a:lnTo>
                <a:lnTo>
                  <a:pt x="7891507" y="71033"/>
                </a:lnTo>
                <a:lnTo>
                  <a:pt x="7932815" y="53599"/>
                </a:lnTo>
                <a:lnTo>
                  <a:pt x="7978785" y="47421"/>
                </a:lnTo>
                <a:lnTo>
                  <a:pt x="9469473" y="47421"/>
                </a:lnTo>
                <a:lnTo>
                  <a:pt x="9515443" y="53599"/>
                </a:lnTo>
                <a:lnTo>
                  <a:pt x="9556751" y="71033"/>
                </a:lnTo>
                <a:lnTo>
                  <a:pt x="9591748" y="98075"/>
                </a:lnTo>
                <a:lnTo>
                  <a:pt x="9618787" y="133076"/>
                </a:lnTo>
                <a:lnTo>
                  <a:pt x="9636219" y="174386"/>
                </a:lnTo>
                <a:lnTo>
                  <a:pt x="9642396" y="220357"/>
                </a:lnTo>
                <a:lnTo>
                  <a:pt x="9642396" y="1912035"/>
                </a:lnTo>
                <a:lnTo>
                  <a:pt x="9609386" y="1924522"/>
                </a:lnTo>
                <a:lnTo>
                  <a:pt x="9582987" y="1946978"/>
                </a:lnTo>
                <a:lnTo>
                  <a:pt x="9565477" y="1977127"/>
                </a:lnTo>
                <a:lnTo>
                  <a:pt x="9559135" y="2012696"/>
                </a:lnTo>
                <a:lnTo>
                  <a:pt x="9567188" y="2052582"/>
                </a:lnTo>
                <a:lnTo>
                  <a:pt x="9589151" y="2085155"/>
                </a:lnTo>
                <a:lnTo>
                  <a:pt x="9621725" y="2107118"/>
                </a:lnTo>
                <a:lnTo>
                  <a:pt x="9661611" y="2115172"/>
                </a:lnTo>
                <a:lnTo>
                  <a:pt x="9701499" y="2107118"/>
                </a:lnTo>
                <a:lnTo>
                  <a:pt x="9734063" y="2085155"/>
                </a:lnTo>
                <a:lnTo>
                  <a:pt x="9756014" y="2052582"/>
                </a:lnTo>
                <a:lnTo>
                  <a:pt x="9764062" y="2012696"/>
                </a:lnTo>
                <a:lnTo>
                  <a:pt x="9757725" y="1977127"/>
                </a:lnTo>
                <a:lnTo>
                  <a:pt x="9740227" y="1946978"/>
                </a:lnTo>
                <a:lnTo>
                  <a:pt x="9713838" y="1924522"/>
                </a:lnTo>
                <a:lnTo>
                  <a:pt x="9680826" y="1912035"/>
                </a:lnTo>
                <a:lnTo>
                  <a:pt x="9680826" y="220357"/>
                </a:lnTo>
                <a:lnTo>
                  <a:pt x="9675244" y="171896"/>
                </a:lnTo>
                <a:lnTo>
                  <a:pt x="9659344" y="127410"/>
                </a:lnTo>
                <a:lnTo>
                  <a:pt x="9634394" y="88167"/>
                </a:lnTo>
                <a:lnTo>
                  <a:pt x="9601663" y="55436"/>
                </a:lnTo>
                <a:lnTo>
                  <a:pt x="9562420" y="30486"/>
                </a:lnTo>
                <a:lnTo>
                  <a:pt x="9517934" y="14586"/>
                </a:lnTo>
                <a:lnTo>
                  <a:pt x="9469473" y="9004"/>
                </a:lnTo>
                <a:lnTo>
                  <a:pt x="7978785" y="9004"/>
                </a:lnTo>
                <a:lnTo>
                  <a:pt x="7930324" y="14586"/>
                </a:lnTo>
                <a:lnTo>
                  <a:pt x="7885838" y="30486"/>
                </a:lnTo>
                <a:lnTo>
                  <a:pt x="7846595" y="55436"/>
                </a:lnTo>
                <a:lnTo>
                  <a:pt x="7813864" y="88167"/>
                </a:lnTo>
                <a:lnTo>
                  <a:pt x="7788914" y="127410"/>
                </a:lnTo>
                <a:lnTo>
                  <a:pt x="7773013" y="171896"/>
                </a:lnTo>
                <a:lnTo>
                  <a:pt x="7767431" y="220357"/>
                </a:lnTo>
                <a:lnTo>
                  <a:pt x="7767431" y="1968627"/>
                </a:lnTo>
                <a:lnTo>
                  <a:pt x="7680690" y="2055368"/>
                </a:lnTo>
                <a:lnTo>
                  <a:pt x="7680690" y="2064499"/>
                </a:lnTo>
                <a:lnTo>
                  <a:pt x="7691955" y="2075738"/>
                </a:lnTo>
                <a:lnTo>
                  <a:pt x="7701074" y="2075738"/>
                </a:lnTo>
                <a:lnTo>
                  <a:pt x="7767431" y="2009381"/>
                </a:lnTo>
                <a:lnTo>
                  <a:pt x="7767431" y="3776205"/>
                </a:lnTo>
                <a:lnTo>
                  <a:pt x="7761254" y="3822176"/>
                </a:lnTo>
                <a:lnTo>
                  <a:pt x="7743819" y="3863486"/>
                </a:lnTo>
                <a:lnTo>
                  <a:pt x="7716777" y="3898487"/>
                </a:lnTo>
                <a:lnTo>
                  <a:pt x="7681777" y="3925529"/>
                </a:lnTo>
                <a:lnTo>
                  <a:pt x="7640467" y="3942963"/>
                </a:lnTo>
                <a:lnTo>
                  <a:pt x="7594495" y="3949141"/>
                </a:lnTo>
                <a:lnTo>
                  <a:pt x="6090968" y="3949141"/>
                </a:lnTo>
                <a:lnTo>
                  <a:pt x="6044998" y="3942963"/>
                </a:lnTo>
                <a:lnTo>
                  <a:pt x="6003690" y="3925529"/>
                </a:lnTo>
                <a:lnTo>
                  <a:pt x="5968692" y="3898487"/>
                </a:lnTo>
                <a:lnTo>
                  <a:pt x="5941653" y="3863486"/>
                </a:lnTo>
                <a:lnTo>
                  <a:pt x="5924222" y="3822176"/>
                </a:lnTo>
                <a:lnTo>
                  <a:pt x="5918045" y="3776205"/>
                </a:lnTo>
                <a:lnTo>
                  <a:pt x="5918045" y="2062226"/>
                </a:lnTo>
                <a:lnTo>
                  <a:pt x="6012736" y="1967547"/>
                </a:lnTo>
                <a:lnTo>
                  <a:pt x="6012736" y="1958416"/>
                </a:lnTo>
                <a:lnTo>
                  <a:pt x="6001484" y="1947164"/>
                </a:lnTo>
                <a:lnTo>
                  <a:pt x="5992365" y="1947164"/>
                </a:lnTo>
                <a:lnTo>
                  <a:pt x="5919619" y="2019909"/>
                </a:lnTo>
                <a:lnTo>
                  <a:pt x="5919619" y="1862543"/>
                </a:lnTo>
                <a:lnTo>
                  <a:pt x="5918045" y="1862543"/>
                </a:lnTo>
                <a:lnTo>
                  <a:pt x="5918045" y="212255"/>
                </a:lnTo>
                <a:lnTo>
                  <a:pt x="5912428" y="163640"/>
                </a:lnTo>
                <a:lnTo>
                  <a:pt x="5896435" y="119037"/>
                </a:lnTo>
                <a:lnTo>
                  <a:pt x="5871346" y="79722"/>
                </a:lnTo>
                <a:lnTo>
                  <a:pt x="5838446" y="46973"/>
                </a:lnTo>
                <a:lnTo>
                  <a:pt x="5799016" y="22066"/>
                </a:lnTo>
                <a:lnTo>
                  <a:pt x="5754340" y="6279"/>
                </a:lnTo>
                <a:lnTo>
                  <a:pt x="5705701" y="889"/>
                </a:lnTo>
                <a:lnTo>
                  <a:pt x="4154142" y="8102"/>
                </a:lnTo>
                <a:lnTo>
                  <a:pt x="4105860" y="13877"/>
                </a:lnTo>
                <a:lnTo>
                  <a:pt x="4061563" y="29893"/>
                </a:lnTo>
                <a:lnTo>
                  <a:pt x="4022506" y="54889"/>
                </a:lnTo>
                <a:lnTo>
                  <a:pt x="3989943" y="87605"/>
                </a:lnTo>
                <a:lnTo>
                  <a:pt x="3965129" y="126781"/>
                </a:lnTo>
                <a:lnTo>
                  <a:pt x="3949319" y="171155"/>
                </a:lnTo>
                <a:lnTo>
                  <a:pt x="3943766" y="219468"/>
                </a:lnTo>
                <a:lnTo>
                  <a:pt x="3943766" y="1949424"/>
                </a:lnTo>
                <a:lnTo>
                  <a:pt x="3847424" y="2045766"/>
                </a:lnTo>
                <a:lnTo>
                  <a:pt x="3847424" y="2054885"/>
                </a:lnTo>
                <a:lnTo>
                  <a:pt x="3853063" y="2060511"/>
                </a:lnTo>
                <a:lnTo>
                  <a:pt x="3858676" y="2066150"/>
                </a:lnTo>
                <a:lnTo>
                  <a:pt x="3867807" y="2066150"/>
                </a:lnTo>
                <a:lnTo>
                  <a:pt x="3940540" y="1993404"/>
                </a:lnTo>
                <a:lnTo>
                  <a:pt x="3940540" y="2150770"/>
                </a:lnTo>
                <a:lnTo>
                  <a:pt x="3943766" y="2150770"/>
                </a:lnTo>
                <a:lnTo>
                  <a:pt x="3943766" y="3784320"/>
                </a:lnTo>
                <a:lnTo>
                  <a:pt x="3937552" y="3830432"/>
                </a:lnTo>
                <a:lnTo>
                  <a:pt x="3920020" y="3871842"/>
                </a:lnTo>
                <a:lnTo>
                  <a:pt x="3892838" y="3906888"/>
                </a:lnTo>
                <a:lnTo>
                  <a:pt x="3857670" y="3933912"/>
                </a:lnTo>
                <a:lnTo>
                  <a:pt x="3816183" y="3951255"/>
                </a:lnTo>
                <a:lnTo>
                  <a:pt x="3770043" y="3957256"/>
                </a:lnTo>
                <a:lnTo>
                  <a:pt x="2199269" y="3950017"/>
                </a:lnTo>
                <a:lnTo>
                  <a:pt x="2153464" y="3943669"/>
                </a:lnTo>
                <a:lnTo>
                  <a:pt x="2112333" y="3926149"/>
                </a:lnTo>
                <a:lnTo>
                  <a:pt x="2077507" y="3899093"/>
                </a:lnTo>
                <a:lnTo>
                  <a:pt x="2050615" y="3864141"/>
                </a:lnTo>
                <a:lnTo>
                  <a:pt x="2033284" y="3822928"/>
                </a:lnTo>
                <a:lnTo>
                  <a:pt x="2027146" y="3777094"/>
                </a:lnTo>
                <a:lnTo>
                  <a:pt x="2027146" y="2052624"/>
                </a:lnTo>
                <a:lnTo>
                  <a:pt x="2112223" y="1967547"/>
                </a:lnTo>
                <a:lnTo>
                  <a:pt x="2112223" y="1958416"/>
                </a:lnTo>
                <a:lnTo>
                  <a:pt x="2100971" y="1947164"/>
                </a:lnTo>
                <a:lnTo>
                  <a:pt x="2091852" y="1947164"/>
                </a:lnTo>
                <a:lnTo>
                  <a:pt x="2027146" y="2011870"/>
                </a:lnTo>
                <a:lnTo>
                  <a:pt x="2027146" y="211353"/>
                </a:lnTo>
                <a:lnTo>
                  <a:pt x="2021563" y="162888"/>
                </a:lnTo>
                <a:lnTo>
                  <a:pt x="2005661" y="118400"/>
                </a:lnTo>
                <a:lnTo>
                  <a:pt x="1980708" y="79157"/>
                </a:lnTo>
                <a:lnTo>
                  <a:pt x="1947975" y="46428"/>
                </a:lnTo>
                <a:lnTo>
                  <a:pt x="1908729" y="21480"/>
                </a:lnTo>
                <a:lnTo>
                  <a:pt x="1864241" y="5581"/>
                </a:lnTo>
                <a:lnTo>
                  <a:pt x="1815779" y="0"/>
                </a:lnTo>
                <a:close/>
              </a:path>
            </a:pathLst>
          </a:custGeom>
          <a:solidFill>
            <a:srgbClr val="F203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060012" y="4478420"/>
            <a:ext cx="1510665" cy="895350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19"/>
              </a:spcBef>
            </a:pPr>
            <a:r>
              <a:rPr sz="1600" b="1" spc="-10" dirty="0">
                <a:solidFill>
                  <a:srgbClr val="E5E0DF"/>
                </a:solidFill>
                <a:latin typeface="Trebuchet MS"/>
                <a:cs typeface="Trebuchet MS"/>
              </a:rPr>
              <a:t>Preprocessing</a:t>
            </a:r>
            <a:endParaRPr sz="1600">
              <a:latin typeface="Trebuchet MS"/>
              <a:cs typeface="Trebuchet MS"/>
            </a:endParaRPr>
          </a:p>
          <a:p>
            <a:pPr marL="12065" marR="5080" algn="ctr">
              <a:lnSpc>
                <a:spcPct val="109200"/>
              </a:lnSpc>
              <a:spcBef>
                <a:spcPts val="565"/>
              </a:spcBef>
            </a:pPr>
            <a:r>
              <a:rPr sz="1350" spc="-25" dirty="0">
                <a:solidFill>
                  <a:srgbClr val="E5E0DF"/>
                </a:solidFill>
                <a:latin typeface="Lucida Sans Unicode"/>
                <a:cs typeface="Lucida Sans Unicode"/>
              </a:rPr>
              <a:t>Face</a:t>
            </a:r>
            <a:r>
              <a:rPr sz="135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350" spc="-35" dirty="0">
                <a:solidFill>
                  <a:srgbClr val="E5E0DF"/>
                </a:solidFill>
                <a:latin typeface="Lucida Sans Unicode"/>
                <a:cs typeface="Lucida Sans Unicode"/>
              </a:rPr>
              <a:t>detection</a:t>
            </a:r>
            <a:r>
              <a:rPr sz="135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350" spc="-35" dirty="0">
                <a:solidFill>
                  <a:srgbClr val="E5E0DF"/>
                </a:solidFill>
                <a:latin typeface="Lucida Sans Unicode"/>
                <a:cs typeface="Lucida Sans Unicode"/>
              </a:rPr>
              <a:t>and </a:t>
            </a:r>
            <a:r>
              <a:rPr sz="1350" spc="-10" dirty="0">
                <a:solidFill>
                  <a:srgbClr val="E5E0DF"/>
                </a:solidFill>
                <a:latin typeface="Lucida Sans Unicode"/>
                <a:cs typeface="Lucida Sans Unicode"/>
              </a:rPr>
              <a:t>alignment</a:t>
            </a:r>
            <a:endParaRPr sz="135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43001" y="4325212"/>
            <a:ext cx="1288415" cy="1049020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201295" marR="187960" algn="ctr">
              <a:lnSpc>
                <a:spcPct val="104099"/>
              </a:lnSpc>
              <a:spcBef>
                <a:spcPts val="45"/>
              </a:spcBef>
            </a:pPr>
            <a:r>
              <a:rPr sz="1600" b="1" spc="-10" dirty="0">
                <a:solidFill>
                  <a:srgbClr val="FFFFFF"/>
                </a:solidFill>
                <a:latin typeface="Trebuchet MS"/>
                <a:cs typeface="Trebuchet MS"/>
              </a:rPr>
              <a:t>Anomaly </a:t>
            </a:r>
            <a:r>
              <a:rPr sz="1600" b="1" spc="-45" dirty="0">
                <a:solidFill>
                  <a:srgbClr val="FFFFFF"/>
                </a:solidFill>
                <a:latin typeface="Trebuchet MS"/>
                <a:cs typeface="Trebuchet MS"/>
              </a:rPr>
              <a:t>Detection</a:t>
            </a:r>
            <a:endParaRPr sz="1600">
              <a:latin typeface="Trebuchet MS"/>
              <a:cs typeface="Trebuchet MS"/>
            </a:endParaRPr>
          </a:p>
          <a:p>
            <a:pPr marL="12700" marR="5080" algn="ctr">
              <a:lnSpc>
                <a:spcPct val="109200"/>
              </a:lnSpc>
              <a:spcBef>
                <a:spcPts val="565"/>
              </a:spcBef>
            </a:pPr>
            <a:r>
              <a:rPr sz="1350" spc="-30" dirty="0">
                <a:solidFill>
                  <a:srgbClr val="E5E0DF"/>
                </a:solidFill>
                <a:latin typeface="Lucida Sans Unicode"/>
                <a:cs typeface="Lucida Sans Unicode"/>
              </a:rPr>
              <a:t>Identify</a:t>
            </a:r>
            <a:r>
              <a:rPr sz="1350" spc="-6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350" spc="-50" dirty="0">
                <a:solidFill>
                  <a:srgbClr val="E5E0DF"/>
                </a:solidFill>
                <a:latin typeface="Lucida Sans Unicode"/>
                <a:cs typeface="Lucida Sans Unicode"/>
              </a:rPr>
              <a:t>unusual </a:t>
            </a:r>
            <a:r>
              <a:rPr sz="1350" spc="-10" dirty="0">
                <a:solidFill>
                  <a:srgbClr val="E5E0DF"/>
                </a:solidFill>
                <a:latin typeface="Lucida Sans Unicode"/>
                <a:cs typeface="Lucida Sans Unicode"/>
              </a:rPr>
              <a:t>patterns</a:t>
            </a:r>
            <a:endParaRPr sz="135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44418" y="1645123"/>
            <a:ext cx="1480185" cy="906780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10"/>
              </a:spcBef>
            </a:pPr>
            <a:r>
              <a:rPr sz="1600" b="1" spc="-35" dirty="0">
                <a:solidFill>
                  <a:srgbClr val="E5E0DF"/>
                </a:solidFill>
                <a:latin typeface="Trebuchet MS"/>
                <a:cs typeface="Trebuchet MS"/>
              </a:rPr>
              <a:t>Input</a:t>
            </a:r>
            <a:r>
              <a:rPr sz="1600" b="1" spc="-215" dirty="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sz="1600" b="1" spc="-20" dirty="0">
                <a:solidFill>
                  <a:srgbClr val="E5E0DF"/>
                </a:solidFill>
                <a:latin typeface="Trebuchet MS"/>
                <a:cs typeface="Trebuchet MS"/>
              </a:rPr>
              <a:t>Video</a:t>
            </a:r>
            <a:endParaRPr sz="1600">
              <a:latin typeface="Trebuchet MS"/>
              <a:cs typeface="Trebuchet MS"/>
            </a:endParaRPr>
          </a:p>
          <a:p>
            <a:pPr marL="12700" marR="5080" algn="ctr">
              <a:lnSpc>
                <a:spcPct val="104400"/>
              </a:lnSpc>
              <a:spcBef>
                <a:spcPts val="720"/>
              </a:spcBef>
            </a:pPr>
            <a:r>
              <a:rPr sz="1350" spc="-20" dirty="0">
                <a:solidFill>
                  <a:srgbClr val="E5E0DF"/>
                </a:solidFill>
                <a:latin typeface="Lucida Sans Unicode"/>
                <a:cs typeface="Lucida Sans Unicode"/>
              </a:rPr>
              <a:t>Source</a:t>
            </a:r>
            <a:r>
              <a:rPr sz="1350" spc="-6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350" spc="-45" dirty="0">
                <a:solidFill>
                  <a:srgbClr val="E5E0DF"/>
                </a:solidFill>
                <a:latin typeface="Lucida Sans Unicode"/>
                <a:cs typeface="Lucida Sans Unicode"/>
              </a:rPr>
              <a:t>footage</a:t>
            </a:r>
            <a:r>
              <a:rPr sz="1350" spc="-6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350" spc="-45" dirty="0">
                <a:solidFill>
                  <a:srgbClr val="E5E0DF"/>
                </a:solidFill>
                <a:latin typeface="Lucida Sans Unicode"/>
                <a:cs typeface="Lucida Sans Unicode"/>
              </a:rPr>
              <a:t>for </a:t>
            </a:r>
            <a:r>
              <a:rPr sz="1350" spc="-10" dirty="0">
                <a:solidFill>
                  <a:srgbClr val="E5E0DF"/>
                </a:solidFill>
                <a:latin typeface="Lucida Sans Unicode"/>
                <a:cs typeface="Lucida Sans Unicode"/>
              </a:rPr>
              <a:t>analysis</a:t>
            </a:r>
            <a:endParaRPr sz="135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831051" y="1645123"/>
            <a:ext cx="1459230" cy="906780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10"/>
              </a:spcBef>
            </a:pPr>
            <a:r>
              <a:rPr sz="1600" b="1" spc="-10" dirty="0">
                <a:solidFill>
                  <a:srgbClr val="E5E0DF"/>
                </a:solidFill>
                <a:latin typeface="Trebuchet MS"/>
                <a:cs typeface="Trebuchet MS"/>
              </a:rPr>
              <a:t>Classification</a:t>
            </a:r>
            <a:endParaRPr sz="1600">
              <a:latin typeface="Trebuchet MS"/>
              <a:cs typeface="Trebuchet MS"/>
            </a:endParaRPr>
          </a:p>
          <a:p>
            <a:pPr marL="12700" marR="5080" algn="ctr">
              <a:lnSpc>
                <a:spcPct val="104400"/>
              </a:lnSpc>
              <a:spcBef>
                <a:spcPts val="720"/>
              </a:spcBef>
            </a:pPr>
            <a:r>
              <a:rPr sz="1350" spc="-20" dirty="0">
                <a:solidFill>
                  <a:srgbClr val="E5E0DF"/>
                </a:solidFill>
                <a:latin typeface="Lucida Sans Unicode"/>
                <a:cs typeface="Lucida Sans Unicode"/>
              </a:rPr>
              <a:t>Label</a:t>
            </a:r>
            <a:r>
              <a:rPr sz="1350" spc="-8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350" spc="-45" dirty="0">
                <a:solidFill>
                  <a:srgbClr val="E5E0DF"/>
                </a:solidFill>
                <a:latin typeface="Lucida Sans Unicode"/>
                <a:cs typeface="Lucida Sans Unicode"/>
              </a:rPr>
              <a:t>as</a:t>
            </a:r>
            <a:r>
              <a:rPr sz="1350" spc="-7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350" spc="-45" dirty="0">
                <a:solidFill>
                  <a:srgbClr val="E5E0DF"/>
                </a:solidFill>
                <a:latin typeface="Lucida Sans Unicode"/>
                <a:cs typeface="Lucida Sans Unicode"/>
              </a:rPr>
              <a:t>Deepfake </a:t>
            </a:r>
            <a:r>
              <a:rPr sz="1350" spc="-50" dirty="0">
                <a:solidFill>
                  <a:srgbClr val="E5E0DF"/>
                </a:solidFill>
                <a:latin typeface="Lucida Sans Unicode"/>
                <a:cs typeface="Lucida Sans Unicode"/>
              </a:rPr>
              <a:t>or</a:t>
            </a:r>
            <a:r>
              <a:rPr sz="1350" spc="-9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350" spc="-20" dirty="0">
                <a:solidFill>
                  <a:srgbClr val="E5E0DF"/>
                </a:solidFill>
                <a:latin typeface="Lucida Sans Unicode"/>
                <a:cs typeface="Lucida Sans Unicode"/>
              </a:rPr>
              <a:t>Real</a:t>
            </a:r>
            <a:endParaRPr sz="135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176377" y="1741678"/>
            <a:ext cx="1197610" cy="10737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635" marR="114300" algn="ctr">
              <a:lnSpc>
                <a:spcPct val="1081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FFFFFF"/>
                </a:solidFill>
                <a:latin typeface="Trebuchet MS"/>
                <a:cs typeface="Trebuchet MS"/>
              </a:rPr>
              <a:t>Feature </a:t>
            </a:r>
            <a:r>
              <a:rPr sz="1600" b="1" spc="-40" dirty="0">
                <a:solidFill>
                  <a:srgbClr val="FFFFFF"/>
                </a:solidFill>
                <a:latin typeface="Trebuchet MS"/>
                <a:cs typeface="Trebuchet MS"/>
              </a:rPr>
              <a:t>Extraction</a:t>
            </a:r>
            <a:endParaRPr sz="1600">
              <a:latin typeface="Trebuchet MS"/>
              <a:cs typeface="Trebuchet MS"/>
            </a:endParaRPr>
          </a:p>
          <a:p>
            <a:pPr marL="12065" marR="5080" indent="-635" algn="ctr">
              <a:lnSpc>
                <a:spcPct val="109200"/>
              </a:lnSpc>
              <a:spcBef>
                <a:spcPts val="565"/>
              </a:spcBef>
            </a:pPr>
            <a:r>
              <a:rPr sz="1350" spc="-45" dirty="0">
                <a:solidFill>
                  <a:srgbClr val="E5E0DF"/>
                </a:solidFill>
                <a:latin typeface="Lucida Sans Unicode"/>
                <a:cs typeface="Lucida Sans Unicode"/>
              </a:rPr>
              <a:t>Deep</a:t>
            </a:r>
            <a:r>
              <a:rPr sz="1350" spc="-7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350" spc="-10" dirty="0">
                <a:solidFill>
                  <a:srgbClr val="E5E0DF"/>
                </a:solidFill>
                <a:latin typeface="Lucida Sans Unicode"/>
                <a:cs typeface="Lucida Sans Unicode"/>
              </a:rPr>
              <a:t>learning </a:t>
            </a:r>
            <a:r>
              <a:rPr sz="1350" spc="-55" dirty="0">
                <a:solidFill>
                  <a:srgbClr val="E5E0DF"/>
                </a:solidFill>
                <a:latin typeface="Lucida Sans Unicode"/>
                <a:cs typeface="Lucida Sans Unicode"/>
              </a:rPr>
              <a:t>model</a:t>
            </a:r>
            <a:r>
              <a:rPr sz="1350" spc="-7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350" spc="-45" dirty="0">
                <a:solidFill>
                  <a:srgbClr val="E5E0DF"/>
                </a:solidFill>
                <a:latin typeface="Lucida Sans Unicode"/>
                <a:cs typeface="Lucida Sans Unicode"/>
              </a:rPr>
              <a:t>features</a:t>
            </a:r>
            <a:endParaRPr sz="135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24875" y="5929226"/>
            <a:ext cx="9946640" cy="5969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33900"/>
              </a:lnSpc>
              <a:spcBef>
                <a:spcPts val="90"/>
              </a:spcBef>
            </a:pPr>
            <a:r>
              <a:rPr sz="1400" spc="-60" dirty="0">
                <a:solidFill>
                  <a:srgbClr val="E5E0DF"/>
                </a:solidFill>
                <a:latin typeface="Lucida Sans Unicode"/>
                <a:cs typeface="Lucida Sans Unicode"/>
              </a:rPr>
              <a:t>This</a:t>
            </a:r>
            <a:r>
              <a:rPr sz="1400" spc="-7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55" dirty="0">
                <a:solidFill>
                  <a:srgbClr val="E5E0DF"/>
                </a:solidFill>
                <a:latin typeface="Lucida Sans Unicode"/>
                <a:cs typeface="Lucida Sans Unicode"/>
              </a:rPr>
              <a:t>diagram</a:t>
            </a:r>
            <a:r>
              <a:rPr sz="1400" spc="-7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50" dirty="0">
                <a:solidFill>
                  <a:srgbClr val="E5E0DF"/>
                </a:solidFill>
                <a:latin typeface="Lucida Sans Unicode"/>
                <a:cs typeface="Lucida Sans Unicode"/>
              </a:rPr>
              <a:t>illustrates</a:t>
            </a:r>
            <a:r>
              <a:rPr sz="1400" spc="-7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E5E0DF"/>
                </a:solidFill>
                <a:latin typeface="Lucida Sans Unicode"/>
                <a:cs typeface="Lucida Sans Unicode"/>
              </a:rPr>
              <a:t>the</a:t>
            </a:r>
            <a:r>
              <a:rPr sz="1400" spc="-7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E5E0DF"/>
                </a:solidFill>
                <a:latin typeface="Lucida Sans Unicode"/>
                <a:cs typeface="Lucida Sans Unicode"/>
              </a:rPr>
              <a:t>sequential</a:t>
            </a:r>
            <a:r>
              <a:rPr sz="1400" spc="-7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45" dirty="0">
                <a:solidFill>
                  <a:srgbClr val="E5E0DF"/>
                </a:solidFill>
                <a:latin typeface="Lucida Sans Unicode"/>
                <a:cs typeface="Lucida Sans Unicode"/>
              </a:rPr>
              <a:t>steps</a:t>
            </a:r>
            <a:r>
              <a:rPr sz="1400" spc="-7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45" dirty="0">
                <a:solidFill>
                  <a:srgbClr val="E5E0DF"/>
                </a:solidFill>
                <a:latin typeface="Lucida Sans Unicode"/>
                <a:cs typeface="Lucida Sans Unicode"/>
              </a:rPr>
              <a:t>involved</a:t>
            </a:r>
            <a:r>
              <a:rPr sz="1400" spc="-7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in</a:t>
            </a:r>
            <a:r>
              <a:rPr sz="1400" spc="-7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60" dirty="0">
                <a:solidFill>
                  <a:srgbClr val="E5E0DF"/>
                </a:solidFill>
                <a:latin typeface="Lucida Sans Unicode"/>
                <a:cs typeface="Lucida Sans Unicode"/>
              </a:rPr>
              <a:t>our</a:t>
            </a:r>
            <a:r>
              <a:rPr sz="1400" spc="-7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45" dirty="0">
                <a:solidFill>
                  <a:srgbClr val="E5E0DF"/>
                </a:solidFill>
                <a:latin typeface="Lucida Sans Unicode"/>
                <a:cs typeface="Lucida Sans Unicode"/>
              </a:rPr>
              <a:t>deepfake</a:t>
            </a:r>
            <a:r>
              <a:rPr sz="1400" spc="-7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E5E0DF"/>
                </a:solidFill>
                <a:latin typeface="Lucida Sans Unicode"/>
                <a:cs typeface="Lucida Sans Unicode"/>
              </a:rPr>
              <a:t>detection</a:t>
            </a:r>
            <a:r>
              <a:rPr sz="1400" spc="-7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60" dirty="0">
                <a:solidFill>
                  <a:srgbClr val="E5E0DF"/>
                </a:solidFill>
                <a:latin typeface="Lucida Sans Unicode"/>
                <a:cs typeface="Lucida Sans Unicode"/>
              </a:rPr>
              <a:t>process,</a:t>
            </a:r>
            <a:r>
              <a:rPr sz="1400" spc="-7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80" dirty="0">
                <a:solidFill>
                  <a:srgbClr val="E5E0DF"/>
                </a:solidFill>
                <a:latin typeface="Lucida Sans Unicode"/>
                <a:cs typeface="Lucida Sans Unicode"/>
              </a:rPr>
              <a:t>from</a:t>
            </a:r>
            <a:r>
              <a:rPr sz="1400" spc="-7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45" dirty="0">
                <a:solidFill>
                  <a:srgbClr val="E5E0DF"/>
                </a:solidFill>
                <a:latin typeface="Lucida Sans Unicode"/>
                <a:cs typeface="Lucida Sans Unicode"/>
              </a:rPr>
              <a:t>initial</a:t>
            </a:r>
            <a:r>
              <a:rPr sz="1400" spc="-7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E5E0DF"/>
                </a:solidFill>
                <a:latin typeface="Lucida Sans Unicode"/>
                <a:cs typeface="Lucida Sans Unicode"/>
              </a:rPr>
              <a:t>video</a:t>
            </a:r>
            <a:r>
              <a:rPr sz="1400" spc="-7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55" dirty="0">
                <a:solidFill>
                  <a:srgbClr val="E5E0DF"/>
                </a:solidFill>
                <a:latin typeface="Lucida Sans Unicode"/>
                <a:cs typeface="Lucida Sans Unicode"/>
              </a:rPr>
              <a:t>input</a:t>
            </a:r>
            <a:r>
              <a:rPr sz="1400" spc="-7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E5E0DF"/>
                </a:solidFill>
                <a:latin typeface="Lucida Sans Unicode"/>
                <a:cs typeface="Lucida Sans Unicode"/>
              </a:rPr>
              <a:t>to</a:t>
            </a:r>
            <a:r>
              <a:rPr sz="1400" spc="-7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E5E0DF"/>
                </a:solidFill>
                <a:latin typeface="Lucida Sans Unicode"/>
                <a:cs typeface="Lucida Sans Unicode"/>
              </a:rPr>
              <a:t>the</a:t>
            </a:r>
            <a:r>
              <a:rPr sz="1400" spc="-7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E5E0DF"/>
                </a:solidFill>
                <a:latin typeface="Lucida Sans Unicode"/>
                <a:cs typeface="Lucida Sans Unicode"/>
              </a:rPr>
              <a:t>final </a:t>
            </a:r>
            <a:r>
              <a:rPr sz="1400" spc="-45" dirty="0">
                <a:solidFill>
                  <a:srgbClr val="E5E0DF"/>
                </a:solidFill>
                <a:latin typeface="Lucida Sans Unicode"/>
                <a:cs typeface="Lucida Sans Unicode"/>
              </a:rPr>
              <a:t>classification</a:t>
            </a:r>
            <a:r>
              <a:rPr sz="14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 of </a:t>
            </a:r>
            <a:r>
              <a:rPr sz="1400" spc="-40" dirty="0">
                <a:solidFill>
                  <a:srgbClr val="E5E0DF"/>
                </a:solidFill>
                <a:latin typeface="Lucida Sans Unicode"/>
                <a:cs typeface="Lucida Sans Unicode"/>
              </a:rPr>
              <a:t>real</a:t>
            </a:r>
            <a:r>
              <a:rPr sz="14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55" dirty="0">
                <a:solidFill>
                  <a:srgbClr val="E5E0DF"/>
                </a:solidFill>
                <a:latin typeface="Lucida Sans Unicode"/>
                <a:cs typeface="Lucida Sans Unicode"/>
              </a:rPr>
              <a:t>or</a:t>
            </a:r>
            <a:r>
              <a:rPr sz="14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55" dirty="0">
                <a:solidFill>
                  <a:srgbClr val="E5E0DF"/>
                </a:solidFill>
                <a:latin typeface="Lucida Sans Unicode"/>
                <a:cs typeface="Lucida Sans Unicode"/>
              </a:rPr>
              <a:t>manipulated</a:t>
            </a:r>
            <a:r>
              <a:rPr sz="14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E5E0DF"/>
                </a:solidFill>
                <a:latin typeface="Lucida Sans Unicode"/>
                <a:cs typeface="Lucida Sans Unicode"/>
              </a:rPr>
              <a:t>content.</a:t>
            </a:r>
            <a:endParaRPr sz="14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7029450"/>
          </a:xfrm>
          <a:custGeom>
            <a:avLst/>
            <a:gdLst/>
            <a:ahLst/>
            <a:cxnLst/>
            <a:rect l="l" t="t" r="r" b="b"/>
            <a:pathLst>
              <a:path w="11430000" h="7029450">
                <a:moveTo>
                  <a:pt x="11430000" y="0"/>
                </a:moveTo>
                <a:lnTo>
                  <a:pt x="0" y="0"/>
                </a:lnTo>
                <a:lnTo>
                  <a:pt x="0" y="7029450"/>
                </a:lnTo>
                <a:lnTo>
                  <a:pt x="11430000" y="7029450"/>
                </a:lnTo>
                <a:lnTo>
                  <a:pt x="11430000" y="0"/>
                </a:lnTo>
                <a:close/>
              </a:path>
            </a:pathLst>
          </a:custGeom>
          <a:solidFill>
            <a:srgbClr val="242121">
              <a:alpha val="948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60" dirty="0"/>
              <a:t>Model</a:t>
            </a:r>
            <a:r>
              <a:rPr spc="-335" dirty="0"/>
              <a:t> </a:t>
            </a:r>
            <a:r>
              <a:rPr spc="-75" dirty="0"/>
              <a:t>Description</a:t>
            </a:r>
          </a:p>
        </p:txBody>
      </p:sp>
      <p:sp>
        <p:nvSpPr>
          <p:cNvPr id="4" name="object 4"/>
          <p:cNvSpPr/>
          <p:nvPr/>
        </p:nvSpPr>
        <p:spPr>
          <a:xfrm>
            <a:off x="685800" y="29146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72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72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E5E0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85800" y="35623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72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72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E5E0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85800" y="42100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72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72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E5E0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85800" y="515302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59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E5E0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24879" y="1404848"/>
            <a:ext cx="5378450" cy="4911725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 marR="5080">
              <a:lnSpc>
                <a:spcPct val="136900"/>
              </a:lnSpc>
              <a:spcBef>
                <a:spcPts val="40"/>
              </a:spcBef>
            </a:pPr>
            <a:r>
              <a:rPr sz="1400" spc="-50" dirty="0">
                <a:solidFill>
                  <a:srgbClr val="E5E0DF"/>
                </a:solidFill>
                <a:latin typeface="Lucida Sans Unicode"/>
                <a:cs typeface="Lucida Sans Unicode"/>
              </a:rPr>
              <a:t>Our</a:t>
            </a:r>
            <a:r>
              <a:rPr sz="1400" spc="-7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E5E0DF"/>
                </a:solidFill>
                <a:latin typeface="Lucida Sans Unicode"/>
                <a:cs typeface="Lucida Sans Unicode"/>
              </a:rPr>
              <a:t>detection</a:t>
            </a:r>
            <a:r>
              <a:rPr sz="1400" spc="-7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55" dirty="0">
                <a:solidFill>
                  <a:srgbClr val="E5E0DF"/>
                </a:solidFill>
                <a:latin typeface="Lucida Sans Unicode"/>
                <a:cs typeface="Lucida Sans Unicode"/>
              </a:rPr>
              <a:t>model</a:t>
            </a:r>
            <a:r>
              <a:rPr sz="1400" spc="-7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50" dirty="0">
                <a:solidFill>
                  <a:srgbClr val="E5E0DF"/>
                </a:solidFill>
                <a:latin typeface="Lucida Sans Unicode"/>
                <a:cs typeface="Lucida Sans Unicode"/>
              </a:rPr>
              <a:t>is</a:t>
            </a:r>
            <a:r>
              <a:rPr sz="1400" spc="-7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50" dirty="0">
                <a:solidFill>
                  <a:srgbClr val="E5E0DF"/>
                </a:solidFill>
                <a:latin typeface="Lucida Sans Unicode"/>
                <a:cs typeface="Lucida Sans Unicode"/>
              </a:rPr>
              <a:t>built</a:t>
            </a:r>
            <a:r>
              <a:rPr sz="1400" spc="-7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75" dirty="0">
                <a:solidFill>
                  <a:srgbClr val="E5E0DF"/>
                </a:solidFill>
                <a:latin typeface="Lucida Sans Unicode"/>
                <a:cs typeface="Lucida Sans Unicode"/>
              </a:rPr>
              <a:t>upon </a:t>
            </a:r>
            <a:r>
              <a:rPr sz="1400" spc="-30" dirty="0">
                <a:solidFill>
                  <a:srgbClr val="E5E0DF"/>
                </a:solidFill>
                <a:latin typeface="Lucida Sans Unicode"/>
                <a:cs typeface="Lucida Sans Unicode"/>
              </a:rPr>
              <a:t>a</a:t>
            </a:r>
            <a:r>
              <a:rPr sz="1400" spc="-7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55" dirty="0">
                <a:solidFill>
                  <a:srgbClr val="E5E0DF"/>
                </a:solidFill>
                <a:latin typeface="Lucida Sans Unicode"/>
                <a:cs typeface="Lucida Sans Unicode"/>
              </a:rPr>
              <a:t>Convolutional</a:t>
            </a:r>
            <a:r>
              <a:rPr sz="1400" spc="-7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45" dirty="0">
                <a:solidFill>
                  <a:srgbClr val="E5E0DF"/>
                </a:solidFill>
                <a:latin typeface="Lucida Sans Unicode"/>
                <a:cs typeface="Lucida Sans Unicode"/>
              </a:rPr>
              <a:t>Neural</a:t>
            </a:r>
            <a:r>
              <a:rPr sz="1400" spc="-7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E5E0DF"/>
                </a:solidFill>
                <a:latin typeface="Lucida Sans Unicode"/>
                <a:cs typeface="Lucida Sans Unicode"/>
              </a:rPr>
              <a:t>Network </a:t>
            </a:r>
            <a:r>
              <a:rPr sz="1400" spc="-20" dirty="0">
                <a:solidFill>
                  <a:srgbClr val="E5E0DF"/>
                </a:solidFill>
                <a:latin typeface="Lucida Sans Unicode"/>
                <a:cs typeface="Lucida Sans Unicode"/>
              </a:rPr>
              <a:t>(CNN)</a:t>
            </a:r>
            <a:r>
              <a:rPr sz="1400" spc="-45" dirty="0">
                <a:solidFill>
                  <a:srgbClr val="E5E0DF"/>
                </a:solidFill>
                <a:latin typeface="Lucida Sans Unicode"/>
                <a:cs typeface="Lucida Sans Unicode"/>
              </a:rPr>
              <a:t> architecture, </a:t>
            </a:r>
            <a:r>
              <a:rPr sz="1400" spc="-35" dirty="0">
                <a:solidFill>
                  <a:srgbClr val="E5E0DF"/>
                </a:solidFill>
                <a:latin typeface="Lucida Sans Unicode"/>
                <a:cs typeface="Lucida Sans Unicode"/>
              </a:rPr>
              <a:t>specifically</a:t>
            </a:r>
            <a:r>
              <a:rPr sz="1400" spc="-4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50" dirty="0">
                <a:solidFill>
                  <a:srgbClr val="E5E0DF"/>
                </a:solidFill>
                <a:latin typeface="Lucida Sans Unicode"/>
                <a:cs typeface="Lucida Sans Unicode"/>
              </a:rPr>
              <a:t>designed</a:t>
            </a:r>
            <a:r>
              <a:rPr sz="1400" spc="-40" dirty="0">
                <a:solidFill>
                  <a:srgbClr val="E5E0DF"/>
                </a:solidFill>
                <a:latin typeface="Lucida Sans Unicode"/>
                <a:cs typeface="Lucida Sans Unicode"/>
              </a:rPr>
              <a:t> to</a:t>
            </a:r>
            <a:r>
              <a:rPr sz="1400" spc="-4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E5E0DF"/>
                </a:solidFill>
                <a:latin typeface="Lucida Sans Unicode"/>
                <a:cs typeface="Lucida Sans Unicode"/>
              </a:rPr>
              <a:t>identify</a:t>
            </a:r>
            <a:r>
              <a:rPr sz="1400" spc="-4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E5E0DF"/>
                </a:solidFill>
                <a:latin typeface="Lucida Sans Unicode"/>
                <a:cs typeface="Lucida Sans Unicode"/>
              </a:rPr>
              <a:t>subtle </a:t>
            </a:r>
            <a:r>
              <a:rPr sz="1400" spc="-40" dirty="0">
                <a:solidFill>
                  <a:srgbClr val="E5E0DF"/>
                </a:solidFill>
                <a:latin typeface="Lucida Sans Unicode"/>
                <a:cs typeface="Lucida Sans Unicode"/>
              </a:rPr>
              <a:t>discrepancies</a:t>
            </a:r>
            <a:r>
              <a:rPr sz="14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55" dirty="0">
                <a:solidFill>
                  <a:srgbClr val="E5E0DF"/>
                </a:solidFill>
                <a:latin typeface="Lucida Sans Unicode"/>
                <a:cs typeface="Lucida Sans Unicode"/>
              </a:rPr>
              <a:t>introduced</a:t>
            </a:r>
            <a:r>
              <a:rPr sz="1400" spc="-60" dirty="0">
                <a:solidFill>
                  <a:srgbClr val="E5E0DF"/>
                </a:solidFill>
                <a:latin typeface="Lucida Sans Unicode"/>
                <a:cs typeface="Lucida Sans Unicode"/>
              </a:rPr>
              <a:t> during </a:t>
            </a:r>
            <a:r>
              <a:rPr sz="1400" spc="-30" dirty="0">
                <a:solidFill>
                  <a:srgbClr val="E5E0DF"/>
                </a:solidFill>
                <a:latin typeface="Lucida Sans Unicode"/>
                <a:cs typeface="Lucida Sans Unicode"/>
              </a:rPr>
              <a:t>the</a:t>
            </a:r>
            <a:r>
              <a:rPr sz="1400" spc="-6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45" dirty="0">
                <a:solidFill>
                  <a:srgbClr val="E5E0DF"/>
                </a:solidFill>
                <a:latin typeface="Lucida Sans Unicode"/>
                <a:cs typeface="Lucida Sans Unicode"/>
              </a:rPr>
              <a:t>deepfake</a:t>
            </a:r>
            <a:r>
              <a:rPr sz="1400" spc="-6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50" dirty="0">
                <a:solidFill>
                  <a:srgbClr val="E5E0DF"/>
                </a:solidFill>
                <a:latin typeface="Lucida Sans Unicode"/>
                <a:cs typeface="Lucida Sans Unicode"/>
              </a:rPr>
              <a:t>generation</a:t>
            </a:r>
            <a:r>
              <a:rPr sz="1400" spc="-6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E5E0DF"/>
                </a:solidFill>
                <a:latin typeface="Lucida Sans Unicode"/>
                <a:cs typeface="Lucida Sans Unicode"/>
              </a:rPr>
              <a:t>process. </a:t>
            </a:r>
            <a:r>
              <a:rPr sz="1400" dirty="0">
                <a:solidFill>
                  <a:srgbClr val="E5E0DF"/>
                </a:solidFill>
                <a:latin typeface="Lucida Sans Unicode"/>
                <a:cs typeface="Lucida Sans Unicode"/>
              </a:rPr>
              <a:t>It</a:t>
            </a:r>
            <a:r>
              <a:rPr sz="1400" spc="-8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55" dirty="0">
                <a:solidFill>
                  <a:srgbClr val="E5E0DF"/>
                </a:solidFill>
                <a:latin typeface="Lucida Sans Unicode"/>
                <a:cs typeface="Lucida Sans Unicode"/>
              </a:rPr>
              <a:t>focuses</a:t>
            </a:r>
            <a:r>
              <a:rPr sz="1400" spc="-8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E5E0DF"/>
                </a:solidFill>
                <a:latin typeface="Lucida Sans Unicode"/>
                <a:cs typeface="Lucida Sans Unicode"/>
              </a:rPr>
              <a:t>on:</a:t>
            </a:r>
            <a:endParaRPr sz="1400">
              <a:latin typeface="Lucida Sans Unicode"/>
              <a:cs typeface="Lucida Sans Unicode"/>
            </a:endParaRPr>
          </a:p>
          <a:p>
            <a:pPr marL="303530" marR="140335">
              <a:lnSpc>
                <a:spcPct val="138400"/>
              </a:lnSpc>
              <a:spcBef>
                <a:spcPts val="1200"/>
              </a:spcBef>
            </a:pPr>
            <a:r>
              <a:rPr sz="1400" b="1" dirty="0">
                <a:solidFill>
                  <a:srgbClr val="E5E0DF"/>
                </a:solidFill>
                <a:latin typeface="Trebuchet MS"/>
                <a:cs typeface="Trebuchet MS"/>
              </a:rPr>
              <a:t>Spatial</a:t>
            </a:r>
            <a:r>
              <a:rPr sz="1400" b="1" spc="35" dirty="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sz="1400" b="1" dirty="0">
                <a:solidFill>
                  <a:srgbClr val="E5E0DF"/>
                </a:solidFill>
                <a:latin typeface="Trebuchet MS"/>
                <a:cs typeface="Trebuchet MS"/>
              </a:rPr>
              <a:t>Inconsistencies:</a:t>
            </a:r>
            <a:r>
              <a:rPr sz="1400" b="1" spc="15" dirty="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sz="1400" spc="-40" dirty="0">
                <a:solidFill>
                  <a:srgbClr val="E5E0DF"/>
                </a:solidFill>
                <a:latin typeface="Lucida Sans Unicode"/>
                <a:cs typeface="Lucida Sans Unicode"/>
              </a:rPr>
              <a:t>Detecting</a:t>
            </a:r>
            <a:r>
              <a:rPr sz="1400" spc="-1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E5E0DF"/>
                </a:solidFill>
                <a:latin typeface="Lucida Sans Unicode"/>
                <a:cs typeface="Lucida Sans Unicode"/>
              </a:rPr>
              <a:t>artifacts</a:t>
            </a:r>
            <a:r>
              <a:rPr sz="1400" spc="-1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E5E0DF"/>
                </a:solidFill>
                <a:latin typeface="Lucida Sans Unicode"/>
                <a:cs typeface="Lucida Sans Unicode"/>
              </a:rPr>
              <a:t>at</a:t>
            </a:r>
            <a:r>
              <a:rPr sz="1400" spc="-2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E5E0DF"/>
                </a:solidFill>
                <a:latin typeface="Lucida Sans Unicode"/>
                <a:cs typeface="Lucida Sans Unicode"/>
              </a:rPr>
              <a:t>the</a:t>
            </a:r>
            <a:r>
              <a:rPr sz="1400" spc="-1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75" dirty="0">
                <a:solidFill>
                  <a:srgbClr val="E5E0DF"/>
                </a:solidFill>
                <a:latin typeface="Lucida Sans Unicode"/>
                <a:cs typeface="Lucida Sans Unicode"/>
              </a:rPr>
              <a:t>pixel</a:t>
            </a:r>
            <a:r>
              <a:rPr sz="1400" spc="-1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E5E0DF"/>
                </a:solidFill>
                <a:latin typeface="Lucida Sans Unicode"/>
                <a:cs typeface="Lucida Sans Unicode"/>
              </a:rPr>
              <a:t>level </a:t>
            </a:r>
            <a:r>
              <a:rPr sz="1400" spc="-35" dirty="0">
                <a:solidFill>
                  <a:srgbClr val="E5E0DF"/>
                </a:solidFill>
                <a:latin typeface="Lucida Sans Unicode"/>
                <a:cs typeface="Lucida Sans Unicode"/>
              </a:rPr>
              <a:t>that</a:t>
            </a:r>
            <a:r>
              <a:rPr sz="1400" spc="-8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E5E0DF"/>
                </a:solidFill>
                <a:latin typeface="Lucida Sans Unicode"/>
                <a:cs typeface="Lucida Sans Unicode"/>
              </a:rPr>
              <a:t>betray</a:t>
            </a:r>
            <a:r>
              <a:rPr sz="1400" spc="-8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E5E0DF"/>
                </a:solidFill>
                <a:latin typeface="Lucida Sans Unicode"/>
                <a:cs typeface="Lucida Sans Unicode"/>
              </a:rPr>
              <a:t>manipulation.</a:t>
            </a:r>
            <a:endParaRPr sz="1400">
              <a:latin typeface="Lucida Sans Unicode"/>
              <a:cs typeface="Lucida Sans Unicode"/>
            </a:endParaRPr>
          </a:p>
          <a:p>
            <a:pPr marL="303530" marR="701040">
              <a:lnSpc>
                <a:spcPct val="138400"/>
              </a:lnSpc>
              <a:spcBef>
                <a:spcPts val="450"/>
              </a:spcBef>
            </a:pPr>
            <a:r>
              <a:rPr sz="1400" b="1" dirty="0">
                <a:solidFill>
                  <a:srgbClr val="E5E0DF"/>
                </a:solidFill>
                <a:latin typeface="Trebuchet MS"/>
                <a:cs typeface="Trebuchet MS"/>
              </a:rPr>
              <a:t>Temporal</a:t>
            </a:r>
            <a:r>
              <a:rPr sz="1400" b="1" spc="60" dirty="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sz="1400" b="1" dirty="0">
                <a:solidFill>
                  <a:srgbClr val="E5E0DF"/>
                </a:solidFill>
                <a:latin typeface="Trebuchet MS"/>
                <a:cs typeface="Trebuchet MS"/>
              </a:rPr>
              <a:t>Inconsistencies:</a:t>
            </a:r>
            <a:r>
              <a:rPr sz="1400" b="1" spc="-40" dirty="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sz="1400" spc="-50" dirty="0">
                <a:solidFill>
                  <a:srgbClr val="E5E0DF"/>
                </a:solidFill>
                <a:latin typeface="Lucida Sans Unicode"/>
                <a:cs typeface="Lucida Sans Unicode"/>
              </a:rPr>
              <a:t>Analyzing</a:t>
            </a:r>
            <a:r>
              <a:rPr sz="1400" spc="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80" dirty="0">
                <a:solidFill>
                  <a:srgbClr val="E5E0DF"/>
                </a:solidFill>
                <a:latin typeface="Lucida Sans Unicode"/>
                <a:cs typeface="Lucida Sans Unicode"/>
              </a:rPr>
              <a:t>frame-</a:t>
            </a:r>
            <a:r>
              <a:rPr sz="1400" spc="-110" dirty="0">
                <a:solidFill>
                  <a:srgbClr val="E5E0DF"/>
                </a:solidFill>
                <a:latin typeface="Lucida Sans Unicode"/>
                <a:cs typeface="Lucida Sans Unicode"/>
              </a:rPr>
              <a:t>to-</a:t>
            </a:r>
            <a:r>
              <a:rPr sz="1400" spc="-10" dirty="0">
                <a:solidFill>
                  <a:srgbClr val="E5E0DF"/>
                </a:solidFill>
                <a:latin typeface="Lucida Sans Unicode"/>
                <a:cs typeface="Lucida Sans Unicode"/>
              </a:rPr>
              <a:t>frame </a:t>
            </a:r>
            <a:r>
              <a:rPr sz="1400" spc="-40" dirty="0">
                <a:solidFill>
                  <a:srgbClr val="E5E0DF"/>
                </a:solidFill>
                <a:latin typeface="Lucida Sans Unicode"/>
                <a:cs typeface="Lucida Sans Unicode"/>
              </a:rPr>
              <a:t>variations</a:t>
            </a:r>
            <a:r>
              <a:rPr sz="1400" spc="-8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E5E0DF"/>
                </a:solidFill>
                <a:latin typeface="Lucida Sans Unicode"/>
                <a:cs typeface="Lucida Sans Unicode"/>
              </a:rPr>
              <a:t>that</a:t>
            </a:r>
            <a:r>
              <a:rPr sz="1400" spc="-7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E5E0DF"/>
                </a:solidFill>
                <a:latin typeface="Lucida Sans Unicode"/>
                <a:cs typeface="Lucida Sans Unicode"/>
              </a:rPr>
              <a:t>are</a:t>
            </a:r>
            <a:r>
              <a:rPr sz="1400" spc="-8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55" dirty="0">
                <a:solidFill>
                  <a:srgbClr val="E5E0DF"/>
                </a:solidFill>
                <a:latin typeface="Lucida Sans Unicode"/>
                <a:cs typeface="Lucida Sans Unicode"/>
              </a:rPr>
              <a:t>unnatural</a:t>
            </a:r>
            <a:r>
              <a:rPr sz="1400" spc="-7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for</a:t>
            </a:r>
            <a:r>
              <a:rPr sz="1400" spc="-8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55" dirty="0">
                <a:solidFill>
                  <a:srgbClr val="E5E0DF"/>
                </a:solidFill>
                <a:latin typeface="Lucida Sans Unicode"/>
                <a:cs typeface="Lucida Sans Unicode"/>
              </a:rPr>
              <a:t>genuine</a:t>
            </a:r>
            <a:r>
              <a:rPr sz="1400" spc="-7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E5E0DF"/>
                </a:solidFill>
                <a:latin typeface="Lucida Sans Unicode"/>
                <a:cs typeface="Lucida Sans Unicode"/>
              </a:rPr>
              <a:t>video.</a:t>
            </a:r>
            <a:endParaRPr sz="1400">
              <a:latin typeface="Lucida Sans Unicode"/>
              <a:cs typeface="Lucida Sans Unicode"/>
            </a:endParaRPr>
          </a:p>
          <a:p>
            <a:pPr marL="303530" marR="684530">
              <a:lnSpc>
                <a:spcPct val="136200"/>
              </a:lnSpc>
              <a:spcBef>
                <a:spcPts val="489"/>
              </a:spcBef>
            </a:pPr>
            <a:r>
              <a:rPr sz="1400" b="1" dirty="0">
                <a:solidFill>
                  <a:srgbClr val="E5E0DF"/>
                </a:solidFill>
                <a:latin typeface="Trebuchet MS"/>
                <a:cs typeface="Trebuchet MS"/>
              </a:rPr>
              <a:t>Physiological</a:t>
            </a:r>
            <a:r>
              <a:rPr sz="1400" b="1" spc="35" dirty="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sz="1400" b="1" dirty="0">
                <a:solidFill>
                  <a:srgbClr val="E5E0DF"/>
                </a:solidFill>
                <a:latin typeface="Trebuchet MS"/>
                <a:cs typeface="Trebuchet MS"/>
              </a:rPr>
              <a:t>Anomalies:</a:t>
            </a:r>
            <a:r>
              <a:rPr sz="1400" b="1" spc="85" dirty="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sz="1400" spc="-40" dirty="0">
                <a:solidFill>
                  <a:srgbClr val="E5E0DF"/>
                </a:solidFill>
                <a:latin typeface="Lucida Sans Unicode"/>
                <a:cs typeface="Lucida Sans Unicode"/>
              </a:rPr>
              <a:t>Identifying</a:t>
            </a:r>
            <a:r>
              <a:rPr sz="1400" spc="6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50" dirty="0">
                <a:solidFill>
                  <a:srgbClr val="E5E0DF"/>
                </a:solidFill>
                <a:latin typeface="Lucida Sans Unicode"/>
                <a:cs typeface="Lucida Sans Unicode"/>
              </a:rPr>
              <a:t>strange</a:t>
            </a:r>
            <a:r>
              <a:rPr sz="1400" spc="6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E5E0DF"/>
                </a:solidFill>
                <a:latin typeface="Lucida Sans Unicode"/>
                <a:cs typeface="Lucida Sans Unicode"/>
              </a:rPr>
              <a:t>blinking </a:t>
            </a:r>
            <a:r>
              <a:rPr sz="1400" spc="-50" dirty="0">
                <a:solidFill>
                  <a:srgbClr val="E5E0DF"/>
                </a:solidFill>
                <a:latin typeface="Lucida Sans Unicode"/>
                <a:cs typeface="Lucida Sans Unicode"/>
              </a:rPr>
              <a:t>patterns,</a:t>
            </a:r>
            <a:r>
              <a:rPr sz="1400" spc="-55" dirty="0">
                <a:solidFill>
                  <a:srgbClr val="E5E0DF"/>
                </a:solidFill>
                <a:latin typeface="Lucida Sans Unicode"/>
                <a:cs typeface="Lucida Sans Unicode"/>
              </a:rPr>
              <a:t> unnatural </a:t>
            </a:r>
            <a:r>
              <a:rPr sz="14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skin</a:t>
            </a:r>
            <a:r>
              <a:rPr sz="1400" spc="-5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textures,</a:t>
            </a:r>
            <a:r>
              <a:rPr sz="1400" spc="-55" dirty="0">
                <a:solidFill>
                  <a:srgbClr val="E5E0DF"/>
                </a:solidFill>
                <a:latin typeface="Lucida Sans Unicode"/>
                <a:cs typeface="Lucida Sans Unicode"/>
              </a:rPr>
              <a:t> or</a:t>
            </a:r>
            <a:r>
              <a:rPr sz="1400" spc="-5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E5E0DF"/>
                </a:solidFill>
                <a:latin typeface="Lucida Sans Unicode"/>
                <a:cs typeface="Lucida Sans Unicode"/>
              </a:rPr>
              <a:t>incorrect</a:t>
            </a:r>
            <a:r>
              <a:rPr sz="1400" spc="-5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E5E0DF"/>
                </a:solidFill>
                <a:latin typeface="Lucida Sans Unicode"/>
                <a:cs typeface="Lucida Sans Unicode"/>
              </a:rPr>
              <a:t>head </a:t>
            </a:r>
            <a:r>
              <a:rPr sz="1400" spc="-10" dirty="0">
                <a:solidFill>
                  <a:srgbClr val="E5E0DF"/>
                </a:solidFill>
                <a:latin typeface="Lucida Sans Unicode"/>
                <a:cs typeface="Lucida Sans Unicode"/>
              </a:rPr>
              <a:t>movements.</a:t>
            </a:r>
            <a:endParaRPr sz="1400">
              <a:latin typeface="Lucida Sans Unicode"/>
              <a:cs typeface="Lucida Sans Unicode"/>
            </a:endParaRPr>
          </a:p>
          <a:p>
            <a:pPr marL="303530" marR="132080">
              <a:lnSpc>
                <a:spcPct val="133900"/>
              </a:lnSpc>
              <a:spcBef>
                <a:spcPts val="600"/>
              </a:spcBef>
            </a:pPr>
            <a:r>
              <a:rPr sz="1400" b="1" dirty="0">
                <a:solidFill>
                  <a:srgbClr val="E5E0DF"/>
                </a:solidFill>
                <a:latin typeface="Trebuchet MS"/>
                <a:cs typeface="Trebuchet MS"/>
              </a:rPr>
              <a:t>Frequency</a:t>
            </a:r>
            <a:r>
              <a:rPr sz="1400" b="1" spc="45" dirty="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sz="1400" b="1" dirty="0">
                <a:solidFill>
                  <a:srgbClr val="E5E0DF"/>
                </a:solidFill>
                <a:latin typeface="Trebuchet MS"/>
                <a:cs typeface="Trebuchet MS"/>
              </a:rPr>
              <a:t>Domain</a:t>
            </a:r>
            <a:r>
              <a:rPr sz="1400" b="1" spc="-30" dirty="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sz="1400" b="1" dirty="0">
                <a:solidFill>
                  <a:srgbClr val="E5E0DF"/>
                </a:solidFill>
                <a:latin typeface="Trebuchet MS"/>
                <a:cs typeface="Trebuchet MS"/>
              </a:rPr>
              <a:t>Analysis:</a:t>
            </a:r>
            <a:r>
              <a:rPr sz="1400" b="1" spc="25" dirty="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sz="1400" spc="-50" dirty="0">
                <a:solidFill>
                  <a:srgbClr val="E5E0DF"/>
                </a:solidFill>
                <a:latin typeface="Lucida Sans Unicode"/>
                <a:cs typeface="Lucida Sans Unicode"/>
              </a:rPr>
              <a:t>Exploiting</a:t>
            </a:r>
            <a:r>
              <a:rPr sz="1400" spc="-1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E5E0DF"/>
                </a:solidFill>
                <a:latin typeface="Lucida Sans Unicode"/>
                <a:cs typeface="Lucida Sans Unicode"/>
              </a:rPr>
              <a:t>frequency</a:t>
            </a:r>
            <a:r>
              <a:rPr sz="1400" spc="-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E5E0DF"/>
                </a:solidFill>
                <a:latin typeface="Lucida Sans Unicode"/>
                <a:cs typeface="Lucida Sans Unicode"/>
              </a:rPr>
              <a:t>spectrum </a:t>
            </a:r>
            <a:r>
              <a:rPr sz="1400" spc="-40" dirty="0">
                <a:solidFill>
                  <a:srgbClr val="E5E0DF"/>
                </a:solidFill>
                <a:latin typeface="Lucida Sans Unicode"/>
                <a:cs typeface="Lucida Sans Unicode"/>
              </a:rPr>
              <a:t>differences</a:t>
            </a:r>
            <a:r>
              <a:rPr sz="1400" spc="-8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E5E0DF"/>
                </a:solidFill>
                <a:latin typeface="Lucida Sans Unicode"/>
                <a:cs typeface="Lucida Sans Unicode"/>
              </a:rPr>
              <a:t>between</a:t>
            </a:r>
            <a:r>
              <a:rPr sz="1400" spc="-7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E5E0DF"/>
                </a:solidFill>
                <a:latin typeface="Lucida Sans Unicode"/>
                <a:cs typeface="Lucida Sans Unicode"/>
              </a:rPr>
              <a:t>real</a:t>
            </a:r>
            <a:r>
              <a:rPr sz="1400" spc="-7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50" dirty="0">
                <a:solidFill>
                  <a:srgbClr val="E5E0DF"/>
                </a:solidFill>
                <a:latin typeface="Lucida Sans Unicode"/>
                <a:cs typeface="Lucida Sans Unicode"/>
              </a:rPr>
              <a:t>and</a:t>
            </a:r>
            <a:r>
              <a:rPr sz="1400" spc="-7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50" dirty="0">
                <a:solidFill>
                  <a:srgbClr val="E5E0DF"/>
                </a:solidFill>
                <a:latin typeface="Lucida Sans Unicode"/>
                <a:cs typeface="Lucida Sans Unicode"/>
              </a:rPr>
              <a:t>fake</a:t>
            </a:r>
            <a:r>
              <a:rPr sz="1400" spc="-7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E5E0DF"/>
                </a:solidFill>
                <a:latin typeface="Lucida Sans Unicode"/>
                <a:cs typeface="Lucida Sans Unicode"/>
              </a:rPr>
              <a:t>images.</a:t>
            </a:r>
            <a:endParaRPr sz="1400">
              <a:latin typeface="Lucida Sans Unicode"/>
              <a:cs typeface="Lucida Sans Unicode"/>
            </a:endParaRPr>
          </a:p>
          <a:p>
            <a:pPr marL="12700" marR="505459">
              <a:lnSpc>
                <a:spcPct val="138400"/>
              </a:lnSpc>
              <a:spcBef>
                <a:spcPts val="1275"/>
              </a:spcBef>
            </a:pPr>
            <a:r>
              <a:rPr sz="1400" spc="-45" dirty="0">
                <a:solidFill>
                  <a:srgbClr val="E5E0DF"/>
                </a:solidFill>
                <a:latin typeface="Lucida Sans Unicode"/>
                <a:cs typeface="Lucida Sans Unicode"/>
              </a:rPr>
              <a:t>The</a:t>
            </a:r>
            <a:r>
              <a:rPr sz="1400" spc="-8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50" dirty="0">
                <a:solidFill>
                  <a:srgbClr val="E5E0DF"/>
                </a:solidFill>
                <a:latin typeface="Lucida Sans Unicode"/>
                <a:cs typeface="Lucida Sans Unicode"/>
              </a:rPr>
              <a:t>model</a:t>
            </a:r>
            <a:r>
              <a:rPr sz="1400" spc="-8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50" dirty="0">
                <a:solidFill>
                  <a:srgbClr val="E5E0DF"/>
                </a:solidFill>
                <a:latin typeface="Lucida Sans Unicode"/>
                <a:cs typeface="Lucida Sans Unicode"/>
              </a:rPr>
              <a:t>is</a:t>
            </a:r>
            <a:r>
              <a:rPr sz="1400" spc="-8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45" dirty="0">
                <a:solidFill>
                  <a:srgbClr val="E5E0DF"/>
                </a:solidFill>
                <a:latin typeface="Lucida Sans Unicode"/>
                <a:cs typeface="Lucida Sans Unicode"/>
              </a:rPr>
              <a:t>trained</a:t>
            </a:r>
            <a:r>
              <a:rPr sz="1400" spc="-80" dirty="0">
                <a:solidFill>
                  <a:srgbClr val="E5E0DF"/>
                </a:solidFill>
                <a:latin typeface="Lucida Sans Unicode"/>
                <a:cs typeface="Lucida Sans Unicode"/>
              </a:rPr>
              <a:t> on</a:t>
            </a:r>
            <a:r>
              <a:rPr sz="1400" spc="-8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E5E0DF"/>
                </a:solidFill>
                <a:latin typeface="Lucida Sans Unicode"/>
                <a:cs typeface="Lucida Sans Unicode"/>
              </a:rPr>
              <a:t>a</a:t>
            </a:r>
            <a:r>
              <a:rPr sz="1400" spc="-8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E5E0DF"/>
                </a:solidFill>
                <a:latin typeface="Lucida Sans Unicode"/>
                <a:cs typeface="Lucida Sans Unicode"/>
              </a:rPr>
              <a:t>vast</a:t>
            </a:r>
            <a:r>
              <a:rPr sz="1400" spc="-8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E5E0DF"/>
                </a:solidFill>
                <a:latin typeface="Lucida Sans Unicode"/>
                <a:cs typeface="Lucida Sans Unicode"/>
              </a:rPr>
              <a:t>dataset</a:t>
            </a:r>
            <a:r>
              <a:rPr sz="1400" spc="-8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of</a:t>
            </a:r>
            <a:r>
              <a:rPr sz="1400" spc="-8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60" dirty="0">
                <a:solidFill>
                  <a:srgbClr val="E5E0DF"/>
                </a:solidFill>
                <a:latin typeface="Lucida Sans Unicode"/>
                <a:cs typeface="Lucida Sans Unicode"/>
              </a:rPr>
              <a:t>both</a:t>
            </a:r>
            <a:r>
              <a:rPr sz="1400" spc="-8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45" dirty="0">
                <a:solidFill>
                  <a:srgbClr val="E5E0DF"/>
                </a:solidFill>
                <a:latin typeface="Lucida Sans Unicode"/>
                <a:cs typeface="Lucida Sans Unicode"/>
              </a:rPr>
              <a:t>authentic</a:t>
            </a:r>
            <a:r>
              <a:rPr sz="1400" spc="-8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E5E0DF"/>
                </a:solidFill>
                <a:latin typeface="Lucida Sans Unicode"/>
                <a:cs typeface="Lucida Sans Unicode"/>
              </a:rPr>
              <a:t>and </a:t>
            </a:r>
            <a:r>
              <a:rPr sz="1400" spc="-45" dirty="0">
                <a:solidFill>
                  <a:srgbClr val="E5E0DF"/>
                </a:solidFill>
                <a:latin typeface="Lucida Sans Unicode"/>
                <a:cs typeface="Lucida Sans Unicode"/>
              </a:rPr>
              <a:t>deepfake</a:t>
            </a:r>
            <a:r>
              <a:rPr sz="14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45" dirty="0">
                <a:solidFill>
                  <a:srgbClr val="E5E0DF"/>
                </a:solidFill>
                <a:latin typeface="Lucida Sans Unicode"/>
                <a:cs typeface="Lucida Sans Unicode"/>
              </a:rPr>
              <a:t>videos</a:t>
            </a:r>
            <a:r>
              <a:rPr sz="14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E5E0DF"/>
                </a:solidFill>
                <a:latin typeface="Lucida Sans Unicode"/>
                <a:cs typeface="Lucida Sans Unicode"/>
              </a:rPr>
              <a:t>to</a:t>
            </a:r>
            <a:r>
              <a:rPr sz="14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E5E0DF"/>
                </a:solidFill>
                <a:latin typeface="Lucida Sans Unicode"/>
                <a:cs typeface="Lucida Sans Unicode"/>
              </a:rPr>
              <a:t>learn</a:t>
            </a:r>
            <a:r>
              <a:rPr sz="14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45" dirty="0">
                <a:solidFill>
                  <a:srgbClr val="E5E0DF"/>
                </a:solidFill>
                <a:latin typeface="Lucida Sans Unicode"/>
                <a:cs typeface="Lucida Sans Unicode"/>
              </a:rPr>
              <a:t>intricate</a:t>
            </a:r>
            <a:r>
              <a:rPr sz="14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E5E0DF"/>
                </a:solidFill>
                <a:latin typeface="Lucida Sans Unicode"/>
                <a:cs typeface="Lucida Sans Unicode"/>
              </a:rPr>
              <a:t>patterns.</a:t>
            </a:r>
            <a:endParaRPr sz="1400">
              <a:latin typeface="Lucida Sans Unicode"/>
              <a:cs typeface="Lucida Sans Unicode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77000" y="1514474"/>
            <a:ext cx="4324349" cy="43243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4879" y="511175"/>
            <a:ext cx="3343275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10" dirty="0"/>
              <a:t>Working</a:t>
            </a:r>
            <a:r>
              <a:rPr spc="-305" dirty="0"/>
              <a:t> </a:t>
            </a:r>
            <a:r>
              <a:rPr spc="-65" dirty="0"/>
              <a:t>Principle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1278" y="1443482"/>
            <a:ext cx="200660" cy="24447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00" spc="-60" dirty="0">
                <a:solidFill>
                  <a:srgbClr val="E5E0DF"/>
                </a:solidFill>
                <a:latin typeface="Arial MT"/>
                <a:cs typeface="Arial MT"/>
              </a:rPr>
              <a:t>01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38175" y="1771649"/>
            <a:ext cx="3267075" cy="19050"/>
          </a:xfrm>
          <a:custGeom>
            <a:avLst/>
            <a:gdLst/>
            <a:ahLst/>
            <a:cxnLst/>
            <a:rect l="l" t="t" r="r" b="b"/>
            <a:pathLst>
              <a:path w="3267075" h="19050">
                <a:moveTo>
                  <a:pt x="3267075" y="0"/>
                </a:moveTo>
                <a:lnTo>
                  <a:pt x="0" y="0"/>
                </a:lnTo>
                <a:lnTo>
                  <a:pt x="0" y="19050"/>
                </a:lnTo>
                <a:lnTo>
                  <a:pt x="3267075" y="19050"/>
                </a:lnTo>
                <a:lnTo>
                  <a:pt x="3267075" y="0"/>
                </a:lnTo>
                <a:close/>
              </a:path>
            </a:pathLst>
          </a:custGeom>
          <a:solidFill>
            <a:srgbClr val="F203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24879" y="1849437"/>
            <a:ext cx="3255645" cy="12477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25" dirty="0">
                <a:solidFill>
                  <a:srgbClr val="E5E0DF"/>
                </a:solidFill>
                <a:latin typeface="Trebuchet MS"/>
                <a:cs typeface="Trebuchet MS"/>
              </a:rPr>
              <a:t>Video</a:t>
            </a:r>
            <a:r>
              <a:rPr sz="1650" b="1" spc="-150" dirty="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sz="1650" b="1" spc="-30" dirty="0">
                <a:solidFill>
                  <a:srgbClr val="E5E0DF"/>
                </a:solidFill>
                <a:latin typeface="Trebuchet MS"/>
                <a:cs typeface="Trebuchet MS"/>
              </a:rPr>
              <a:t>Input</a:t>
            </a:r>
            <a:r>
              <a:rPr sz="1650" b="1" spc="-145" dirty="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sz="1650" b="1" dirty="0">
                <a:solidFill>
                  <a:srgbClr val="E5E0DF"/>
                </a:solidFill>
                <a:latin typeface="Trebuchet MS"/>
                <a:cs typeface="Trebuchet MS"/>
              </a:rPr>
              <a:t>&amp;</a:t>
            </a:r>
            <a:r>
              <a:rPr sz="1650" b="1" spc="-145" dirty="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sz="1650" b="1" spc="-55" dirty="0">
                <a:solidFill>
                  <a:srgbClr val="E5E0DF"/>
                </a:solidFill>
                <a:latin typeface="Trebuchet MS"/>
                <a:cs typeface="Trebuchet MS"/>
              </a:rPr>
              <a:t>Frame</a:t>
            </a:r>
            <a:r>
              <a:rPr sz="1650" b="1" spc="-150" dirty="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sz="1650" b="1" spc="-10" dirty="0">
                <a:solidFill>
                  <a:srgbClr val="E5E0DF"/>
                </a:solidFill>
                <a:latin typeface="Trebuchet MS"/>
                <a:cs typeface="Trebuchet MS"/>
              </a:rPr>
              <a:t>Extraction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36200"/>
              </a:lnSpc>
              <a:spcBef>
                <a:spcPts val="740"/>
              </a:spcBef>
            </a:pPr>
            <a:r>
              <a:rPr sz="1400" spc="-45" dirty="0">
                <a:solidFill>
                  <a:srgbClr val="E5E0DF"/>
                </a:solidFill>
                <a:latin typeface="Lucida Sans Unicode"/>
                <a:cs typeface="Lucida Sans Unicode"/>
              </a:rPr>
              <a:t>The</a:t>
            </a:r>
            <a:r>
              <a:rPr sz="1400" spc="-8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50" dirty="0">
                <a:solidFill>
                  <a:srgbClr val="E5E0DF"/>
                </a:solidFill>
                <a:latin typeface="Lucida Sans Unicode"/>
                <a:cs typeface="Lucida Sans Unicode"/>
              </a:rPr>
              <a:t>process</a:t>
            </a:r>
            <a:r>
              <a:rPr sz="1400" spc="-7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50" dirty="0">
                <a:solidFill>
                  <a:srgbClr val="E5E0DF"/>
                </a:solidFill>
                <a:latin typeface="Lucida Sans Unicode"/>
                <a:cs typeface="Lucida Sans Unicode"/>
              </a:rPr>
              <a:t>begins</a:t>
            </a:r>
            <a:r>
              <a:rPr sz="1400" spc="-7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E5E0DF"/>
                </a:solidFill>
                <a:latin typeface="Lucida Sans Unicode"/>
                <a:cs typeface="Lucida Sans Unicode"/>
              </a:rPr>
              <a:t>by</a:t>
            </a:r>
            <a:r>
              <a:rPr sz="1400" spc="-7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E5E0DF"/>
                </a:solidFill>
                <a:latin typeface="Lucida Sans Unicode"/>
                <a:cs typeface="Lucida Sans Unicode"/>
              </a:rPr>
              <a:t>receiving</a:t>
            </a:r>
            <a:r>
              <a:rPr sz="1400" spc="-7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E5E0DF"/>
                </a:solidFill>
                <a:latin typeface="Lucida Sans Unicode"/>
                <a:cs typeface="Lucida Sans Unicode"/>
              </a:rPr>
              <a:t>a</a:t>
            </a:r>
            <a:r>
              <a:rPr sz="1400" spc="-7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E5E0DF"/>
                </a:solidFill>
                <a:latin typeface="Lucida Sans Unicode"/>
                <a:cs typeface="Lucida Sans Unicode"/>
              </a:rPr>
              <a:t>video </a:t>
            </a:r>
            <a:r>
              <a:rPr sz="1400" spc="-70" dirty="0">
                <a:solidFill>
                  <a:srgbClr val="E5E0DF"/>
                </a:solidFill>
                <a:latin typeface="Lucida Sans Unicode"/>
                <a:cs typeface="Lucida Sans Unicode"/>
              </a:rPr>
              <a:t>input,</a:t>
            </a:r>
            <a:r>
              <a:rPr sz="1400" spc="-8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55" dirty="0">
                <a:solidFill>
                  <a:srgbClr val="E5E0DF"/>
                </a:solidFill>
                <a:latin typeface="Lucida Sans Unicode"/>
                <a:cs typeface="Lucida Sans Unicode"/>
              </a:rPr>
              <a:t>which</a:t>
            </a:r>
            <a:r>
              <a:rPr sz="1400" spc="-8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50" dirty="0">
                <a:solidFill>
                  <a:srgbClr val="E5E0DF"/>
                </a:solidFill>
                <a:latin typeface="Lucida Sans Unicode"/>
                <a:cs typeface="Lucida Sans Unicode"/>
              </a:rPr>
              <a:t>is</a:t>
            </a:r>
            <a:r>
              <a:rPr sz="1400" spc="-8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E5E0DF"/>
                </a:solidFill>
                <a:latin typeface="Lucida Sans Unicode"/>
                <a:cs typeface="Lucida Sans Unicode"/>
              </a:rPr>
              <a:t>then</a:t>
            </a:r>
            <a:r>
              <a:rPr sz="1400" spc="-8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70" dirty="0">
                <a:solidFill>
                  <a:srgbClr val="E5E0DF"/>
                </a:solidFill>
                <a:latin typeface="Lucida Sans Unicode"/>
                <a:cs typeface="Lucida Sans Unicode"/>
              </a:rPr>
              <a:t>broken</a:t>
            </a:r>
            <a:r>
              <a:rPr sz="1400" spc="-80" dirty="0">
                <a:solidFill>
                  <a:srgbClr val="E5E0DF"/>
                </a:solidFill>
                <a:latin typeface="Lucida Sans Unicode"/>
                <a:cs typeface="Lucida Sans Unicode"/>
              </a:rPr>
              <a:t> down </a:t>
            </a:r>
            <a:r>
              <a:rPr sz="1400" spc="-20" dirty="0">
                <a:solidFill>
                  <a:srgbClr val="E5E0DF"/>
                </a:solidFill>
                <a:latin typeface="Lucida Sans Unicode"/>
                <a:cs typeface="Lucida Sans Unicode"/>
              </a:rPr>
              <a:t>into </a:t>
            </a:r>
            <a:r>
              <a:rPr sz="1400" spc="-50" dirty="0">
                <a:solidFill>
                  <a:srgbClr val="E5E0DF"/>
                </a:solidFill>
                <a:latin typeface="Lucida Sans Unicode"/>
                <a:cs typeface="Lucida Sans Unicode"/>
              </a:rPr>
              <a:t>individual</a:t>
            </a:r>
            <a:r>
              <a:rPr sz="1400" spc="-6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50" dirty="0">
                <a:solidFill>
                  <a:srgbClr val="E5E0DF"/>
                </a:solidFill>
                <a:latin typeface="Lucida Sans Unicode"/>
                <a:cs typeface="Lucida Sans Unicode"/>
              </a:rPr>
              <a:t>frames</a:t>
            </a:r>
            <a:r>
              <a:rPr sz="1400" spc="-6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for</a:t>
            </a:r>
            <a:r>
              <a:rPr sz="1400" spc="-6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E5E0DF"/>
                </a:solidFill>
                <a:latin typeface="Lucida Sans Unicode"/>
                <a:cs typeface="Lucida Sans Unicode"/>
              </a:rPr>
              <a:t>detailed</a:t>
            </a:r>
            <a:r>
              <a:rPr sz="1400" spc="-6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E5E0DF"/>
                </a:solidFill>
                <a:latin typeface="Lucida Sans Unicode"/>
                <a:cs typeface="Lucida Sans Unicode"/>
              </a:rPr>
              <a:t>analysis.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54476" y="1443482"/>
            <a:ext cx="245745" cy="24447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00" spc="60" dirty="0">
                <a:solidFill>
                  <a:srgbClr val="E5E0DF"/>
                </a:solidFill>
                <a:latin typeface="Arial MT"/>
                <a:cs typeface="Arial MT"/>
              </a:rPr>
              <a:t>02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086225" y="1771649"/>
            <a:ext cx="3257550" cy="19050"/>
          </a:xfrm>
          <a:custGeom>
            <a:avLst/>
            <a:gdLst/>
            <a:ahLst/>
            <a:cxnLst/>
            <a:rect l="l" t="t" r="r" b="b"/>
            <a:pathLst>
              <a:path w="3257550" h="19050">
                <a:moveTo>
                  <a:pt x="3257550" y="0"/>
                </a:moveTo>
                <a:lnTo>
                  <a:pt x="0" y="0"/>
                </a:lnTo>
                <a:lnTo>
                  <a:pt x="0" y="19050"/>
                </a:lnTo>
                <a:lnTo>
                  <a:pt x="3257550" y="19050"/>
                </a:lnTo>
                <a:lnTo>
                  <a:pt x="3257550" y="0"/>
                </a:lnTo>
                <a:close/>
              </a:path>
            </a:pathLst>
          </a:custGeom>
          <a:solidFill>
            <a:srgbClr val="F203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070553" y="1849437"/>
            <a:ext cx="3235960" cy="182880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55" dirty="0">
                <a:solidFill>
                  <a:srgbClr val="E5E0DF"/>
                </a:solidFill>
                <a:latin typeface="Trebuchet MS"/>
                <a:cs typeface="Trebuchet MS"/>
              </a:rPr>
              <a:t>Face</a:t>
            </a:r>
            <a:r>
              <a:rPr sz="1650" b="1" spc="-130" dirty="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sz="1650" b="1" spc="-45" dirty="0">
                <a:solidFill>
                  <a:srgbClr val="E5E0DF"/>
                </a:solidFill>
                <a:latin typeface="Trebuchet MS"/>
                <a:cs typeface="Trebuchet MS"/>
              </a:rPr>
              <a:t>Detection</a:t>
            </a:r>
            <a:r>
              <a:rPr sz="1650" b="1" spc="-130" dirty="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sz="1650" b="1" dirty="0">
                <a:solidFill>
                  <a:srgbClr val="E5E0DF"/>
                </a:solidFill>
                <a:latin typeface="Trebuchet MS"/>
                <a:cs typeface="Trebuchet MS"/>
              </a:rPr>
              <a:t>&amp;</a:t>
            </a:r>
            <a:r>
              <a:rPr sz="1650" b="1" spc="-204" dirty="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sz="1650" b="1" spc="-10" dirty="0">
                <a:solidFill>
                  <a:srgbClr val="E5E0DF"/>
                </a:solidFill>
                <a:latin typeface="Trebuchet MS"/>
                <a:cs typeface="Trebuchet MS"/>
              </a:rPr>
              <a:t>Alignment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36200"/>
              </a:lnSpc>
              <a:spcBef>
                <a:spcPts val="740"/>
              </a:spcBef>
            </a:pPr>
            <a:r>
              <a:rPr sz="1400" spc="-50" dirty="0">
                <a:solidFill>
                  <a:srgbClr val="E5E0DF"/>
                </a:solidFill>
                <a:latin typeface="Lucida Sans Unicode"/>
                <a:cs typeface="Lucida Sans Unicode"/>
              </a:rPr>
              <a:t>Using </a:t>
            </a:r>
            <a:r>
              <a:rPr sz="1400" spc="-35" dirty="0">
                <a:solidFill>
                  <a:srgbClr val="E5E0DF"/>
                </a:solidFill>
                <a:latin typeface="Lucida Sans Unicode"/>
                <a:cs typeface="Lucida Sans Unicode"/>
              </a:rPr>
              <a:t>advanced</a:t>
            </a:r>
            <a:r>
              <a:rPr sz="1400" spc="-4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50" dirty="0">
                <a:solidFill>
                  <a:srgbClr val="E5E0DF"/>
                </a:solidFill>
                <a:latin typeface="Lucida Sans Unicode"/>
                <a:cs typeface="Lucida Sans Unicode"/>
              </a:rPr>
              <a:t>computer</a:t>
            </a:r>
            <a:r>
              <a:rPr sz="1400" spc="-4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E5E0DF"/>
                </a:solidFill>
                <a:latin typeface="Lucida Sans Unicode"/>
                <a:cs typeface="Lucida Sans Unicode"/>
              </a:rPr>
              <a:t>vision </a:t>
            </a:r>
            <a:r>
              <a:rPr sz="1400" spc="-55" dirty="0">
                <a:solidFill>
                  <a:srgbClr val="E5E0DF"/>
                </a:solidFill>
                <a:latin typeface="Lucida Sans Unicode"/>
                <a:cs typeface="Lucida Sans Unicode"/>
              </a:rPr>
              <a:t>techniques,</a:t>
            </a:r>
            <a:r>
              <a:rPr sz="1400" spc="-7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E5E0DF"/>
                </a:solidFill>
                <a:latin typeface="Lucida Sans Unicode"/>
                <a:cs typeface="Lucida Sans Unicode"/>
              </a:rPr>
              <a:t>faces</a:t>
            </a:r>
            <a:r>
              <a:rPr sz="1400" spc="-7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50" dirty="0">
                <a:solidFill>
                  <a:srgbClr val="E5E0DF"/>
                </a:solidFill>
                <a:latin typeface="Lucida Sans Unicode"/>
                <a:cs typeface="Lucida Sans Unicode"/>
              </a:rPr>
              <a:t>within</a:t>
            </a:r>
            <a:r>
              <a:rPr sz="1400" spc="-7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E5E0DF"/>
                </a:solidFill>
                <a:latin typeface="Lucida Sans Unicode"/>
                <a:cs typeface="Lucida Sans Unicode"/>
              </a:rPr>
              <a:t>each</a:t>
            </a:r>
            <a:r>
              <a:rPr sz="1400" spc="-7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45" dirty="0">
                <a:solidFill>
                  <a:srgbClr val="E5E0DF"/>
                </a:solidFill>
                <a:latin typeface="Lucida Sans Unicode"/>
                <a:cs typeface="Lucida Sans Unicode"/>
              </a:rPr>
              <a:t>frame</a:t>
            </a:r>
            <a:r>
              <a:rPr sz="1400" spc="-7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E5E0DF"/>
                </a:solidFill>
                <a:latin typeface="Lucida Sans Unicode"/>
                <a:cs typeface="Lucida Sans Unicode"/>
              </a:rPr>
              <a:t>are accurately</a:t>
            </a:r>
            <a:r>
              <a:rPr sz="1400" spc="-7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E5E0DF"/>
                </a:solidFill>
                <a:latin typeface="Lucida Sans Unicode"/>
                <a:cs typeface="Lucida Sans Unicode"/>
              </a:rPr>
              <a:t>detected</a:t>
            </a:r>
            <a:r>
              <a:rPr sz="1400" spc="-7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50" dirty="0">
                <a:solidFill>
                  <a:srgbClr val="E5E0DF"/>
                </a:solidFill>
                <a:latin typeface="Lucida Sans Unicode"/>
                <a:cs typeface="Lucida Sans Unicode"/>
              </a:rPr>
              <a:t>and</a:t>
            </a:r>
            <a:r>
              <a:rPr sz="14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E5E0DF"/>
                </a:solidFill>
                <a:latin typeface="Lucida Sans Unicode"/>
                <a:cs typeface="Lucida Sans Unicode"/>
              </a:rPr>
              <a:t>precisely </a:t>
            </a:r>
            <a:r>
              <a:rPr sz="1400" spc="-45" dirty="0">
                <a:solidFill>
                  <a:srgbClr val="E5E0DF"/>
                </a:solidFill>
                <a:latin typeface="Lucida Sans Unicode"/>
                <a:cs typeface="Lucida Sans Unicode"/>
              </a:rPr>
              <a:t>aligned</a:t>
            </a:r>
            <a:r>
              <a:rPr sz="1400" spc="-8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E5E0DF"/>
                </a:solidFill>
                <a:latin typeface="Lucida Sans Unicode"/>
                <a:cs typeface="Lucida Sans Unicode"/>
              </a:rPr>
              <a:t>to</a:t>
            </a:r>
            <a:r>
              <a:rPr sz="1400" spc="-7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E5E0DF"/>
                </a:solidFill>
                <a:latin typeface="Lucida Sans Unicode"/>
                <a:cs typeface="Lucida Sans Unicode"/>
              </a:rPr>
              <a:t>a</a:t>
            </a:r>
            <a:r>
              <a:rPr sz="1400" spc="-7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50" dirty="0">
                <a:solidFill>
                  <a:srgbClr val="E5E0DF"/>
                </a:solidFill>
                <a:latin typeface="Lucida Sans Unicode"/>
                <a:cs typeface="Lucida Sans Unicode"/>
              </a:rPr>
              <a:t>standardized</a:t>
            </a:r>
            <a:r>
              <a:rPr sz="1400" spc="-7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55" dirty="0">
                <a:solidFill>
                  <a:srgbClr val="E5E0DF"/>
                </a:solidFill>
                <a:latin typeface="Lucida Sans Unicode"/>
                <a:cs typeface="Lucida Sans Unicode"/>
              </a:rPr>
              <a:t>size</a:t>
            </a:r>
            <a:r>
              <a:rPr sz="1400" spc="-7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E5E0DF"/>
                </a:solidFill>
                <a:latin typeface="Lucida Sans Unicode"/>
                <a:cs typeface="Lucida Sans Unicode"/>
              </a:rPr>
              <a:t>and </a:t>
            </a:r>
            <a:r>
              <a:rPr sz="1400" spc="-10" dirty="0">
                <a:solidFill>
                  <a:srgbClr val="E5E0DF"/>
                </a:solidFill>
                <a:latin typeface="Lucida Sans Unicode"/>
                <a:cs typeface="Lucida Sans Unicode"/>
              </a:rPr>
              <a:t>orientation.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501039" y="1443482"/>
            <a:ext cx="243840" cy="24447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00" spc="50" dirty="0">
                <a:solidFill>
                  <a:srgbClr val="E5E0DF"/>
                </a:solidFill>
                <a:latin typeface="Arial MT"/>
                <a:cs typeface="Arial MT"/>
              </a:rPr>
              <a:t>03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524750" y="1771649"/>
            <a:ext cx="3267075" cy="19050"/>
          </a:xfrm>
          <a:custGeom>
            <a:avLst/>
            <a:gdLst/>
            <a:ahLst/>
            <a:cxnLst/>
            <a:rect l="l" t="t" r="r" b="b"/>
            <a:pathLst>
              <a:path w="3267075" h="19050">
                <a:moveTo>
                  <a:pt x="3267075" y="0"/>
                </a:moveTo>
                <a:lnTo>
                  <a:pt x="0" y="0"/>
                </a:lnTo>
                <a:lnTo>
                  <a:pt x="0" y="19050"/>
                </a:lnTo>
                <a:lnTo>
                  <a:pt x="3267075" y="19050"/>
                </a:lnTo>
                <a:lnTo>
                  <a:pt x="3267075" y="0"/>
                </a:lnTo>
                <a:close/>
              </a:path>
            </a:pathLst>
          </a:custGeom>
          <a:solidFill>
            <a:srgbClr val="F203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7516215" y="1849437"/>
            <a:ext cx="3211195" cy="15430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70" dirty="0">
                <a:solidFill>
                  <a:srgbClr val="E5E0DF"/>
                </a:solidFill>
                <a:latin typeface="Trebuchet MS"/>
                <a:cs typeface="Trebuchet MS"/>
              </a:rPr>
              <a:t>Feature</a:t>
            </a:r>
            <a:r>
              <a:rPr sz="1650" b="1" spc="-114" dirty="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sz="1650" b="1" spc="-40" dirty="0">
                <a:solidFill>
                  <a:srgbClr val="E5E0DF"/>
                </a:solidFill>
                <a:latin typeface="Trebuchet MS"/>
                <a:cs typeface="Trebuchet MS"/>
              </a:rPr>
              <a:t>Extraction</a:t>
            </a:r>
            <a:r>
              <a:rPr sz="1650" b="1" spc="-114" dirty="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sz="1650" b="1" spc="-20" dirty="0">
                <a:solidFill>
                  <a:srgbClr val="E5E0DF"/>
                </a:solidFill>
                <a:latin typeface="Trebuchet MS"/>
                <a:cs typeface="Trebuchet MS"/>
              </a:rPr>
              <a:t>(CNN)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36900"/>
              </a:lnSpc>
              <a:spcBef>
                <a:spcPts val="725"/>
              </a:spcBef>
            </a:pPr>
            <a:r>
              <a:rPr sz="1400" dirty="0">
                <a:solidFill>
                  <a:srgbClr val="E5E0DF"/>
                </a:solidFill>
                <a:latin typeface="Lucida Sans Unicode"/>
                <a:cs typeface="Lucida Sans Unicode"/>
              </a:rPr>
              <a:t>A</a:t>
            </a:r>
            <a:r>
              <a:rPr sz="1400" spc="-114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105" dirty="0">
                <a:solidFill>
                  <a:srgbClr val="E5E0DF"/>
                </a:solidFill>
                <a:latin typeface="Lucida Sans Unicode"/>
                <a:cs typeface="Lucida Sans Unicode"/>
              </a:rPr>
              <a:t>pre-</a:t>
            </a:r>
            <a:r>
              <a:rPr sz="1400" spc="-45" dirty="0">
                <a:solidFill>
                  <a:srgbClr val="E5E0DF"/>
                </a:solidFill>
                <a:latin typeface="Lucida Sans Unicode"/>
                <a:cs typeface="Lucida Sans Unicode"/>
              </a:rPr>
              <a:t>trained</a:t>
            </a:r>
            <a:r>
              <a:rPr sz="1400" spc="-5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55" dirty="0">
                <a:solidFill>
                  <a:srgbClr val="E5E0DF"/>
                </a:solidFill>
                <a:latin typeface="Lucida Sans Unicode"/>
                <a:cs typeface="Lucida Sans Unicode"/>
              </a:rPr>
              <a:t>Convolutional</a:t>
            </a:r>
            <a:r>
              <a:rPr sz="1400" spc="-5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E5E0DF"/>
                </a:solidFill>
                <a:latin typeface="Lucida Sans Unicode"/>
                <a:cs typeface="Lucida Sans Unicode"/>
              </a:rPr>
              <a:t>Neural </a:t>
            </a:r>
            <a:r>
              <a:rPr sz="1400" spc="-50" dirty="0">
                <a:solidFill>
                  <a:srgbClr val="E5E0DF"/>
                </a:solidFill>
                <a:latin typeface="Lucida Sans Unicode"/>
                <a:cs typeface="Lucida Sans Unicode"/>
              </a:rPr>
              <a:t>Network</a:t>
            </a:r>
            <a:r>
              <a:rPr sz="1400" spc="-5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50" dirty="0">
                <a:solidFill>
                  <a:srgbClr val="E5E0DF"/>
                </a:solidFill>
                <a:latin typeface="Lucida Sans Unicode"/>
                <a:cs typeface="Lucida Sans Unicode"/>
              </a:rPr>
              <a:t>extracts</a:t>
            </a:r>
            <a:r>
              <a:rPr sz="1400" spc="-5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110" dirty="0">
                <a:solidFill>
                  <a:srgbClr val="E5E0DF"/>
                </a:solidFill>
                <a:latin typeface="Lucida Sans Unicode"/>
                <a:cs typeface="Lucida Sans Unicode"/>
              </a:rPr>
              <a:t>high-</a:t>
            </a:r>
            <a:r>
              <a:rPr sz="1400" spc="-30" dirty="0">
                <a:solidFill>
                  <a:srgbClr val="E5E0DF"/>
                </a:solidFill>
                <a:latin typeface="Lucida Sans Unicode"/>
                <a:cs typeface="Lucida Sans Unicode"/>
              </a:rPr>
              <a:t>level</a:t>
            </a:r>
            <a:r>
              <a:rPr sz="1400" spc="-5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E5E0DF"/>
                </a:solidFill>
                <a:latin typeface="Lucida Sans Unicode"/>
                <a:cs typeface="Lucida Sans Unicode"/>
              </a:rPr>
              <a:t>features </a:t>
            </a:r>
            <a:r>
              <a:rPr sz="1400" spc="-80" dirty="0">
                <a:solidFill>
                  <a:srgbClr val="E5E0DF"/>
                </a:solidFill>
                <a:latin typeface="Lucida Sans Unicode"/>
                <a:cs typeface="Lucida Sans Unicode"/>
              </a:rPr>
              <a:t>from</a:t>
            </a:r>
            <a:r>
              <a:rPr sz="1400" spc="-7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E5E0DF"/>
                </a:solidFill>
                <a:latin typeface="Lucida Sans Unicode"/>
                <a:cs typeface="Lucida Sans Unicode"/>
              </a:rPr>
              <a:t>the</a:t>
            </a:r>
            <a:r>
              <a:rPr sz="14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E5E0DF"/>
                </a:solidFill>
                <a:latin typeface="Lucida Sans Unicode"/>
                <a:cs typeface="Lucida Sans Unicode"/>
              </a:rPr>
              <a:t>detected</a:t>
            </a:r>
            <a:r>
              <a:rPr sz="1400" spc="-7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45" dirty="0">
                <a:solidFill>
                  <a:srgbClr val="E5E0DF"/>
                </a:solidFill>
                <a:latin typeface="Lucida Sans Unicode"/>
                <a:cs typeface="Lucida Sans Unicode"/>
              </a:rPr>
              <a:t>faces,</a:t>
            </a:r>
            <a:r>
              <a:rPr sz="14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60" dirty="0">
                <a:solidFill>
                  <a:srgbClr val="E5E0DF"/>
                </a:solidFill>
                <a:latin typeface="Lucida Sans Unicode"/>
                <a:cs typeface="Lucida Sans Unicode"/>
              </a:rPr>
              <a:t>focusing</a:t>
            </a:r>
            <a:r>
              <a:rPr sz="1400" spc="-7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E5E0DF"/>
                </a:solidFill>
                <a:latin typeface="Lucida Sans Unicode"/>
                <a:cs typeface="Lucida Sans Unicode"/>
              </a:rPr>
              <a:t>on </a:t>
            </a:r>
            <a:r>
              <a:rPr sz="1400" spc="-60" dirty="0">
                <a:solidFill>
                  <a:srgbClr val="E5E0DF"/>
                </a:solidFill>
                <a:latin typeface="Lucida Sans Unicode"/>
                <a:cs typeface="Lucida Sans Unicode"/>
              </a:rPr>
              <a:t>minute</a:t>
            </a:r>
            <a:r>
              <a:rPr sz="1400" spc="-7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E5E0DF"/>
                </a:solidFill>
                <a:latin typeface="Lucida Sans Unicode"/>
                <a:cs typeface="Lucida Sans Unicode"/>
              </a:rPr>
              <a:t>details</a:t>
            </a:r>
            <a:r>
              <a:rPr sz="14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50" dirty="0">
                <a:solidFill>
                  <a:srgbClr val="E5E0DF"/>
                </a:solidFill>
                <a:latin typeface="Lucida Sans Unicode"/>
                <a:cs typeface="Lucida Sans Unicode"/>
              </a:rPr>
              <a:t>and</a:t>
            </a:r>
            <a:r>
              <a:rPr sz="14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45" dirty="0">
                <a:solidFill>
                  <a:srgbClr val="E5E0DF"/>
                </a:solidFill>
                <a:latin typeface="Lucida Sans Unicode"/>
                <a:cs typeface="Lucida Sans Unicode"/>
              </a:rPr>
              <a:t>potential</a:t>
            </a:r>
            <a:r>
              <a:rPr sz="14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E5E0DF"/>
                </a:solidFill>
                <a:latin typeface="Lucida Sans Unicode"/>
                <a:cs typeface="Lucida Sans Unicode"/>
              </a:rPr>
              <a:t>anomalies.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08507" y="4015232"/>
            <a:ext cx="24574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60" dirty="0">
                <a:solidFill>
                  <a:srgbClr val="E5E0DF"/>
                </a:solidFill>
                <a:latin typeface="Arial MT"/>
                <a:cs typeface="Arial MT"/>
              </a:rPr>
              <a:t>04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38175" y="4343400"/>
            <a:ext cx="4981575" cy="19050"/>
          </a:xfrm>
          <a:custGeom>
            <a:avLst/>
            <a:gdLst/>
            <a:ahLst/>
            <a:cxnLst/>
            <a:rect l="l" t="t" r="r" b="b"/>
            <a:pathLst>
              <a:path w="4981575" h="19050">
                <a:moveTo>
                  <a:pt x="4981575" y="0"/>
                </a:moveTo>
                <a:lnTo>
                  <a:pt x="0" y="0"/>
                </a:lnTo>
                <a:lnTo>
                  <a:pt x="0" y="19050"/>
                </a:lnTo>
                <a:lnTo>
                  <a:pt x="4981575" y="19050"/>
                </a:lnTo>
                <a:lnTo>
                  <a:pt x="4981575" y="0"/>
                </a:lnTo>
                <a:close/>
              </a:path>
            </a:pathLst>
          </a:custGeom>
          <a:solidFill>
            <a:srgbClr val="F203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24879" y="4421187"/>
            <a:ext cx="4899660" cy="12477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60" dirty="0">
                <a:solidFill>
                  <a:srgbClr val="E5E0DF"/>
                </a:solidFill>
                <a:latin typeface="Trebuchet MS"/>
                <a:cs typeface="Trebuchet MS"/>
              </a:rPr>
              <a:t>Temporal</a:t>
            </a:r>
            <a:r>
              <a:rPr sz="1650" b="1" spc="-140" dirty="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sz="1650" b="1" dirty="0">
                <a:solidFill>
                  <a:srgbClr val="E5E0DF"/>
                </a:solidFill>
                <a:latin typeface="Trebuchet MS"/>
                <a:cs typeface="Trebuchet MS"/>
              </a:rPr>
              <a:t>&amp;</a:t>
            </a:r>
            <a:r>
              <a:rPr sz="1650" b="1" spc="-140" dirty="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sz="1650" b="1" spc="-10" dirty="0">
                <a:solidFill>
                  <a:srgbClr val="E5E0DF"/>
                </a:solidFill>
                <a:latin typeface="Trebuchet MS"/>
                <a:cs typeface="Trebuchet MS"/>
              </a:rPr>
              <a:t>Spatial</a:t>
            </a:r>
            <a:r>
              <a:rPr sz="1650" b="1" spc="-215" dirty="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sz="1650" b="1" spc="-10" dirty="0">
                <a:solidFill>
                  <a:srgbClr val="E5E0DF"/>
                </a:solidFill>
                <a:latin typeface="Trebuchet MS"/>
                <a:cs typeface="Trebuchet MS"/>
              </a:rPr>
              <a:t>Analysis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36200"/>
              </a:lnSpc>
              <a:spcBef>
                <a:spcPts val="740"/>
              </a:spcBef>
            </a:pPr>
            <a:r>
              <a:rPr sz="1400" spc="-10" dirty="0">
                <a:solidFill>
                  <a:srgbClr val="E5E0DF"/>
                </a:solidFill>
                <a:latin typeface="Lucida Sans Unicode"/>
                <a:cs typeface="Lucida Sans Unicode"/>
              </a:rPr>
              <a:t>Both</a:t>
            </a:r>
            <a:r>
              <a:rPr sz="1400" spc="-7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50" dirty="0">
                <a:solidFill>
                  <a:srgbClr val="E5E0DF"/>
                </a:solidFill>
                <a:latin typeface="Lucida Sans Unicode"/>
                <a:cs typeface="Lucida Sans Unicode"/>
              </a:rPr>
              <a:t>individual</a:t>
            </a:r>
            <a:r>
              <a:rPr sz="14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50" dirty="0">
                <a:solidFill>
                  <a:srgbClr val="E5E0DF"/>
                </a:solidFill>
                <a:latin typeface="Lucida Sans Unicode"/>
                <a:cs typeface="Lucida Sans Unicode"/>
              </a:rPr>
              <a:t>frames</a:t>
            </a:r>
            <a:r>
              <a:rPr sz="1400" spc="-7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E5E0DF"/>
                </a:solidFill>
                <a:latin typeface="Lucida Sans Unicode"/>
                <a:cs typeface="Lucida Sans Unicode"/>
              </a:rPr>
              <a:t>(spatial)</a:t>
            </a:r>
            <a:r>
              <a:rPr sz="14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50" dirty="0">
                <a:solidFill>
                  <a:srgbClr val="E5E0DF"/>
                </a:solidFill>
                <a:latin typeface="Lucida Sans Unicode"/>
                <a:cs typeface="Lucida Sans Unicode"/>
              </a:rPr>
              <a:t>and</a:t>
            </a:r>
            <a:r>
              <a:rPr sz="1400" spc="-7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E5E0DF"/>
                </a:solidFill>
                <a:latin typeface="Lucida Sans Unicode"/>
                <a:cs typeface="Lucida Sans Unicode"/>
              </a:rPr>
              <a:t>sequences</a:t>
            </a:r>
            <a:r>
              <a:rPr sz="14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 of </a:t>
            </a:r>
            <a:r>
              <a:rPr sz="1400" spc="-10" dirty="0">
                <a:solidFill>
                  <a:srgbClr val="E5E0DF"/>
                </a:solidFill>
                <a:latin typeface="Lucida Sans Unicode"/>
                <a:cs typeface="Lucida Sans Unicode"/>
              </a:rPr>
              <a:t>frames </a:t>
            </a:r>
            <a:r>
              <a:rPr sz="1400" spc="-30" dirty="0">
                <a:solidFill>
                  <a:srgbClr val="E5E0DF"/>
                </a:solidFill>
                <a:latin typeface="Lucida Sans Unicode"/>
                <a:cs typeface="Lucida Sans Unicode"/>
              </a:rPr>
              <a:t>(temporal)</a:t>
            </a:r>
            <a:r>
              <a:rPr sz="1400" spc="-4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E5E0DF"/>
                </a:solidFill>
                <a:latin typeface="Lucida Sans Unicode"/>
                <a:cs typeface="Lucida Sans Unicode"/>
              </a:rPr>
              <a:t>are</a:t>
            </a:r>
            <a:r>
              <a:rPr sz="1400" spc="-45" dirty="0">
                <a:solidFill>
                  <a:srgbClr val="E5E0DF"/>
                </a:solidFill>
                <a:latin typeface="Lucida Sans Unicode"/>
                <a:cs typeface="Lucida Sans Unicode"/>
              </a:rPr>
              <a:t> analyzed</a:t>
            </a:r>
            <a:r>
              <a:rPr sz="1400" spc="-4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for</a:t>
            </a:r>
            <a:r>
              <a:rPr sz="1400" spc="-45" dirty="0">
                <a:solidFill>
                  <a:srgbClr val="E5E0DF"/>
                </a:solidFill>
                <a:latin typeface="Lucida Sans Unicode"/>
                <a:cs typeface="Lucida Sans Unicode"/>
              </a:rPr>
              <a:t> inconsistencies </a:t>
            </a:r>
            <a:r>
              <a:rPr sz="1400" spc="-30" dirty="0">
                <a:solidFill>
                  <a:srgbClr val="E5E0DF"/>
                </a:solidFill>
                <a:latin typeface="Lucida Sans Unicode"/>
                <a:cs typeface="Lucida Sans Unicode"/>
              </a:rPr>
              <a:t>characteristic</a:t>
            </a:r>
            <a:r>
              <a:rPr sz="1400" spc="-4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E5E0DF"/>
                </a:solidFill>
                <a:latin typeface="Lucida Sans Unicode"/>
                <a:cs typeface="Lucida Sans Unicode"/>
              </a:rPr>
              <a:t>of </a:t>
            </a:r>
            <a:r>
              <a:rPr sz="1400" spc="-10" dirty="0">
                <a:solidFill>
                  <a:srgbClr val="E5E0DF"/>
                </a:solidFill>
                <a:latin typeface="Lucida Sans Unicode"/>
                <a:cs typeface="Lucida Sans Unicode"/>
              </a:rPr>
              <a:t>deepfakes.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775821" y="4015232"/>
            <a:ext cx="24828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70" dirty="0">
                <a:solidFill>
                  <a:srgbClr val="E5E0DF"/>
                </a:solidFill>
                <a:latin typeface="Arial MT"/>
                <a:cs typeface="Arial MT"/>
              </a:rPr>
              <a:t>05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810250" y="4343400"/>
            <a:ext cx="4981575" cy="19050"/>
          </a:xfrm>
          <a:custGeom>
            <a:avLst/>
            <a:gdLst/>
            <a:ahLst/>
            <a:cxnLst/>
            <a:rect l="l" t="t" r="r" b="b"/>
            <a:pathLst>
              <a:path w="4981575" h="19050">
                <a:moveTo>
                  <a:pt x="4981575" y="0"/>
                </a:moveTo>
                <a:lnTo>
                  <a:pt x="0" y="0"/>
                </a:lnTo>
                <a:lnTo>
                  <a:pt x="0" y="19050"/>
                </a:lnTo>
                <a:lnTo>
                  <a:pt x="4981575" y="19050"/>
                </a:lnTo>
                <a:lnTo>
                  <a:pt x="4981575" y="0"/>
                </a:lnTo>
                <a:close/>
              </a:path>
            </a:pathLst>
          </a:custGeom>
          <a:solidFill>
            <a:srgbClr val="F203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5793384" y="4421187"/>
            <a:ext cx="4614545" cy="12477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10" dirty="0">
                <a:solidFill>
                  <a:srgbClr val="E5E0DF"/>
                </a:solidFill>
                <a:latin typeface="Trebuchet MS"/>
                <a:cs typeface="Trebuchet MS"/>
              </a:rPr>
              <a:t>Classification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36200"/>
              </a:lnSpc>
              <a:spcBef>
                <a:spcPts val="740"/>
              </a:spcBef>
            </a:pPr>
            <a:r>
              <a:rPr sz="1400" dirty="0">
                <a:solidFill>
                  <a:srgbClr val="E5E0DF"/>
                </a:solidFill>
                <a:latin typeface="Lucida Sans Unicode"/>
                <a:cs typeface="Lucida Sans Unicode"/>
              </a:rPr>
              <a:t>Based</a:t>
            </a:r>
            <a:r>
              <a:rPr sz="1400" spc="-80" dirty="0">
                <a:solidFill>
                  <a:srgbClr val="E5E0DF"/>
                </a:solidFill>
                <a:latin typeface="Lucida Sans Unicode"/>
                <a:cs typeface="Lucida Sans Unicode"/>
              </a:rPr>
              <a:t> on</a:t>
            </a:r>
            <a:r>
              <a:rPr sz="1400" spc="-7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E5E0DF"/>
                </a:solidFill>
                <a:latin typeface="Lucida Sans Unicode"/>
                <a:cs typeface="Lucida Sans Unicode"/>
              </a:rPr>
              <a:t>the</a:t>
            </a:r>
            <a:r>
              <a:rPr sz="1400" spc="-8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45" dirty="0">
                <a:solidFill>
                  <a:srgbClr val="E5E0DF"/>
                </a:solidFill>
                <a:latin typeface="Lucida Sans Unicode"/>
                <a:cs typeface="Lucida Sans Unicode"/>
              </a:rPr>
              <a:t>extracted</a:t>
            </a:r>
            <a:r>
              <a:rPr sz="1400" spc="-7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50" dirty="0">
                <a:solidFill>
                  <a:srgbClr val="E5E0DF"/>
                </a:solidFill>
                <a:latin typeface="Lucida Sans Unicode"/>
                <a:cs typeface="Lucida Sans Unicode"/>
              </a:rPr>
              <a:t>features</a:t>
            </a:r>
            <a:r>
              <a:rPr sz="1400" spc="-8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50" dirty="0">
                <a:solidFill>
                  <a:srgbClr val="E5E0DF"/>
                </a:solidFill>
                <a:latin typeface="Lucida Sans Unicode"/>
                <a:cs typeface="Lucida Sans Unicode"/>
              </a:rPr>
              <a:t>and</a:t>
            </a:r>
            <a:r>
              <a:rPr sz="1400" spc="-7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50" dirty="0">
                <a:solidFill>
                  <a:srgbClr val="E5E0DF"/>
                </a:solidFill>
                <a:latin typeface="Lucida Sans Unicode"/>
                <a:cs typeface="Lucida Sans Unicode"/>
              </a:rPr>
              <a:t>anomaly</a:t>
            </a:r>
            <a:r>
              <a:rPr sz="1400" spc="-7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60" dirty="0">
                <a:solidFill>
                  <a:srgbClr val="E5E0DF"/>
                </a:solidFill>
                <a:latin typeface="Lucida Sans Unicode"/>
                <a:cs typeface="Lucida Sans Unicode"/>
              </a:rPr>
              <a:t>scores,</a:t>
            </a:r>
            <a:r>
              <a:rPr sz="1400" spc="-8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E5E0DF"/>
                </a:solidFill>
                <a:latin typeface="Lucida Sans Unicode"/>
                <a:cs typeface="Lucida Sans Unicode"/>
              </a:rPr>
              <a:t>the </a:t>
            </a:r>
            <a:r>
              <a:rPr sz="1400" spc="-50" dirty="0">
                <a:solidFill>
                  <a:srgbClr val="E5E0DF"/>
                </a:solidFill>
                <a:latin typeface="Lucida Sans Unicode"/>
                <a:cs typeface="Lucida Sans Unicode"/>
              </a:rPr>
              <a:t>model</a:t>
            </a:r>
            <a:r>
              <a:rPr sz="1400" spc="-8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45" dirty="0">
                <a:solidFill>
                  <a:srgbClr val="E5E0DF"/>
                </a:solidFill>
                <a:latin typeface="Lucida Sans Unicode"/>
                <a:cs typeface="Lucida Sans Unicode"/>
              </a:rPr>
              <a:t>classifies</a:t>
            </a:r>
            <a:r>
              <a:rPr sz="1400" spc="-7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E5E0DF"/>
                </a:solidFill>
                <a:latin typeface="Lucida Sans Unicode"/>
                <a:cs typeface="Lucida Sans Unicode"/>
              </a:rPr>
              <a:t>the</a:t>
            </a:r>
            <a:r>
              <a:rPr sz="1400" spc="-8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55" dirty="0">
                <a:solidFill>
                  <a:srgbClr val="E5E0DF"/>
                </a:solidFill>
                <a:latin typeface="Lucida Sans Unicode"/>
                <a:cs typeface="Lucida Sans Unicode"/>
              </a:rPr>
              <a:t>input</a:t>
            </a:r>
            <a:r>
              <a:rPr sz="1400" spc="-7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45" dirty="0">
                <a:solidFill>
                  <a:srgbClr val="E5E0DF"/>
                </a:solidFill>
                <a:latin typeface="Lucida Sans Unicode"/>
                <a:cs typeface="Lucida Sans Unicode"/>
              </a:rPr>
              <a:t>as</a:t>
            </a:r>
            <a:r>
              <a:rPr sz="1400" spc="-8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E5E0DF"/>
                </a:solidFill>
                <a:latin typeface="Lucida Sans Unicode"/>
                <a:cs typeface="Lucida Sans Unicode"/>
              </a:rPr>
              <a:t>either</a:t>
            </a:r>
            <a:r>
              <a:rPr sz="1400" spc="-7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E5E0DF"/>
                </a:solidFill>
                <a:latin typeface="Lucida Sans Unicode"/>
                <a:cs typeface="Lucida Sans Unicode"/>
              </a:rPr>
              <a:t>a</a:t>
            </a:r>
            <a:r>
              <a:rPr sz="1400" spc="-8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E5E0DF"/>
                </a:solidFill>
                <a:latin typeface="Lucida Sans Unicode"/>
                <a:cs typeface="Lucida Sans Unicode"/>
              </a:rPr>
              <a:t>"Real"</a:t>
            </a:r>
            <a:r>
              <a:rPr sz="1400" spc="-7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E5E0DF"/>
                </a:solidFill>
                <a:latin typeface="Lucida Sans Unicode"/>
                <a:cs typeface="Lucida Sans Unicode"/>
              </a:rPr>
              <a:t>video</a:t>
            </a:r>
            <a:r>
              <a:rPr sz="1400" spc="-8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55" dirty="0">
                <a:solidFill>
                  <a:srgbClr val="E5E0DF"/>
                </a:solidFill>
                <a:latin typeface="Lucida Sans Unicode"/>
                <a:cs typeface="Lucida Sans Unicode"/>
              </a:rPr>
              <a:t>or</a:t>
            </a:r>
            <a:r>
              <a:rPr sz="1400" spc="-7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50" dirty="0">
                <a:solidFill>
                  <a:srgbClr val="E5E0DF"/>
                </a:solidFill>
                <a:latin typeface="Lucida Sans Unicode"/>
                <a:cs typeface="Lucida Sans Unicode"/>
              </a:rPr>
              <a:t>a </a:t>
            </a:r>
            <a:r>
              <a:rPr sz="1400" spc="-30" dirty="0">
                <a:solidFill>
                  <a:srgbClr val="E5E0DF"/>
                </a:solidFill>
                <a:latin typeface="Lucida Sans Unicode"/>
                <a:cs typeface="Lucida Sans Unicode"/>
              </a:rPr>
              <a:t>"Deepfake"</a:t>
            </a:r>
            <a:r>
              <a:rPr sz="1400" spc="-7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55" dirty="0">
                <a:solidFill>
                  <a:srgbClr val="E5E0DF"/>
                </a:solidFill>
                <a:latin typeface="Lucida Sans Unicode"/>
                <a:cs typeface="Lucida Sans Unicode"/>
              </a:rPr>
              <a:t>with</a:t>
            </a:r>
            <a:r>
              <a:rPr sz="1400" spc="-7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E5E0DF"/>
                </a:solidFill>
                <a:latin typeface="Lucida Sans Unicode"/>
                <a:cs typeface="Lucida Sans Unicode"/>
              </a:rPr>
              <a:t>a</a:t>
            </a:r>
            <a:r>
              <a:rPr sz="1400" spc="-7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E5E0DF"/>
                </a:solidFill>
                <a:latin typeface="Lucida Sans Unicode"/>
                <a:cs typeface="Lucida Sans Unicode"/>
              </a:rPr>
              <a:t>confidence</a:t>
            </a:r>
            <a:r>
              <a:rPr sz="1400" spc="-7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E5E0DF"/>
                </a:solidFill>
                <a:latin typeface="Lucida Sans Unicode"/>
                <a:cs typeface="Lucida Sans Unicode"/>
              </a:rPr>
              <a:t>score.</a:t>
            </a:r>
            <a:endParaRPr sz="14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4879" y="1177925"/>
            <a:ext cx="6106160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20" dirty="0"/>
              <a:t>Result:</a:t>
            </a:r>
            <a:r>
              <a:rPr spc="-335" dirty="0"/>
              <a:t> </a:t>
            </a:r>
            <a:r>
              <a:rPr dirty="0"/>
              <a:t>High</a:t>
            </a:r>
            <a:r>
              <a:rPr spc="-475" dirty="0"/>
              <a:t> </a:t>
            </a:r>
            <a:r>
              <a:rPr spc="-10" dirty="0"/>
              <a:t>Accuracy</a:t>
            </a:r>
            <a:r>
              <a:rPr spc="-330" dirty="0"/>
              <a:t> </a:t>
            </a:r>
            <a:r>
              <a:rPr spc="-55" dirty="0"/>
              <a:t>Detection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24878" y="2147798"/>
            <a:ext cx="5710555" cy="118745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 marR="5080">
              <a:lnSpc>
                <a:spcPct val="136900"/>
              </a:lnSpc>
              <a:spcBef>
                <a:spcPts val="40"/>
              </a:spcBef>
            </a:pPr>
            <a:r>
              <a:rPr sz="1400" spc="-50" dirty="0">
                <a:solidFill>
                  <a:srgbClr val="E5E0DF"/>
                </a:solidFill>
                <a:latin typeface="Lucida Sans Unicode"/>
                <a:cs typeface="Lucida Sans Unicode"/>
              </a:rPr>
              <a:t>Our</a:t>
            </a:r>
            <a:r>
              <a:rPr sz="1400" spc="-7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45" dirty="0">
                <a:solidFill>
                  <a:srgbClr val="E5E0DF"/>
                </a:solidFill>
                <a:latin typeface="Lucida Sans Unicode"/>
                <a:cs typeface="Lucida Sans Unicode"/>
              </a:rPr>
              <a:t>deepfake</a:t>
            </a:r>
            <a:r>
              <a:rPr sz="14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E5E0DF"/>
                </a:solidFill>
                <a:latin typeface="Lucida Sans Unicode"/>
                <a:cs typeface="Lucida Sans Unicode"/>
              </a:rPr>
              <a:t>detection</a:t>
            </a:r>
            <a:r>
              <a:rPr sz="14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50" dirty="0">
                <a:solidFill>
                  <a:srgbClr val="E5E0DF"/>
                </a:solidFill>
                <a:latin typeface="Lucida Sans Unicode"/>
                <a:cs typeface="Lucida Sans Unicode"/>
              </a:rPr>
              <a:t>model</a:t>
            </a:r>
            <a:r>
              <a:rPr sz="14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55" dirty="0">
                <a:solidFill>
                  <a:srgbClr val="E5E0DF"/>
                </a:solidFill>
                <a:latin typeface="Lucida Sans Unicode"/>
                <a:cs typeface="Lucida Sans Unicode"/>
              </a:rPr>
              <a:t>demonstrates</a:t>
            </a:r>
            <a:r>
              <a:rPr sz="14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50" dirty="0">
                <a:solidFill>
                  <a:srgbClr val="E5E0DF"/>
                </a:solidFill>
                <a:latin typeface="Lucida Sans Unicode"/>
                <a:cs typeface="Lucida Sans Unicode"/>
              </a:rPr>
              <a:t>impressive</a:t>
            </a:r>
            <a:r>
              <a:rPr sz="14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E5E0DF"/>
                </a:solidFill>
                <a:latin typeface="Lucida Sans Unicode"/>
                <a:cs typeface="Lucida Sans Unicode"/>
              </a:rPr>
              <a:t>performance </a:t>
            </a:r>
            <a:r>
              <a:rPr sz="1400" spc="-45" dirty="0">
                <a:solidFill>
                  <a:srgbClr val="E5E0DF"/>
                </a:solidFill>
                <a:latin typeface="Lucida Sans Unicode"/>
                <a:cs typeface="Lucida Sans Unicode"/>
              </a:rPr>
              <a:t>across</a:t>
            </a:r>
            <a:r>
              <a:rPr sz="14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50" dirty="0">
                <a:solidFill>
                  <a:srgbClr val="E5E0DF"/>
                </a:solidFill>
                <a:latin typeface="Lucida Sans Unicode"/>
                <a:cs typeface="Lucida Sans Unicode"/>
              </a:rPr>
              <a:t>various</a:t>
            </a:r>
            <a:r>
              <a:rPr sz="14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45" dirty="0">
                <a:solidFill>
                  <a:srgbClr val="E5E0DF"/>
                </a:solidFill>
                <a:latin typeface="Lucida Sans Unicode"/>
                <a:cs typeface="Lucida Sans Unicode"/>
              </a:rPr>
              <a:t>benchmark</a:t>
            </a:r>
            <a:r>
              <a:rPr sz="14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50" dirty="0">
                <a:solidFill>
                  <a:srgbClr val="E5E0DF"/>
                </a:solidFill>
                <a:latin typeface="Lucida Sans Unicode"/>
                <a:cs typeface="Lucida Sans Unicode"/>
              </a:rPr>
              <a:t>datasets.</a:t>
            </a:r>
            <a:r>
              <a:rPr sz="14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E5E0DF"/>
                </a:solidFill>
                <a:latin typeface="Lucida Sans Unicode"/>
                <a:cs typeface="Lucida Sans Unicode"/>
              </a:rPr>
              <a:t>Initial</a:t>
            </a:r>
            <a:r>
              <a:rPr sz="14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50" dirty="0">
                <a:solidFill>
                  <a:srgbClr val="E5E0DF"/>
                </a:solidFill>
                <a:latin typeface="Lucida Sans Unicode"/>
                <a:cs typeface="Lucida Sans Unicode"/>
              </a:rPr>
              <a:t>results</a:t>
            </a:r>
            <a:r>
              <a:rPr sz="1400" spc="-6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show </a:t>
            </a:r>
            <a:r>
              <a:rPr sz="1400" spc="-45" dirty="0">
                <a:solidFill>
                  <a:srgbClr val="E5E0DF"/>
                </a:solidFill>
                <a:latin typeface="Lucida Sans Unicode"/>
                <a:cs typeface="Lucida Sans Unicode"/>
              </a:rPr>
              <a:t>an</a:t>
            </a:r>
            <a:r>
              <a:rPr sz="14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F20373"/>
                </a:solidFill>
                <a:latin typeface="Lucida Sans Unicode"/>
                <a:cs typeface="Lucida Sans Unicode"/>
              </a:rPr>
              <a:t>accuracy</a:t>
            </a:r>
            <a:r>
              <a:rPr sz="1400" spc="-65" dirty="0">
                <a:solidFill>
                  <a:srgbClr val="F2037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F20373"/>
                </a:solidFill>
                <a:latin typeface="Lucida Sans Unicode"/>
                <a:cs typeface="Lucida Sans Unicode"/>
              </a:rPr>
              <a:t>of </a:t>
            </a:r>
            <a:r>
              <a:rPr sz="1400" spc="-30" dirty="0">
                <a:solidFill>
                  <a:srgbClr val="F20373"/>
                </a:solidFill>
                <a:latin typeface="Lucida Sans Unicode"/>
                <a:cs typeface="Lucida Sans Unicode"/>
              </a:rPr>
              <a:t>over</a:t>
            </a:r>
            <a:r>
              <a:rPr sz="1400" spc="-75" dirty="0">
                <a:solidFill>
                  <a:srgbClr val="F20373"/>
                </a:solidFill>
                <a:latin typeface="Lucida Sans Unicode"/>
                <a:cs typeface="Lucida Sans Unicode"/>
              </a:rPr>
              <a:t> </a:t>
            </a:r>
            <a:r>
              <a:rPr sz="1400" spc="85" dirty="0">
                <a:solidFill>
                  <a:srgbClr val="F20373"/>
                </a:solidFill>
                <a:latin typeface="Lucida Sans Unicode"/>
                <a:cs typeface="Lucida Sans Unicode"/>
              </a:rPr>
              <a:t>95%</a:t>
            </a:r>
            <a:r>
              <a:rPr sz="1400" spc="-70" dirty="0">
                <a:solidFill>
                  <a:srgbClr val="F20373"/>
                </a:solidFill>
                <a:latin typeface="Lucida Sans Unicode"/>
                <a:cs typeface="Lucida Sans Unicode"/>
              </a:rPr>
              <a:t> </a:t>
            </a:r>
            <a:r>
              <a:rPr sz="14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in</a:t>
            </a:r>
            <a:r>
              <a:rPr sz="1400" spc="-7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60" dirty="0">
                <a:solidFill>
                  <a:srgbClr val="E5E0DF"/>
                </a:solidFill>
                <a:latin typeface="Lucida Sans Unicode"/>
                <a:cs typeface="Lucida Sans Unicode"/>
              </a:rPr>
              <a:t>distinguishing</a:t>
            </a:r>
            <a:r>
              <a:rPr sz="1400" spc="-7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E5E0DF"/>
                </a:solidFill>
                <a:latin typeface="Lucida Sans Unicode"/>
                <a:cs typeface="Lucida Sans Unicode"/>
              </a:rPr>
              <a:t>between</a:t>
            </a:r>
            <a:r>
              <a:rPr sz="1400" spc="-7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E5E0DF"/>
                </a:solidFill>
                <a:latin typeface="Lucida Sans Unicode"/>
                <a:cs typeface="Lucida Sans Unicode"/>
              </a:rPr>
              <a:t>real</a:t>
            </a:r>
            <a:r>
              <a:rPr sz="1400" spc="-7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50" dirty="0">
                <a:solidFill>
                  <a:srgbClr val="E5E0DF"/>
                </a:solidFill>
                <a:latin typeface="Lucida Sans Unicode"/>
                <a:cs typeface="Lucida Sans Unicode"/>
              </a:rPr>
              <a:t>and</a:t>
            </a:r>
            <a:r>
              <a:rPr sz="1400" spc="-7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E5E0DF"/>
                </a:solidFill>
                <a:latin typeface="Lucida Sans Unicode"/>
                <a:cs typeface="Lucida Sans Unicode"/>
              </a:rPr>
              <a:t>synthetically</a:t>
            </a:r>
            <a:r>
              <a:rPr sz="1400" spc="-7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E5E0DF"/>
                </a:solidFill>
                <a:latin typeface="Lucida Sans Unicode"/>
                <a:cs typeface="Lucida Sans Unicode"/>
              </a:rPr>
              <a:t>generated </a:t>
            </a:r>
            <a:r>
              <a:rPr sz="1400" spc="-20" dirty="0">
                <a:solidFill>
                  <a:srgbClr val="E5E0DF"/>
                </a:solidFill>
                <a:latin typeface="Lucida Sans Unicode"/>
                <a:cs typeface="Lucida Sans Unicode"/>
              </a:rPr>
              <a:t>face</a:t>
            </a:r>
            <a:r>
              <a:rPr sz="1400" spc="-7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E5E0DF"/>
                </a:solidFill>
                <a:latin typeface="Lucida Sans Unicode"/>
                <a:cs typeface="Lucida Sans Unicode"/>
              </a:rPr>
              <a:t>swaps.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85800" y="365760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59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E5E0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85800" y="401955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59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E5E0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85800" y="466725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59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E5E0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16136" y="3538982"/>
            <a:ext cx="4966335" cy="15398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40" dirty="0">
                <a:solidFill>
                  <a:srgbClr val="E5E0DF"/>
                </a:solidFill>
                <a:latin typeface="Lucida Sans Unicode"/>
                <a:cs typeface="Lucida Sans Unicode"/>
              </a:rPr>
              <a:t>Precision:</a:t>
            </a:r>
            <a:r>
              <a:rPr sz="1400" spc="-6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50" dirty="0">
                <a:solidFill>
                  <a:srgbClr val="E5E0DF"/>
                </a:solidFill>
                <a:latin typeface="Lucida Sans Unicode"/>
                <a:cs typeface="Lucida Sans Unicode"/>
              </a:rPr>
              <a:t>Measures</a:t>
            </a:r>
            <a:r>
              <a:rPr sz="1400" spc="-5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E5E0DF"/>
                </a:solidFill>
                <a:latin typeface="Lucida Sans Unicode"/>
                <a:cs typeface="Lucida Sans Unicode"/>
              </a:rPr>
              <a:t>the</a:t>
            </a:r>
            <a:r>
              <a:rPr sz="1400" spc="-6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E5E0DF"/>
                </a:solidFill>
                <a:latin typeface="Lucida Sans Unicode"/>
                <a:cs typeface="Lucida Sans Unicode"/>
              </a:rPr>
              <a:t>accuracy</a:t>
            </a:r>
            <a:r>
              <a:rPr sz="1400" spc="-5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of</a:t>
            </a:r>
            <a:r>
              <a:rPr sz="1400" spc="-5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45" dirty="0">
                <a:solidFill>
                  <a:srgbClr val="E5E0DF"/>
                </a:solidFill>
                <a:latin typeface="Lucida Sans Unicode"/>
                <a:cs typeface="Lucida Sans Unicode"/>
              </a:rPr>
              <a:t>positive</a:t>
            </a:r>
            <a:r>
              <a:rPr sz="1400" spc="-6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E5E0DF"/>
                </a:solidFill>
                <a:latin typeface="Lucida Sans Unicode"/>
                <a:cs typeface="Lucida Sans Unicode"/>
              </a:rPr>
              <a:t>predictions.</a:t>
            </a:r>
            <a:endParaRPr sz="1400" dirty="0">
              <a:latin typeface="Lucida Sans Unicode"/>
              <a:cs typeface="Lucida Sans Unicode"/>
            </a:endParaRPr>
          </a:p>
          <a:p>
            <a:pPr marL="12700" marR="74295">
              <a:lnSpc>
                <a:spcPct val="133900"/>
              </a:lnSpc>
              <a:spcBef>
                <a:spcPts val="600"/>
              </a:spcBef>
            </a:pPr>
            <a:r>
              <a:rPr sz="1400" spc="-35" dirty="0">
                <a:solidFill>
                  <a:srgbClr val="E5E0DF"/>
                </a:solidFill>
                <a:latin typeface="Lucida Sans Unicode"/>
                <a:cs typeface="Lucida Sans Unicode"/>
              </a:rPr>
              <a:t>Recall:</a:t>
            </a:r>
            <a:r>
              <a:rPr sz="1400" spc="-7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45" dirty="0">
                <a:solidFill>
                  <a:srgbClr val="E5E0DF"/>
                </a:solidFill>
                <a:latin typeface="Lucida Sans Unicode"/>
                <a:cs typeface="Lucida Sans Unicode"/>
              </a:rPr>
              <a:t>Identifies</a:t>
            </a:r>
            <a:r>
              <a:rPr sz="14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E5E0DF"/>
                </a:solidFill>
                <a:latin typeface="Lucida Sans Unicode"/>
                <a:cs typeface="Lucida Sans Unicode"/>
              </a:rPr>
              <a:t>the</a:t>
            </a:r>
            <a:r>
              <a:rPr sz="14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60" dirty="0">
                <a:solidFill>
                  <a:srgbClr val="E5E0DF"/>
                </a:solidFill>
                <a:latin typeface="Lucida Sans Unicode"/>
                <a:cs typeface="Lucida Sans Unicode"/>
              </a:rPr>
              <a:t>proportion</a:t>
            </a:r>
            <a:r>
              <a:rPr sz="14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 of </a:t>
            </a:r>
            <a:r>
              <a:rPr sz="1400" spc="-35" dirty="0">
                <a:solidFill>
                  <a:srgbClr val="E5E0DF"/>
                </a:solidFill>
                <a:latin typeface="Lucida Sans Unicode"/>
                <a:cs typeface="Lucida Sans Unicode"/>
              </a:rPr>
              <a:t>actual</a:t>
            </a:r>
            <a:r>
              <a:rPr sz="14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45" dirty="0">
                <a:solidFill>
                  <a:srgbClr val="E5E0DF"/>
                </a:solidFill>
                <a:latin typeface="Lucida Sans Unicode"/>
                <a:cs typeface="Lucida Sans Unicode"/>
              </a:rPr>
              <a:t>positives</a:t>
            </a:r>
            <a:r>
              <a:rPr sz="14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E5E0DF"/>
                </a:solidFill>
                <a:latin typeface="Lucida Sans Unicode"/>
                <a:cs typeface="Lucida Sans Unicode"/>
              </a:rPr>
              <a:t>that</a:t>
            </a:r>
            <a:r>
              <a:rPr sz="14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E5E0DF"/>
                </a:solidFill>
                <a:latin typeface="Lucida Sans Unicode"/>
                <a:cs typeface="Lucida Sans Unicode"/>
              </a:rPr>
              <a:t>were </a:t>
            </a:r>
            <a:r>
              <a:rPr sz="1400" spc="-30" dirty="0">
                <a:solidFill>
                  <a:srgbClr val="E5E0DF"/>
                </a:solidFill>
                <a:latin typeface="Lucida Sans Unicode"/>
                <a:cs typeface="Lucida Sans Unicode"/>
              </a:rPr>
              <a:t>correctly</a:t>
            </a:r>
            <a:r>
              <a:rPr sz="1400" spc="-2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E5E0DF"/>
                </a:solidFill>
                <a:latin typeface="Lucida Sans Unicode"/>
                <a:cs typeface="Lucida Sans Unicode"/>
              </a:rPr>
              <a:t>identified.</a:t>
            </a:r>
            <a:endParaRPr sz="1400" dirty="0">
              <a:latin typeface="Lucida Sans Unicode"/>
              <a:cs typeface="Lucida Sans Unicode"/>
            </a:endParaRPr>
          </a:p>
          <a:p>
            <a:pPr marL="12700" marR="5080">
              <a:lnSpc>
                <a:spcPct val="133900"/>
              </a:lnSpc>
              <a:spcBef>
                <a:spcPts val="600"/>
              </a:spcBef>
            </a:pPr>
            <a:r>
              <a:rPr sz="1400" spc="-180" dirty="0">
                <a:solidFill>
                  <a:srgbClr val="E5E0DF"/>
                </a:solidFill>
                <a:latin typeface="Lucida Sans Unicode"/>
                <a:cs typeface="Lucida Sans Unicode"/>
              </a:rPr>
              <a:t>F1-</a:t>
            </a:r>
            <a:r>
              <a:rPr sz="1400" spc="-40" dirty="0">
                <a:solidFill>
                  <a:srgbClr val="E5E0DF"/>
                </a:solidFill>
                <a:latin typeface="Lucida Sans Unicode"/>
                <a:cs typeface="Lucida Sans Unicode"/>
              </a:rPr>
              <a:t>Score:</a:t>
            </a:r>
            <a:r>
              <a:rPr sz="1400" spc="-13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E5E0DF"/>
                </a:solidFill>
                <a:latin typeface="Lucida Sans Unicode"/>
                <a:cs typeface="Lucida Sans Unicode"/>
              </a:rPr>
              <a:t>A</a:t>
            </a:r>
            <a:r>
              <a:rPr sz="1400" spc="-13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E5E0DF"/>
                </a:solidFill>
                <a:latin typeface="Lucida Sans Unicode"/>
                <a:cs typeface="Lucida Sans Unicode"/>
              </a:rPr>
              <a:t>balance</a:t>
            </a:r>
            <a:r>
              <a:rPr sz="14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E5E0DF"/>
                </a:solidFill>
                <a:latin typeface="Lucida Sans Unicode"/>
                <a:cs typeface="Lucida Sans Unicode"/>
              </a:rPr>
              <a:t>between</a:t>
            </a:r>
            <a:r>
              <a:rPr sz="14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50" dirty="0">
                <a:solidFill>
                  <a:srgbClr val="E5E0DF"/>
                </a:solidFill>
                <a:latin typeface="Lucida Sans Unicode"/>
                <a:cs typeface="Lucida Sans Unicode"/>
              </a:rPr>
              <a:t>precision</a:t>
            </a:r>
            <a:r>
              <a:rPr sz="14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50" dirty="0">
                <a:solidFill>
                  <a:srgbClr val="E5E0DF"/>
                </a:solidFill>
                <a:latin typeface="Lucida Sans Unicode"/>
                <a:cs typeface="Lucida Sans Unicode"/>
              </a:rPr>
              <a:t>and</a:t>
            </a:r>
            <a:r>
              <a:rPr sz="1400" spc="-7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45" dirty="0">
                <a:solidFill>
                  <a:srgbClr val="E5E0DF"/>
                </a:solidFill>
                <a:latin typeface="Lucida Sans Unicode"/>
                <a:cs typeface="Lucida Sans Unicode"/>
              </a:rPr>
              <a:t>recall,</a:t>
            </a:r>
            <a:r>
              <a:rPr sz="14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60" dirty="0">
                <a:solidFill>
                  <a:srgbClr val="E5E0DF"/>
                </a:solidFill>
                <a:latin typeface="Lucida Sans Unicode"/>
                <a:cs typeface="Lucida Sans Unicode"/>
              </a:rPr>
              <a:t>providing</a:t>
            </a:r>
            <a:r>
              <a:rPr sz="14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50" dirty="0">
                <a:solidFill>
                  <a:srgbClr val="E5E0DF"/>
                </a:solidFill>
                <a:latin typeface="Lucida Sans Unicode"/>
                <a:cs typeface="Lucida Sans Unicode"/>
              </a:rPr>
              <a:t>a comprehensive</a:t>
            </a:r>
            <a:r>
              <a:rPr sz="1400" spc="-4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55" dirty="0">
                <a:solidFill>
                  <a:srgbClr val="E5E0DF"/>
                </a:solidFill>
                <a:latin typeface="Lucida Sans Unicode"/>
                <a:cs typeface="Lucida Sans Unicode"/>
              </a:rPr>
              <a:t>measure</a:t>
            </a:r>
            <a:r>
              <a:rPr sz="1400" spc="-4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of</a:t>
            </a:r>
            <a:r>
              <a:rPr sz="1400" spc="-4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E5E0DF"/>
                </a:solidFill>
                <a:latin typeface="Lucida Sans Unicode"/>
                <a:cs typeface="Lucida Sans Unicode"/>
              </a:rPr>
              <a:t>accuracy.</a:t>
            </a:r>
            <a:endParaRPr sz="1400" dirty="0">
              <a:latin typeface="Lucida Sans Unicode"/>
              <a:cs typeface="Lucida Sans Unicode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8188773" y="2304303"/>
            <a:ext cx="1438910" cy="1438910"/>
            <a:chOff x="8188773" y="2304303"/>
            <a:chExt cx="1438910" cy="1438910"/>
          </a:xfrm>
        </p:grpSpPr>
        <p:sp>
          <p:nvSpPr>
            <p:cNvPr id="9" name="object 9"/>
            <p:cNvSpPr/>
            <p:nvPr/>
          </p:nvSpPr>
          <p:spPr>
            <a:xfrm>
              <a:off x="8908034" y="2311425"/>
              <a:ext cx="712470" cy="718185"/>
            </a:xfrm>
            <a:custGeom>
              <a:avLst/>
              <a:gdLst/>
              <a:ahLst/>
              <a:cxnLst/>
              <a:rect l="l" t="t" r="r" b="b"/>
              <a:pathLst>
                <a:path w="712470" h="718185">
                  <a:moveTo>
                    <a:pt x="0" y="0"/>
                  </a:moveTo>
                  <a:lnTo>
                    <a:pt x="0" y="712165"/>
                  </a:lnTo>
                  <a:lnTo>
                    <a:pt x="712139" y="718083"/>
                  </a:lnTo>
                  <a:lnTo>
                    <a:pt x="710623" y="665408"/>
                  </a:lnTo>
                  <a:lnTo>
                    <a:pt x="705218" y="612978"/>
                  </a:lnTo>
                  <a:lnTo>
                    <a:pt x="695950" y="561088"/>
                  </a:lnTo>
                  <a:lnTo>
                    <a:pt x="682879" y="510044"/>
                  </a:lnTo>
                  <a:lnTo>
                    <a:pt x="666062" y="460099"/>
                  </a:lnTo>
                  <a:lnTo>
                    <a:pt x="645596" y="411526"/>
                  </a:lnTo>
                  <a:lnTo>
                    <a:pt x="621589" y="364602"/>
                  </a:lnTo>
                  <a:lnTo>
                    <a:pt x="594182" y="319595"/>
                  </a:lnTo>
                  <a:lnTo>
                    <a:pt x="563530" y="276729"/>
                  </a:lnTo>
                  <a:lnTo>
                    <a:pt x="529782" y="236242"/>
                  </a:lnTo>
                  <a:lnTo>
                    <a:pt x="493133" y="198365"/>
                  </a:lnTo>
                  <a:lnTo>
                    <a:pt x="453783" y="163309"/>
                  </a:lnTo>
                  <a:lnTo>
                    <a:pt x="411960" y="131251"/>
                  </a:lnTo>
                  <a:lnTo>
                    <a:pt x="367865" y="102374"/>
                  </a:lnTo>
                  <a:lnTo>
                    <a:pt x="321756" y="76838"/>
                  </a:lnTo>
                  <a:lnTo>
                    <a:pt x="273900" y="54787"/>
                  </a:lnTo>
                  <a:lnTo>
                    <a:pt x="224532" y="36326"/>
                  </a:lnTo>
                  <a:lnTo>
                    <a:pt x="173937" y="21570"/>
                  </a:lnTo>
                  <a:lnTo>
                    <a:pt x="122381" y="10596"/>
                  </a:lnTo>
                  <a:lnTo>
                    <a:pt x="70167" y="3467"/>
                  </a:lnTo>
                  <a:lnTo>
                    <a:pt x="17573" y="2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9003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908034" y="2311425"/>
              <a:ext cx="712470" cy="718185"/>
            </a:xfrm>
            <a:custGeom>
              <a:avLst/>
              <a:gdLst/>
              <a:ahLst/>
              <a:cxnLst/>
              <a:rect l="l" t="t" r="r" b="b"/>
              <a:pathLst>
                <a:path w="712470" h="718185">
                  <a:moveTo>
                    <a:pt x="0" y="0"/>
                  </a:moveTo>
                  <a:lnTo>
                    <a:pt x="52658" y="1950"/>
                  </a:lnTo>
                  <a:lnTo>
                    <a:pt x="105038" y="7791"/>
                  </a:lnTo>
                  <a:lnTo>
                    <a:pt x="156851" y="17489"/>
                  </a:lnTo>
                  <a:lnTo>
                    <a:pt x="207784" y="30988"/>
                  </a:lnTo>
                  <a:lnTo>
                    <a:pt x="257589" y="48227"/>
                  </a:lnTo>
                  <a:lnTo>
                    <a:pt x="305990" y="69095"/>
                  </a:lnTo>
                  <a:lnTo>
                    <a:pt x="352713" y="93488"/>
                  </a:lnTo>
                  <a:lnTo>
                    <a:pt x="397497" y="121259"/>
                  </a:lnTo>
                  <a:lnTo>
                    <a:pt x="440106" y="152274"/>
                  </a:lnTo>
                  <a:lnTo>
                    <a:pt x="480309" y="186358"/>
                  </a:lnTo>
                  <a:lnTo>
                    <a:pt x="517883" y="223323"/>
                  </a:lnTo>
                  <a:lnTo>
                    <a:pt x="552615" y="262953"/>
                  </a:lnTo>
                  <a:lnTo>
                    <a:pt x="584317" y="305048"/>
                  </a:lnTo>
                  <a:lnTo>
                    <a:pt x="612825" y="349378"/>
                  </a:lnTo>
                  <a:lnTo>
                    <a:pt x="637987" y="395694"/>
                  </a:lnTo>
                  <a:lnTo>
                    <a:pt x="659638" y="443738"/>
                  </a:lnTo>
                  <a:lnTo>
                    <a:pt x="677683" y="493254"/>
                  </a:lnTo>
                  <a:lnTo>
                    <a:pt x="692015" y="543971"/>
                  </a:lnTo>
                  <a:lnTo>
                    <a:pt x="702556" y="595614"/>
                  </a:lnTo>
                  <a:lnTo>
                    <a:pt x="709256" y="647877"/>
                  </a:lnTo>
                  <a:lnTo>
                    <a:pt x="712066" y="700509"/>
                  </a:lnTo>
                  <a:lnTo>
                    <a:pt x="712139" y="718083"/>
                  </a:lnTo>
                  <a:lnTo>
                    <a:pt x="0" y="712165"/>
                  </a:lnTo>
                  <a:lnTo>
                    <a:pt x="0" y="0"/>
                  </a:lnTo>
                  <a:close/>
                </a:path>
              </a:pathLst>
            </a:custGeom>
            <a:ln w="14243">
              <a:solidFill>
                <a:srgbClr val="24212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908034" y="3023590"/>
              <a:ext cx="712470" cy="712470"/>
            </a:xfrm>
            <a:custGeom>
              <a:avLst/>
              <a:gdLst/>
              <a:ahLst/>
              <a:cxnLst/>
              <a:rect l="l" t="t" r="r" b="b"/>
              <a:pathLst>
                <a:path w="712470" h="712470">
                  <a:moveTo>
                    <a:pt x="0" y="0"/>
                  </a:moveTo>
                  <a:lnTo>
                    <a:pt x="11836" y="712063"/>
                  </a:lnTo>
                  <a:lnTo>
                    <a:pt x="29035" y="711570"/>
                  </a:lnTo>
                  <a:lnTo>
                    <a:pt x="46208" y="710663"/>
                  </a:lnTo>
                  <a:lnTo>
                    <a:pt x="97540" y="705450"/>
                  </a:lnTo>
                  <a:lnTo>
                    <a:pt x="148361" y="696544"/>
                  </a:lnTo>
                  <a:lnTo>
                    <a:pt x="198387" y="683971"/>
                  </a:lnTo>
                  <a:lnTo>
                    <a:pt x="247394" y="667805"/>
                  </a:lnTo>
                  <a:lnTo>
                    <a:pt x="295096" y="648139"/>
                  </a:lnTo>
                  <a:lnTo>
                    <a:pt x="341236" y="625081"/>
                  </a:lnTo>
                  <a:lnTo>
                    <a:pt x="385598" y="598733"/>
                  </a:lnTo>
                  <a:lnTo>
                    <a:pt x="427932" y="569250"/>
                  </a:lnTo>
                  <a:lnTo>
                    <a:pt x="468033" y="536764"/>
                  </a:lnTo>
                  <a:lnTo>
                    <a:pt x="505663" y="501484"/>
                  </a:lnTo>
                  <a:lnTo>
                    <a:pt x="540635" y="463562"/>
                  </a:lnTo>
                  <a:lnTo>
                    <a:pt x="572781" y="423197"/>
                  </a:lnTo>
                  <a:lnTo>
                    <a:pt x="601918" y="380613"/>
                  </a:lnTo>
                  <a:lnTo>
                    <a:pt x="627900" y="336042"/>
                  </a:lnTo>
                  <a:lnTo>
                    <a:pt x="650569" y="289700"/>
                  </a:lnTo>
                  <a:lnTo>
                    <a:pt x="669840" y="241839"/>
                  </a:lnTo>
                  <a:lnTo>
                    <a:pt x="685590" y="192703"/>
                  </a:lnTo>
                  <a:lnTo>
                    <a:pt x="697750" y="142570"/>
                  </a:lnTo>
                  <a:lnTo>
                    <a:pt x="706233" y="91678"/>
                  </a:lnTo>
                  <a:lnTo>
                    <a:pt x="711023" y="40300"/>
                  </a:lnTo>
                  <a:lnTo>
                    <a:pt x="712139" y="59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203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908034" y="3023590"/>
              <a:ext cx="712470" cy="712470"/>
            </a:xfrm>
            <a:custGeom>
              <a:avLst/>
              <a:gdLst/>
              <a:ahLst/>
              <a:cxnLst/>
              <a:rect l="l" t="t" r="r" b="b"/>
              <a:pathLst>
                <a:path w="712470" h="712470">
                  <a:moveTo>
                    <a:pt x="712139" y="5918"/>
                  </a:moveTo>
                  <a:lnTo>
                    <a:pt x="709841" y="57456"/>
                  </a:lnTo>
                  <a:lnTo>
                    <a:pt x="703814" y="108702"/>
                  </a:lnTo>
                  <a:lnTo>
                    <a:pt x="694100" y="159381"/>
                  </a:lnTo>
                  <a:lnTo>
                    <a:pt x="680732" y="209207"/>
                  </a:lnTo>
                  <a:lnTo>
                    <a:pt x="663803" y="257941"/>
                  </a:lnTo>
                  <a:lnTo>
                    <a:pt x="643386" y="305323"/>
                  </a:lnTo>
                  <a:lnTo>
                    <a:pt x="619597" y="351110"/>
                  </a:lnTo>
                  <a:lnTo>
                    <a:pt x="592543" y="395046"/>
                  </a:lnTo>
                  <a:lnTo>
                    <a:pt x="562395" y="436903"/>
                  </a:lnTo>
                  <a:lnTo>
                    <a:pt x="529288" y="476478"/>
                  </a:lnTo>
                  <a:lnTo>
                    <a:pt x="493399" y="513551"/>
                  </a:lnTo>
                  <a:lnTo>
                    <a:pt x="454926" y="547916"/>
                  </a:lnTo>
                  <a:lnTo>
                    <a:pt x="414064" y="579414"/>
                  </a:lnTo>
                  <a:lnTo>
                    <a:pt x="371030" y="607871"/>
                  </a:lnTo>
                  <a:lnTo>
                    <a:pt x="326038" y="633142"/>
                  </a:lnTo>
                  <a:lnTo>
                    <a:pt x="279349" y="655078"/>
                  </a:lnTo>
                  <a:lnTo>
                    <a:pt x="231198" y="673586"/>
                  </a:lnTo>
                  <a:lnTo>
                    <a:pt x="181814" y="688562"/>
                  </a:lnTo>
                  <a:lnTo>
                    <a:pt x="131487" y="699921"/>
                  </a:lnTo>
                  <a:lnTo>
                    <a:pt x="80467" y="707605"/>
                  </a:lnTo>
                  <a:lnTo>
                    <a:pt x="29035" y="711570"/>
                  </a:lnTo>
                  <a:lnTo>
                    <a:pt x="11836" y="712063"/>
                  </a:lnTo>
                  <a:lnTo>
                    <a:pt x="0" y="0"/>
                  </a:lnTo>
                  <a:lnTo>
                    <a:pt x="712139" y="5918"/>
                  </a:lnTo>
                  <a:close/>
                </a:path>
              </a:pathLst>
            </a:custGeom>
            <a:ln w="14243">
              <a:solidFill>
                <a:srgbClr val="24212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195894" y="3017672"/>
              <a:ext cx="724535" cy="718185"/>
            </a:xfrm>
            <a:custGeom>
              <a:avLst/>
              <a:gdLst/>
              <a:ahLst/>
              <a:cxnLst/>
              <a:rect l="l" t="t" r="r" b="b"/>
              <a:pathLst>
                <a:path w="724534" h="718185">
                  <a:moveTo>
                    <a:pt x="0" y="0"/>
                  </a:moveTo>
                  <a:lnTo>
                    <a:pt x="1553" y="53229"/>
                  </a:lnTo>
                  <a:lnTo>
                    <a:pt x="7075" y="106205"/>
                  </a:lnTo>
                  <a:lnTo>
                    <a:pt x="16542" y="158621"/>
                  </a:lnTo>
                  <a:lnTo>
                    <a:pt x="29895" y="210172"/>
                  </a:lnTo>
                  <a:lnTo>
                    <a:pt x="47064" y="260576"/>
                  </a:lnTo>
                  <a:lnTo>
                    <a:pt x="67957" y="309570"/>
                  </a:lnTo>
                  <a:lnTo>
                    <a:pt x="92451" y="356863"/>
                  </a:lnTo>
                  <a:lnTo>
                    <a:pt x="120408" y="402196"/>
                  </a:lnTo>
                  <a:lnTo>
                    <a:pt x="151671" y="445298"/>
                  </a:lnTo>
                  <a:lnTo>
                    <a:pt x="186081" y="485957"/>
                  </a:lnTo>
                  <a:lnTo>
                    <a:pt x="223428" y="523930"/>
                  </a:lnTo>
                  <a:lnTo>
                    <a:pt x="263499" y="559003"/>
                  </a:lnTo>
                  <a:lnTo>
                    <a:pt x="306083" y="590976"/>
                  </a:lnTo>
                  <a:lnTo>
                    <a:pt x="350943" y="619690"/>
                  </a:lnTo>
                  <a:lnTo>
                    <a:pt x="397828" y="644967"/>
                  </a:lnTo>
                  <a:lnTo>
                    <a:pt x="446455" y="666673"/>
                  </a:lnTo>
                  <a:lnTo>
                    <a:pt x="496572" y="684668"/>
                  </a:lnTo>
                  <a:lnTo>
                    <a:pt x="547901" y="698885"/>
                  </a:lnTo>
                  <a:lnTo>
                    <a:pt x="600155" y="709218"/>
                  </a:lnTo>
                  <a:lnTo>
                    <a:pt x="653021" y="715619"/>
                  </a:lnTo>
                  <a:lnTo>
                    <a:pt x="706211" y="718055"/>
                  </a:lnTo>
                  <a:lnTo>
                    <a:pt x="723976" y="717981"/>
                  </a:lnTo>
                  <a:lnTo>
                    <a:pt x="712139" y="59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C32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195894" y="3017672"/>
              <a:ext cx="724535" cy="718185"/>
            </a:xfrm>
            <a:custGeom>
              <a:avLst/>
              <a:gdLst/>
              <a:ahLst/>
              <a:cxnLst/>
              <a:rect l="l" t="t" r="r" b="b"/>
              <a:pathLst>
                <a:path w="724534" h="718185">
                  <a:moveTo>
                    <a:pt x="723976" y="717981"/>
                  </a:moveTo>
                  <a:lnTo>
                    <a:pt x="670735" y="716874"/>
                  </a:lnTo>
                  <a:lnTo>
                    <a:pt x="617716" y="711790"/>
                  </a:lnTo>
                  <a:lnTo>
                    <a:pt x="565224" y="702763"/>
                  </a:lnTo>
                  <a:lnTo>
                    <a:pt x="513562" y="689838"/>
                  </a:lnTo>
                  <a:lnTo>
                    <a:pt x="463017" y="673086"/>
                  </a:lnTo>
                  <a:lnTo>
                    <a:pt x="413851" y="652602"/>
                  </a:lnTo>
                  <a:lnTo>
                    <a:pt x="366355" y="628500"/>
                  </a:lnTo>
                  <a:lnTo>
                    <a:pt x="320802" y="600925"/>
                  </a:lnTo>
                  <a:lnTo>
                    <a:pt x="277432" y="570016"/>
                  </a:lnTo>
                  <a:lnTo>
                    <a:pt x="236488" y="535949"/>
                  </a:lnTo>
                  <a:lnTo>
                    <a:pt x="198211" y="498917"/>
                  </a:lnTo>
                  <a:lnTo>
                    <a:pt x="162801" y="459143"/>
                  </a:lnTo>
                  <a:lnTo>
                    <a:pt x="130474" y="416827"/>
                  </a:lnTo>
                  <a:lnTo>
                    <a:pt x="101390" y="372200"/>
                  </a:lnTo>
                  <a:lnTo>
                    <a:pt x="75725" y="325528"/>
                  </a:lnTo>
                  <a:lnTo>
                    <a:pt x="53619" y="277088"/>
                  </a:lnTo>
                  <a:lnTo>
                    <a:pt x="35201" y="227119"/>
                  </a:lnTo>
                  <a:lnTo>
                    <a:pt x="20562" y="175912"/>
                  </a:lnTo>
                  <a:lnTo>
                    <a:pt x="9793" y="123745"/>
                  </a:lnTo>
                  <a:lnTo>
                    <a:pt x="2959" y="70929"/>
                  </a:lnTo>
                  <a:lnTo>
                    <a:pt x="76" y="17763"/>
                  </a:lnTo>
                  <a:lnTo>
                    <a:pt x="0" y="0"/>
                  </a:lnTo>
                  <a:lnTo>
                    <a:pt x="712139" y="5918"/>
                  </a:lnTo>
                  <a:lnTo>
                    <a:pt x="723976" y="717981"/>
                  </a:lnTo>
                  <a:close/>
                </a:path>
              </a:pathLst>
            </a:custGeom>
            <a:ln w="14243">
              <a:solidFill>
                <a:srgbClr val="24212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195894" y="2311425"/>
              <a:ext cx="712470" cy="712470"/>
            </a:xfrm>
            <a:custGeom>
              <a:avLst/>
              <a:gdLst/>
              <a:ahLst/>
              <a:cxnLst/>
              <a:rect l="l" t="t" r="r" b="b"/>
              <a:pathLst>
                <a:path w="712470" h="712469">
                  <a:moveTo>
                    <a:pt x="712139" y="0"/>
                  </a:moveTo>
                  <a:lnTo>
                    <a:pt x="660029" y="1912"/>
                  </a:lnTo>
                  <a:lnTo>
                    <a:pt x="608187" y="7632"/>
                  </a:lnTo>
                  <a:lnTo>
                    <a:pt x="556909" y="17124"/>
                  </a:lnTo>
                  <a:lnTo>
                    <a:pt x="506476" y="30353"/>
                  </a:lnTo>
                  <a:lnTo>
                    <a:pt x="457130" y="47222"/>
                  </a:lnTo>
                  <a:lnTo>
                    <a:pt x="409154" y="67667"/>
                  </a:lnTo>
                  <a:lnTo>
                    <a:pt x="362798" y="91569"/>
                  </a:lnTo>
                  <a:lnTo>
                    <a:pt x="318325" y="118795"/>
                  </a:lnTo>
                  <a:lnTo>
                    <a:pt x="275970" y="149199"/>
                  </a:lnTo>
                  <a:lnTo>
                    <a:pt x="235940" y="182632"/>
                  </a:lnTo>
                  <a:lnTo>
                    <a:pt x="198463" y="218901"/>
                  </a:lnTo>
                  <a:lnTo>
                    <a:pt x="163741" y="257810"/>
                  </a:lnTo>
                  <a:lnTo>
                    <a:pt x="131972" y="299150"/>
                  </a:lnTo>
                  <a:lnTo>
                    <a:pt x="103303" y="342715"/>
                  </a:lnTo>
                  <a:lnTo>
                    <a:pt x="77901" y="388261"/>
                  </a:lnTo>
                  <a:lnTo>
                    <a:pt x="55905" y="435533"/>
                  </a:lnTo>
                  <a:lnTo>
                    <a:pt x="37417" y="484297"/>
                  </a:lnTo>
                  <a:lnTo>
                    <a:pt x="22550" y="534289"/>
                  </a:lnTo>
                  <a:lnTo>
                    <a:pt x="11381" y="585233"/>
                  </a:lnTo>
                  <a:lnTo>
                    <a:pt x="3975" y="636841"/>
                  </a:lnTo>
                  <a:lnTo>
                    <a:pt x="356" y="688858"/>
                  </a:lnTo>
                  <a:lnTo>
                    <a:pt x="0" y="706247"/>
                  </a:lnTo>
                  <a:lnTo>
                    <a:pt x="712139" y="712165"/>
                  </a:lnTo>
                  <a:lnTo>
                    <a:pt x="712139" y="0"/>
                  </a:lnTo>
                  <a:close/>
                </a:path>
              </a:pathLst>
            </a:custGeom>
            <a:solidFill>
              <a:srgbClr val="FE8B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195894" y="2311425"/>
              <a:ext cx="712470" cy="712470"/>
            </a:xfrm>
            <a:custGeom>
              <a:avLst/>
              <a:gdLst/>
              <a:ahLst/>
              <a:cxnLst/>
              <a:rect l="l" t="t" r="r" b="b"/>
              <a:pathLst>
                <a:path w="712470" h="712469">
                  <a:moveTo>
                    <a:pt x="0" y="706247"/>
                  </a:moveTo>
                  <a:lnTo>
                    <a:pt x="2346" y="654158"/>
                  </a:lnTo>
                  <a:lnTo>
                    <a:pt x="8491" y="602372"/>
                  </a:lnTo>
                  <a:lnTo>
                    <a:pt x="18415" y="551172"/>
                  </a:lnTo>
                  <a:lnTo>
                    <a:pt x="32054" y="500837"/>
                  </a:lnTo>
                  <a:lnTo>
                    <a:pt x="49342" y="451645"/>
                  </a:lnTo>
                  <a:lnTo>
                    <a:pt x="70183" y="403836"/>
                  </a:lnTo>
                  <a:lnTo>
                    <a:pt x="94472" y="357684"/>
                  </a:lnTo>
                  <a:lnTo>
                    <a:pt x="122059" y="313436"/>
                  </a:lnTo>
                  <a:lnTo>
                    <a:pt x="152813" y="271337"/>
                  </a:lnTo>
                  <a:lnTo>
                    <a:pt x="186575" y="231584"/>
                  </a:lnTo>
                  <a:lnTo>
                    <a:pt x="223158" y="194410"/>
                  </a:lnTo>
                  <a:lnTo>
                    <a:pt x="262356" y="160020"/>
                  </a:lnTo>
                  <a:lnTo>
                    <a:pt x="303954" y="128587"/>
                  </a:lnTo>
                  <a:lnTo>
                    <a:pt x="347760" y="100280"/>
                  </a:lnTo>
                  <a:lnTo>
                    <a:pt x="393515" y="75252"/>
                  </a:lnTo>
                  <a:lnTo>
                    <a:pt x="440969" y="53644"/>
                  </a:lnTo>
                  <a:lnTo>
                    <a:pt x="489886" y="35574"/>
                  </a:lnTo>
                  <a:lnTo>
                    <a:pt x="539996" y="21121"/>
                  </a:lnTo>
                  <a:lnTo>
                    <a:pt x="591025" y="10375"/>
                  </a:lnTo>
                  <a:lnTo>
                    <a:pt x="642696" y="3403"/>
                  </a:lnTo>
                  <a:lnTo>
                    <a:pt x="694749" y="212"/>
                  </a:lnTo>
                  <a:lnTo>
                    <a:pt x="712139" y="0"/>
                  </a:lnTo>
                  <a:lnTo>
                    <a:pt x="712139" y="712165"/>
                  </a:lnTo>
                  <a:lnTo>
                    <a:pt x="0" y="706247"/>
                  </a:lnTo>
                  <a:close/>
                </a:path>
              </a:pathLst>
            </a:custGeom>
            <a:ln w="14243">
              <a:solidFill>
                <a:srgbClr val="24212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10400" y="3829050"/>
            <a:ext cx="180975" cy="180975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34375" y="3829050"/>
            <a:ext cx="180975" cy="180975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8580780" y="3767582"/>
            <a:ext cx="77978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20" dirty="0">
                <a:solidFill>
                  <a:srgbClr val="E5E0DF"/>
                </a:solidFill>
                <a:latin typeface="Lucida Sans Unicode"/>
                <a:cs typeface="Lucida Sans Unicode"/>
              </a:rPr>
              <a:t>Precision</a:t>
            </a:r>
            <a:endParaRPr sz="1400">
              <a:latin typeface="Lucida Sans Unicode"/>
              <a:cs typeface="Lucida Sans Unicode"/>
            </a:endParaRPr>
          </a:p>
        </p:txBody>
      </p:sp>
      <p:pic>
        <p:nvPicPr>
          <p:cNvPr id="20" name="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667875" y="3829050"/>
            <a:ext cx="180975" cy="180975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9909378" y="3767582"/>
            <a:ext cx="52387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10" dirty="0">
                <a:solidFill>
                  <a:srgbClr val="E5E0DF"/>
                </a:solidFill>
                <a:latin typeface="Lucida Sans Unicode"/>
                <a:cs typeface="Lucida Sans Unicode"/>
              </a:rPr>
              <a:t>Recall</a:t>
            </a:r>
            <a:endParaRPr sz="1400">
              <a:latin typeface="Lucida Sans Unicode"/>
              <a:cs typeface="Lucida Sans Unicode"/>
            </a:endParaRPr>
          </a:p>
        </p:txBody>
      </p:sp>
      <p:pic>
        <p:nvPicPr>
          <p:cNvPr id="22" name="object 2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010400" y="4200525"/>
            <a:ext cx="180975" cy="180975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7252195" y="3767582"/>
            <a:ext cx="787400" cy="6159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10" dirty="0">
                <a:solidFill>
                  <a:srgbClr val="E5E0DF"/>
                </a:solidFill>
                <a:latin typeface="Lucida Sans Unicode"/>
                <a:cs typeface="Lucida Sans Unicode"/>
              </a:rPr>
              <a:t>Accuracy</a:t>
            </a:r>
            <a:endParaRPr sz="14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240"/>
              </a:spcBef>
            </a:pPr>
            <a:r>
              <a:rPr sz="1400" spc="-180" dirty="0">
                <a:solidFill>
                  <a:srgbClr val="E5E0DF"/>
                </a:solidFill>
                <a:latin typeface="Lucida Sans Unicode"/>
                <a:cs typeface="Lucida Sans Unicode"/>
              </a:rPr>
              <a:t>F1-</a:t>
            </a:r>
            <a:r>
              <a:rPr sz="1400" spc="-10" dirty="0">
                <a:solidFill>
                  <a:srgbClr val="E5E0DF"/>
                </a:solidFill>
                <a:latin typeface="Lucida Sans Unicode"/>
                <a:cs typeface="Lucida Sans Unicode"/>
              </a:rPr>
              <a:t>Score</a:t>
            </a:r>
            <a:endParaRPr sz="14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"/>
            <a:ext cx="11430000" cy="8838947"/>
          </a:xfrm>
          <a:custGeom>
            <a:avLst/>
            <a:gdLst/>
            <a:ahLst/>
            <a:cxnLst/>
            <a:rect l="l" t="t" r="r" b="b"/>
            <a:pathLst>
              <a:path w="11430000" h="7810500">
                <a:moveTo>
                  <a:pt x="11430000" y="0"/>
                </a:moveTo>
                <a:lnTo>
                  <a:pt x="0" y="0"/>
                </a:lnTo>
                <a:lnTo>
                  <a:pt x="0" y="7810500"/>
                </a:lnTo>
                <a:lnTo>
                  <a:pt x="11430000" y="78105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242121">
              <a:alpha val="948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43750" y="253"/>
            <a:ext cx="4286250" cy="781024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0" dirty="0"/>
              <a:t>Advantages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619125" y="1314449"/>
            <a:ext cx="5886450" cy="1362075"/>
            <a:chOff x="619125" y="1314449"/>
            <a:chExt cx="5886450" cy="1362075"/>
          </a:xfrm>
        </p:grpSpPr>
        <p:sp>
          <p:nvSpPr>
            <p:cNvPr id="8" name="object 8"/>
            <p:cNvSpPr/>
            <p:nvPr/>
          </p:nvSpPr>
          <p:spPr>
            <a:xfrm>
              <a:off x="638175" y="1323974"/>
              <a:ext cx="5857875" cy="1343025"/>
            </a:xfrm>
            <a:custGeom>
              <a:avLst/>
              <a:gdLst/>
              <a:ahLst/>
              <a:cxnLst/>
              <a:rect l="l" t="t" r="r" b="b"/>
              <a:pathLst>
                <a:path w="5857875" h="1343025">
                  <a:moveTo>
                    <a:pt x="5807202" y="0"/>
                  </a:moveTo>
                  <a:lnTo>
                    <a:pt x="71194" y="0"/>
                  </a:lnTo>
                  <a:lnTo>
                    <a:pt x="66243" y="431"/>
                  </a:lnTo>
                  <a:lnTo>
                    <a:pt x="29706" y="13665"/>
                  </a:lnTo>
                  <a:lnTo>
                    <a:pt x="3884" y="45199"/>
                  </a:lnTo>
                  <a:lnTo>
                    <a:pt x="0" y="62293"/>
                  </a:lnTo>
                  <a:lnTo>
                    <a:pt x="0" y="1276350"/>
                  </a:lnTo>
                  <a:lnTo>
                    <a:pt x="0" y="1280731"/>
                  </a:lnTo>
                  <a:lnTo>
                    <a:pt x="15622" y="1317028"/>
                  </a:lnTo>
                  <a:lnTo>
                    <a:pt x="51663" y="1339621"/>
                  </a:lnTo>
                  <a:lnTo>
                    <a:pt x="71194" y="1343025"/>
                  </a:lnTo>
                  <a:lnTo>
                    <a:pt x="5807202" y="1343025"/>
                  </a:lnTo>
                  <a:lnTo>
                    <a:pt x="5844501" y="1324622"/>
                  </a:lnTo>
                  <a:lnTo>
                    <a:pt x="5857875" y="1292352"/>
                  </a:lnTo>
                  <a:lnTo>
                    <a:pt x="5857875" y="50673"/>
                  </a:lnTo>
                  <a:lnTo>
                    <a:pt x="5839472" y="13360"/>
                  </a:lnTo>
                  <a:lnTo>
                    <a:pt x="5810732" y="342"/>
                  </a:lnTo>
                  <a:lnTo>
                    <a:pt x="5807202" y="0"/>
                  </a:lnTo>
                  <a:close/>
                </a:path>
              </a:pathLst>
            </a:custGeom>
            <a:solidFill>
              <a:srgbClr val="242121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39013" y="1314462"/>
              <a:ext cx="5866765" cy="1362075"/>
            </a:xfrm>
            <a:custGeom>
              <a:avLst/>
              <a:gdLst/>
              <a:ahLst/>
              <a:cxnLst/>
              <a:rect l="l" t="t" r="r" b="b"/>
              <a:pathLst>
                <a:path w="5866765" h="1362075">
                  <a:moveTo>
                    <a:pt x="5866460" y="54825"/>
                  </a:moveTo>
                  <a:lnTo>
                    <a:pt x="5864936" y="47167"/>
                  </a:lnTo>
                  <a:lnTo>
                    <a:pt x="5858459" y="31546"/>
                  </a:lnTo>
                  <a:lnTo>
                    <a:pt x="5853849" y="24650"/>
                  </a:lnTo>
                  <a:lnTo>
                    <a:pt x="5848350" y="19151"/>
                  </a:lnTo>
                  <a:lnTo>
                    <a:pt x="5847880" y="18669"/>
                  </a:lnTo>
                  <a:lnTo>
                    <a:pt x="5841898" y="12700"/>
                  </a:lnTo>
                  <a:lnTo>
                    <a:pt x="5835002" y="8089"/>
                  </a:lnTo>
                  <a:lnTo>
                    <a:pt x="5819381" y="1612"/>
                  </a:lnTo>
                  <a:lnTo>
                    <a:pt x="5811240" y="0"/>
                  </a:lnTo>
                  <a:lnTo>
                    <a:pt x="75349" y="0"/>
                  </a:lnTo>
                  <a:lnTo>
                    <a:pt x="33007" y="12827"/>
                  </a:lnTo>
                  <a:lnTo>
                    <a:pt x="4953" y="47040"/>
                  </a:lnTo>
                  <a:lnTo>
                    <a:pt x="0" y="65430"/>
                  </a:lnTo>
                  <a:lnTo>
                    <a:pt x="1092" y="61328"/>
                  </a:lnTo>
                  <a:lnTo>
                    <a:pt x="8826" y="47332"/>
                  </a:lnTo>
                  <a:lnTo>
                    <a:pt x="46189" y="23406"/>
                  </a:lnTo>
                  <a:lnTo>
                    <a:pt x="72542" y="19151"/>
                  </a:lnTo>
                  <a:lnTo>
                    <a:pt x="5803912" y="19151"/>
                  </a:lnTo>
                  <a:lnTo>
                    <a:pt x="5840133" y="39027"/>
                  </a:lnTo>
                  <a:lnTo>
                    <a:pt x="5847499" y="63754"/>
                  </a:lnTo>
                  <a:lnTo>
                    <a:pt x="5847499" y="1298321"/>
                  </a:lnTo>
                  <a:lnTo>
                    <a:pt x="5846724" y="1306766"/>
                  </a:lnTo>
                  <a:lnTo>
                    <a:pt x="5846686" y="1307236"/>
                  </a:lnTo>
                  <a:lnTo>
                    <a:pt x="5819927" y="1339761"/>
                  </a:lnTo>
                  <a:lnTo>
                    <a:pt x="5802795" y="1343025"/>
                  </a:lnTo>
                  <a:lnTo>
                    <a:pt x="75349" y="1343025"/>
                  </a:lnTo>
                  <a:lnTo>
                    <a:pt x="33007" y="1333398"/>
                  </a:lnTo>
                  <a:lnTo>
                    <a:pt x="1092" y="1300746"/>
                  </a:lnTo>
                  <a:lnTo>
                    <a:pt x="0" y="1296631"/>
                  </a:lnTo>
                  <a:lnTo>
                    <a:pt x="609" y="1300746"/>
                  </a:lnTo>
                  <a:lnTo>
                    <a:pt x="21475" y="1339761"/>
                  </a:lnTo>
                  <a:lnTo>
                    <a:pt x="60490" y="1360614"/>
                  </a:lnTo>
                  <a:lnTo>
                    <a:pt x="75349" y="1362075"/>
                  </a:lnTo>
                  <a:lnTo>
                    <a:pt x="5811240" y="1362075"/>
                  </a:lnTo>
                  <a:lnTo>
                    <a:pt x="5819381" y="1360462"/>
                  </a:lnTo>
                  <a:lnTo>
                    <a:pt x="5835002" y="1353985"/>
                  </a:lnTo>
                  <a:lnTo>
                    <a:pt x="5841898" y="1349375"/>
                  </a:lnTo>
                  <a:lnTo>
                    <a:pt x="5847880" y="1343393"/>
                  </a:lnTo>
                  <a:lnTo>
                    <a:pt x="5848248" y="1343025"/>
                  </a:lnTo>
                  <a:lnTo>
                    <a:pt x="5848451" y="1343025"/>
                  </a:lnTo>
                  <a:lnTo>
                    <a:pt x="5853849" y="1337424"/>
                  </a:lnTo>
                  <a:lnTo>
                    <a:pt x="5858459" y="1330528"/>
                  </a:lnTo>
                  <a:lnTo>
                    <a:pt x="5864885" y="1315034"/>
                  </a:lnTo>
                  <a:lnTo>
                    <a:pt x="5866460" y="1307236"/>
                  </a:lnTo>
                  <a:lnTo>
                    <a:pt x="5866460" y="54825"/>
                  </a:lnTo>
                  <a:close/>
                </a:path>
              </a:pathLst>
            </a:custGeom>
            <a:solidFill>
              <a:srgbClr val="961B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19125" y="1314449"/>
              <a:ext cx="76200" cy="1362075"/>
            </a:xfrm>
            <a:custGeom>
              <a:avLst/>
              <a:gdLst/>
              <a:ahLst/>
              <a:cxnLst/>
              <a:rect l="l" t="t" r="r" b="b"/>
              <a:pathLst>
                <a:path w="76200" h="1362075">
                  <a:moveTo>
                    <a:pt x="76200" y="0"/>
                  </a:moveTo>
                  <a:lnTo>
                    <a:pt x="59570" y="0"/>
                  </a:lnTo>
                  <a:lnTo>
                    <a:pt x="55424" y="406"/>
                  </a:lnTo>
                  <a:lnTo>
                    <a:pt x="15716" y="21640"/>
                  </a:lnTo>
                  <a:lnTo>
                    <a:pt x="0" y="59575"/>
                  </a:lnTo>
                  <a:lnTo>
                    <a:pt x="0" y="1298321"/>
                  </a:lnTo>
                  <a:lnTo>
                    <a:pt x="0" y="1302499"/>
                  </a:lnTo>
                  <a:lnTo>
                    <a:pt x="15716" y="1340446"/>
                  </a:lnTo>
                  <a:lnTo>
                    <a:pt x="55424" y="1361668"/>
                  </a:lnTo>
                  <a:lnTo>
                    <a:pt x="59570" y="1362075"/>
                  </a:lnTo>
                  <a:lnTo>
                    <a:pt x="76200" y="1362075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F203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883245" y="1468437"/>
            <a:ext cx="5112385" cy="121199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IN" sz="1650" b="1" dirty="0">
                <a:solidFill>
                  <a:schemeClr val="bg1"/>
                </a:solidFill>
                <a:latin typeface="Trebuchet MS" panose="020B0603020202020204" pitchFamily="34" charset="0"/>
              </a:rPr>
              <a:t>Prevents</a:t>
            </a:r>
            <a:r>
              <a:rPr lang="en-IN" sz="1600" b="1" dirty="0">
                <a:solidFill>
                  <a:schemeClr val="bg1"/>
                </a:solidFill>
                <a:latin typeface="Trebuchet MS" panose="020B0603020202020204" pitchFamily="34" charset="0"/>
              </a:rPr>
              <a:t> </a:t>
            </a:r>
            <a:r>
              <a:rPr lang="en-IN" sz="1650" b="1" dirty="0">
                <a:solidFill>
                  <a:schemeClr val="bg1"/>
                </a:solidFill>
                <a:latin typeface="Trebuchet MS" panose="020B0603020202020204" pitchFamily="34" charset="0"/>
              </a:rPr>
              <a:t>Misinformation</a:t>
            </a:r>
          </a:p>
          <a:p>
            <a:pPr marL="12700" marR="5080">
              <a:lnSpc>
                <a:spcPct val="138400"/>
              </a:lnSpc>
              <a:spcBef>
                <a:spcPts val="625"/>
              </a:spcBef>
            </a:pPr>
            <a:r>
              <a:rPr lang="en-US" sz="14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Helps identify fake or manipulated videos, reducing the spread of false information on social media and digital platforms.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619125" y="2857499"/>
            <a:ext cx="5886450" cy="1362075"/>
            <a:chOff x="619125" y="2857499"/>
            <a:chExt cx="5886450" cy="1362075"/>
          </a:xfrm>
        </p:grpSpPr>
        <p:sp>
          <p:nvSpPr>
            <p:cNvPr id="13" name="object 13"/>
            <p:cNvSpPr/>
            <p:nvPr/>
          </p:nvSpPr>
          <p:spPr>
            <a:xfrm>
              <a:off x="638175" y="2867024"/>
              <a:ext cx="5857875" cy="1343025"/>
            </a:xfrm>
            <a:custGeom>
              <a:avLst/>
              <a:gdLst/>
              <a:ahLst/>
              <a:cxnLst/>
              <a:rect l="l" t="t" r="r" b="b"/>
              <a:pathLst>
                <a:path w="5857875" h="1343025">
                  <a:moveTo>
                    <a:pt x="5807202" y="0"/>
                  </a:moveTo>
                  <a:lnTo>
                    <a:pt x="71194" y="0"/>
                  </a:lnTo>
                  <a:lnTo>
                    <a:pt x="66243" y="431"/>
                  </a:lnTo>
                  <a:lnTo>
                    <a:pt x="29706" y="13665"/>
                  </a:lnTo>
                  <a:lnTo>
                    <a:pt x="3884" y="45199"/>
                  </a:lnTo>
                  <a:lnTo>
                    <a:pt x="0" y="62293"/>
                  </a:lnTo>
                  <a:lnTo>
                    <a:pt x="0" y="1276350"/>
                  </a:lnTo>
                  <a:lnTo>
                    <a:pt x="0" y="1280731"/>
                  </a:lnTo>
                  <a:lnTo>
                    <a:pt x="15622" y="1317028"/>
                  </a:lnTo>
                  <a:lnTo>
                    <a:pt x="51663" y="1339621"/>
                  </a:lnTo>
                  <a:lnTo>
                    <a:pt x="71194" y="1343025"/>
                  </a:lnTo>
                  <a:lnTo>
                    <a:pt x="5807202" y="1343025"/>
                  </a:lnTo>
                  <a:lnTo>
                    <a:pt x="5844501" y="1324622"/>
                  </a:lnTo>
                  <a:lnTo>
                    <a:pt x="5857875" y="1292352"/>
                  </a:lnTo>
                  <a:lnTo>
                    <a:pt x="5857875" y="50673"/>
                  </a:lnTo>
                  <a:lnTo>
                    <a:pt x="5839472" y="13360"/>
                  </a:lnTo>
                  <a:lnTo>
                    <a:pt x="5810732" y="342"/>
                  </a:lnTo>
                  <a:lnTo>
                    <a:pt x="5807202" y="0"/>
                  </a:lnTo>
                  <a:close/>
                </a:path>
              </a:pathLst>
            </a:custGeom>
            <a:solidFill>
              <a:srgbClr val="242121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39013" y="2857512"/>
              <a:ext cx="5866765" cy="1362075"/>
            </a:xfrm>
            <a:custGeom>
              <a:avLst/>
              <a:gdLst/>
              <a:ahLst/>
              <a:cxnLst/>
              <a:rect l="l" t="t" r="r" b="b"/>
              <a:pathLst>
                <a:path w="5866765" h="1362075">
                  <a:moveTo>
                    <a:pt x="5866460" y="54825"/>
                  </a:moveTo>
                  <a:lnTo>
                    <a:pt x="5864936" y="47167"/>
                  </a:lnTo>
                  <a:lnTo>
                    <a:pt x="5858459" y="31546"/>
                  </a:lnTo>
                  <a:lnTo>
                    <a:pt x="5853849" y="24650"/>
                  </a:lnTo>
                  <a:lnTo>
                    <a:pt x="5848350" y="19151"/>
                  </a:lnTo>
                  <a:lnTo>
                    <a:pt x="5847880" y="18669"/>
                  </a:lnTo>
                  <a:lnTo>
                    <a:pt x="5841898" y="12700"/>
                  </a:lnTo>
                  <a:lnTo>
                    <a:pt x="5835002" y="8089"/>
                  </a:lnTo>
                  <a:lnTo>
                    <a:pt x="5819381" y="1612"/>
                  </a:lnTo>
                  <a:lnTo>
                    <a:pt x="5811240" y="0"/>
                  </a:lnTo>
                  <a:lnTo>
                    <a:pt x="75349" y="0"/>
                  </a:lnTo>
                  <a:lnTo>
                    <a:pt x="33007" y="12827"/>
                  </a:lnTo>
                  <a:lnTo>
                    <a:pt x="4953" y="47040"/>
                  </a:lnTo>
                  <a:lnTo>
                    <a:pt x="0" y="65430"/>
                  </a:lnTo>
                  <a:lnTo>
                    <a:pt x="1092" y="61328"/>
                  </a:lnTo>
                  <a:lnTo>
                    <a:pt x="8826" y="47332"/>
                  </a:lnTo>
                  <a:lnTo>
                    <a:pt x="46189" y="23406"/>
                  </a:lnTo>
                  <a:lnTo>
                    <a:pt x="72542" y="19151"/>
                  </a:lnTo>
                  <a:lnTo>
                    <a:pt x="5803912" y="19151"/>
                  </a:lnTo>
                  <a:lnTo>
                    <a:pt x="5840133" y="39027"/>
                  </a:lnTo>
                  <a:lnTo>
                    <a:pt x="5847499" y="63754"/>
                  </a:lnTo>
                  <a:lnTo>
                    <a:pt x="5847499" y="1298321"/>
                  </a:lnTo>
                  <a:lnTo>
                    <a:pt x="5846724" y="1306766"/>
                  </a:lnTo>
                  <a:lnTo>
                    <a:pt x="5846686" y="1307236"/>
                  </a:lnTo>
                  <a:lnTo>
                    <a:pt x="5819927" y="1339761"/>
                  </a:lnTo>
                  <a:lnTo>
                    <a:pt x="5802795" y="1343025"/>
                  </a:lnTo>
                  <a:lnTo>
                    <a:pt x="75349" y="1343025"/>
                  </a:lnTo>
                  <a:lnTo>
                    <a:pt x="33007" y="1333398"/>
                  </a:lnTo>
                  <a:lnTo>
                    <a:pt x="1092" y="1300746"/>
                  </a:lnTo>
                  <a:lnTo>
                    <a:pt x="0" y="1296631"/>
                  </a:lnTo>
                  <a:lnTo>
                    <a:pt x="609" y="1300746"/>
                  </a:lnTo>
                  <a:lnTo>
                    <a:pt x="21475" y="1339761"/>
                  </a:lnTo>
                  <a:lnTo>
                    <a:pt x="60490" y="1360614"/>
                  </a:lnTo>
                  <a:lnTo>
                    <a:pt x="75349" y="1362075"/>
                  </a:lnTo>
                  <a:lnTo>
                    <a:pt x="5811240" y="1362075"/>
                  </a:lnTo>
                  <a:lnTo>
                    <a:pt x="5819381" y="1360449"/>
                  </a:lnTo>
                  <a:lnTo>
                    <a:pt x="5835002" y="1353985"/>
                  </a:lnTo>
                  <a:lnTo>
                    <a:pt x="5841898" y="1349375"/>
                  </a:lnTo>
                  <a:lnTo>
                    <a:pt x="5847880" y="1343393"/>
                  </a:lnTo>
                  <a:lnTo>
                    <a:pt x="5848248" y="1343025"/>
                  </a:lnTo>
                  <a:lnTo>
                    <a:pt x="5848451" y="1343025"/>
                  </a:lnTo>
                  <a:lnTo>
                    <a:pt x="5853849" y="1337424"/>
                  </a:lnTo>
                  <a:lnTo>
                    <a:pt x="5858459" y="1330528"/>
                  </a:lnTo>
                  <a:lnTo>
                    <a:pt x="5864885" y="1315034"/>
                  </a:lnTo>
                  <a:lnTo>
                    <a:pt x="5866460" y="1307236"/>
                  </a:lnTo>
                  <a:lnTo>
                    <a:pt x="5866460" y="54825"/>
                  </a:lnTo>
                  <a:close/>
                </a:path>
              </a:pathLst>
            </a:custGeom>
            <a:solidFill>
              <a:srgbClr val="961B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19125" y="2857499"/>
              <a:ext cx="76200" cy="1362075"/>
            </a:xfrm>
            <a:custGeom>
              <a:avLst/>
              <a:gdLst/>
              <a:ahLst/>
              <a:cxnLst/>
              <a:rect l="l" t="t" r="r" b="b"/>
              <a:pathLst>
                <a:path w="76200" h="1362075">
                  <a:moveTo>
                    <a:pt x="76200" y="0"/>
                  </a:moveTo>
                  <a:lnTo>
                    <a:pt x="59570" y="0"/>
                  </a:lnTo>
                  <a:lnTo>
                    <a:pt x="55424" y="406"/>
                  </a:lnTo>
                  <a:lnTo>
                    <a:pt x="15716" y="21640"/>
                  </a:lnTo>
                  <a:lnTo>
                    <a:pt x="0" y="59575"/>
                  </a:lnTo>
                  <a:lnTo>
                    <a:pt x="0" y="1298321"/>
                  </a:lnTo>
                  <a:lnTo>
                    <a:pt x="0" y="1302499"/>
                  </a:lnTo>
                  <a:lnTo>
                    <a:pt x="15716" y="1340446"/>
                  </a:lnTo>
                  <a:lnTo>
                    <a:pt x="55424" y="1361668"/>
                  </a:lnTo>
                  <a:lnTo>
                    <a:pt x="59570" y="1362075"/>
                  </a:lnTo>
                  <a:lnTo>
                    <a:pt x="76200" y="1362075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F203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883245" y="3011487"/>
            <a:ext cx="5267325" cy="95250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10" dirty="0">
                <a:solidFill>
                  <a:srgbClr val="E5E0DF"/>
                </a:solidFill>
                <a:latin typeface="Trebuchet MS"/>
                <a:cs typeface="Trebuchet MS"/>
              </a:rPr>
              <a:t>Real-</a:t>
            </a:r>
            <a:r>
              <a:rPr sz="1650" b="1" spc="-45" dirty="0">
                <a:solidFill>
                  <a:srgbClr val="E5E0DF"/>
                </a:solidFill>
                <a:latin typeface="Trebuchet MS"/>
                <a:cs typeface="Trebuchet MS"/>
              </a:rPr>
              <a:t>time</a:t>
            </a:r>
            <a:r>
              <a:rPr sz="1650" b="1" spc="-160" dirty="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sz="1650" b="1" dirty="0">
                <a:solidFill>
                  <a:srgbClr val="E5E0DF"/>
                </a:solidFill>
                <a:latin typeface="Trebuchet MS"/>
                <a:cs typeface="Trebuchet MS"/>
              </a:rPr>
              <a:t>Processing</a:t>
            </a:r>
            <a:r>
              <a:rPr sz="1650" b="1" spc="-160" dirty="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sz="1650" b="1" spc="-10" dirty="0">
                <a:solidFill>
                  <a:srgbClr val="E5E0DF"/>
                </a:solidFill>
                <a:latin typeface="Trebuchet MS"/>
                <a:cs typeface="Trebuchet MS"/>
              </a:rPr>
              <a:t>Capability</a:t>
            </a:r>
            <a:endParaRPr sz="1650" dirty="0">
              <a:latin typeface="Trebuchet MS"/>
              <a:cs typeface="Trebuchet MS"/>
            </a:endParaRPr>
          </a:p>
          <a:p>
            <a:pPr marL="12700" marR="5080">
              <a:lnSpc>
                <a:spcPct val="133900"/>
              </a:lnSpc>
              <a:spcBef>
                <a:spcPts val="775"/>
              </a:spcBef>
            </a:pPr>
            <a:r>
              <a:rPr sz="1400" spc="-55" dirty="0">
                <a:solidFill>
                  <a:srgbClr val="E5E0DF"/>
                </a:solidFill>
                <a:latin typeface="Lucida Sans Unicode"/>
                <a:cs typeface="Lucida Sans Unicode"/>
              </a:rPr>
              <a:t>Designed</a:t>
            </a:r>
            <a:r>
              <a:rPr sz="1400" spc="-7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for</a:t>
            </a:r>
            <a:r>
              <a:rPr sz="1400" spc="-7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E5E0DF"/>
                </a:solidFill>
                <a:latin typeface="Lucida Sans Unicode"/>
                <a:cs typeface="Lucida Sans Unicode"/>
              </a:rPr>
              <a:t>efficient</a:t>
            </a:r>
            <a:r>
              <a:rPr sz="1400" spc="-7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50" dirty="0">
                <a:solidFill>
                  <a:srgbClr val="E5E0DF"/>
                </a:solidFill>
                <a:latin typeface="Lucida Sans Unicode"/>
                <a:cs typeface="Lucida Sans Unicode"/>
              </a:rPr>
              <a:t>analysis,</a:t>
            </a:r>
            <a:r>
              <a:rPr sz="1400" spc="-7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45" dirty="0">
                <a:solidFill>
                  <a:srgbClr val="E5E0DF"/>
                </a:solidFill>
                <a:latin typeface="Lucida Sans Unicode"/>
                <a:cs typeface="Lucida Sans Unicode"/>
              </a:rPr>
              <a:t>enabling</a:t>
            </a:r>
            <a:r>
              <a:rPr sz="1400" spc="-7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E5E0DF"/>
                </a:solidFill>
                <a:latin typeface="Lucida Sans Unicode"/>
                <a:cs typeface="Lucida Sans Unicode"/>
              </a:rPr>
              <a:t>near</a:t>
            </a:r>
            <a:r>
              <a:rPr sz="1400" spc="-7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85" dirty="0">
                <a:solidFill>
                  <a:srgbClr val="E5E0DF"/>
                </a:solidFill>
                <a:latin typeface="Lucida Sans Unicode"/>
                <a:cs typeface="Lucida Sans Unicode"/>
              </a:rPr>
              <a:t>real-</a:t>
            </a:r>
            <a:r>
              <a:rPr sz="1400" spc="-45" dirty="0">
                <a:solidFill>
                  <a:srgbClr val="E5E0DF"/>
                </a:solidFill>
                <a:latin typeface="Lucida Sans Unicode"/>
                <a:cs typeface="Lucida Sans Unicode"/>
              </a:rPr>
              <a:t>time</a:t>
            </a:r>
            <a:r>
              <a:rPr sz="1400" spc="-7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E5E0DF"/>
                </a:solidFill>
                <a:latin typeface="Lucida Sans Unicode"/>
                <a:cs typeface="Lucida Sans Unicode"/>
              </a:rPr>
              <a:t>detection </a:t>
            </a:r>
            <a:r>
              <a:rPr sz="1400" spc="-40" dirty="0">
                <a:solidFill>
                  <a:srgbClr val="E5E0DF"/>
                </a:solidFill>
                <a:latin typeface="Lucida Sans Unicode"/>
                <a:cs typeface="Lucida Sans Unicode"/>
              </a:rPr>
              <a:t>crucial</a:t>
            </a:r>
            <a:r>
              <a:rPr sz="1400" spc="-7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for </a:t>
            </a:r>
            <a:r>
              <a:rPr sz="1400" spc="-30" dirty="0">
                <a:solidFill>
                  <a:srgbClr val="E5E0DF"/>
                </a:solidFill>
                <a:latin typeface="Lucida Sans Unicode"/>
                <a:cs typeface="Lucida Sans Unicode"/>
              </a:rPr>
              <a:t>live</a:t>
            </a:r>
            <a:r>
              <a:rPr sz="14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60" dirty="0">
                <a:solidFill>
                  <a:srgbClr val="E5E0DF"/>
                </a:solidFill>
                <a:latin typeface="Lucida Sans Unicode"/>
                <a:cs typeface="Lucida Sans Unicode"/>
              </a:rPr>
              <a:t>streaming</a:t>
            </a:r>
            <a:r>
              <a:rPr sz="1400" spc="-7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50" dirty="0">
                <a:solidFill>
                  <a:srgbClr val="E5E0DF"/>
                </a:solidFill>
                <a:latin typeface="Lucida Sans Unicode"/>
                <a:cs typeface="Lucida Sans Unicode"/>
              </a:rPr>
              <a:t>and</a:t>
            </a:r>
            <a:r>
              <a:rPr sz="14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E5E0DF"/>
                </a:solidFill>
                <a:latin typeface="Lucida Sans Unicode"/>
                <a:cs typeface="Lucida Sans Unicode"/>
              </a:rPr>
              <a:t>social</a:t>
            </a:r>
            <a:r>
              <a:rPr sz="14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50" dirty="0">
                <a:solidFill>
                  <a:srgbClr val="E5E0DF"/>
                </a:solidFill>
                <a:latin typeface="Lucida Sans Unicode"/>
                <a:cs typeface="Lucida Sans Unicode"/>
              </a:rPr>
              <a:t>media</a:t>
            </a:r>
            <a:r>
              <a:rPr sz="1400" spc="-7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E5E0DF"/>
                </a:solidFill>
                <a:latin typeface="Lucida Sans Unicode"/>
                <a:cs typeface="Lucida Sans Unicode"/>
              </a:rPr>
              <a:t>platforms.</a:t>
            </a:r>
            <a:endParaRPr sz="1400" dirty="0">
              <a:latin typeface="Lucida Sans Unicode"/>
              <a:cs typeface="Lucida Sans Unicode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19125" y="4400550"/>
            <a:ext cx="5886450" cy="1362075"/>
            <a:chOff x="619125" y="4400550"/>
            <a:chExt cx="5886450" cy="1362075"/>
          </a:xfrm>
        </p:grpSpPr>
        <p:sp>
          <p:nvSpPr>
            <p:cNvPr id="18" name="object 18"/>
            <p:cNvSpPr/>
            <p:nvPr/>
          </p:nvSpPr>
          <p:spPr>
            <a:xfrm>
              <a:off x="638175" y="4410075"/>
              <a:ext cx="5857875" cy="1343025"/>
            </a:xfrm>
            <a:custGeom>
              <a:avLst/>
              <a:gdLst/>
              <a:ahLst/>
              <a:cxnLst/>
              <a:rect l="l" t="t" r="r" b="b"/>
              <a:pathLst>
                <a:path w="5857875" h="1343025">
                  <a:moveTo>
                    <a:pt x="5807202" y="0"/>
                  </a:moveTo>
                  <a:lnTo>
                    <a:pt x="71194" y="0"/>
                  </a:lnTo>
                  <a:lnTo>
                    <a:pt x="66243" y="431"/>
                  </a:lnTo>
                  <a:lnTo>
                    <a:pt x="29706" y="13665"/>
                  </a:lnTo>
                  <a:lnTo>
                    <a:pt x="3884" y="45199"/>
                  </a:lnTo>
                  <a:lnTo>
                    <a:pt x="0" y="62293"/>
                  </a:lnTo>
                  <a:lnTo>
                    <a:pt x="0" y="1276350"/>
                  </a:lnTo>
                  <a:lnTo>
                    <a:pt x="0" y="1280731"/>
                  </a:lnTo>
                  <a:lnTo>
                    <a:pt x="15622" y="1317028"/>
                  </a:lnTo>
                  <a:lnTo>
                    <a:pt x="51663" y="1339621"/>
                  </a:lnTo>
                  <a:lnTo>
                    <a:pt x="71194" y="1343025"/>
                  </a:lnTo>
                  <a:lnTo>
                    <a:pt x="5807202" y="1343025"/>
                  </a:lnTo>
                  <a:lnTo>
                    <a:pt x="5844501" y="1324622"/>
                  </a:lnTo>
                  <a:lnTo>
                    <a:pt x="5857875" y="1292352"/>
                  </a:lnTo>
                  <a:lnTo>
                    <a:pt x="5857875" y="50673"/>
                  </a:lnTo>
                  <a:lnTo>
                    <a:pt x="5839472" y="13360"/>
                  </a:lnTo>
                  <a:lnTo>
                    <a:pt x="5810732" y="342"/>
                  </a:lnTo>
                  <a:lnTo>
                    <a:pt x="5807202" y="0"/>
                  </a:lnTo>
                  <a:close/>
                </a:path>
              </a:pathLst>
            </a:custGeom>
            <a:solidFill>
              <a:srgbClr val="242121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39013" y="4400562"/>
              <a:ext cx="5866765" cy="1362075"/>
            </a:xfrm>
            <a:custGeom>
              <a:avLst/>
              <a:gdLst/>
              <a:ahLst/>
              <a:cxnLst/>
              <a:rect l="l" t="t" r="r" b="b"/>
              <a:pathLst>
                <a:path w="5866765" h="1362075">
                  <a:moveTo>
                    <a:pt x="5866460" y="54825"/>
                  </a:moveTo>
                  <a:lnTo>
                    <a:pt x="5864936" y="47167"/>
                  </a:lnTo>
                  <a:lnTo>
                    <a:pt x="5858459" y="31546"/>
                  </a:lnTo>
                  <a:lnTo>
                    <a:pt x="5853849" y="24650"/>
                  </a:lnTo>
                  <a:lnTo>
                    <a:pt x="5848350" y="19151"/>
                  </a:lnTo>
                  <a:lnTo>
                    <a:pt x="5847880" y="18669"/>
                  </a:lnTo>
                  <a:lnTo>
                    <a:pt x="5841898" y="12700"/>
                  </a:lnTo>
                  <a:lnTo>
                    <a:pt x="5835002" y="8089"/>
                  </a:lnTo>
                  <a:lnTo>
                    <a:pt x="5819381" y="1612"/>
                  </a:lnTo>
                  <a:lnTo>
                    <a:pt x="5811240" y="0"/>
                  </a:lnTo>
                  <a:lnTo>
                    <a:pt x="75349" y="0"/>
                  </a:lnTo>
                  <a:lnTo>
                    <a:pt x="33007" y="12827"/>
                  </a:lnTo>
                  <a:lnTo>
                    <a:pt x="4953" y="47040"/>
                  </a:lnTo>
                  <a:lnTo>
                    <a:pt x="0" y="65430"/>
                  </a:lnTo>
                  <a:lnTo>
                    <a:pt x="1092" y="61328"/>
                  </a:lnTo>
                  <a:lnTo>
                    <a:pt x="8826" y="47332"/>
                  </a:lnTo>
                  <a:lnTo>
                    <a:pt x="46189" y="23393"/>
                  </a:lnTo>
                  <a:lnTo>
                    <a:pt x="72542" y="19151"/>
                  </a:lnTo>
                  <a:lnTo>
                    <a:pt x="5803912" y="19151"/>
                  </a:lnTo>
                  <a:lnTo>
                    <a:pt x="5840133" y="39027"/>
                  </a:lnTo>
                  <a:lnTo>
                    <a:pt x="5847499" y="63754"/>
                  </a:lnTo>
                  <a:lnTo>
                    <a:pt x="5847499" y="1298321"/>
                  </a:lnTo>
                  <a:lnTo>
                    <a:pt x="5846724" y="1306766"/>
                  </a:lnTo>
                  <a:lnTo>
                    <a:pt x="5846686" y="1307236"/>
                  </a:lnTo>
                  <a:lnTo>
                    <a:pt x="5819927" y="1339761"/>
                  </a:lnTo>
                  <a:lnTo>
                    <a:pt x="5802795" y="1343025"/>
                  </a:lnTo>
                  <a:lnTo>
                    <a:pt x="75349" y="1343025"/>
                  </a:lnTo>
                  <a:lnTo>
                    <a:pt x="33007" y="1333398"/>
                  </a:lnTo>
                  <a:lnTo>
                    <a:pt x="1092" y="1300746"/>
                  </a:lnTo>
                  <a:lnTo>
                    <a:pt x="0" y="1296631"/>
                  </a:lnTo>
                  <a:lnTo>
                    <a:pt x="609" y="1300746"/>
                  </a:lnTo>
                  <a:lnTo>
                    <a:pt x="21475" y="1339761"/>
                  </a:lnTo>
                  <a:lnTo>
                    <a:pt x="60490" y="1360614"/>
                  </a:lnTo>
                  <a:lnTo>
                    <a:pt x="75349" y="1362075"/>
                  </a:lnTo>
                  <a:lnTo>
                    <a:pt x="5811240" y="1362075"/>
                  </a:lnTo>
                  <a:lnTo>
                    <a:pt x="5819381" y="1360449"/>
                  </a:lnTo>
                  <a:lnTo>
                    <a:pt x="5835002" y="1353985"/>
                  </a:lnTo>
                  <a:lnTo>
                    <a:pt x="5841898" y="1349375"/>
                  </a:lnTo>
                  <a:lnTo>
                    <a:pt x="5847880" y="1343393"/>
                  </a:lnTo>
                  <a:lnTo>
                    <a:pt x="5848248" y="1343025"/>
                  </a:lnTo>
                  <a:lnTo>
                    <a:pt x="5848451" y="1343025"/>
                  </a:lnTo>
                  <a:lnTo>
                    <a:pt x="5853849" y="1337424"/>
                  </a:lnTo>
                  <a:lnTo>
                    <a:pt x="5858459" y="1330528"/>
                  </a:lnTo>
                  <a:lnTo>
                    <a:pt x="5864885" y="1315034"/>
                  </a:lnTo>
                  <a:lnTo>
                    <a:pt x="5866460" y="1307236"/>
                  </a:lnTo>
                  <a:lnTo>
                    <a:pt x="5866460" y="54825"/>
                  </a:lnTo>
                  <a:close/>
                </a:path>
              </a:pathLst>
            </a:custGeom>
            <a:solidFill>
              <a:srgbClr val="961B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19125" y="4400550"/>
              <a:ext cx="76200" cy="1362075"/>
            </a:xfrm>
            <a:custGeom>
              <a:avLst/>
              <a:gdLst/>
              <a:ahLst/>
              <a:cxnLst/>
              <a:rect l="l" t="t" r="r" b="b"/>
              <a:pathLst>
                <a:path w="76200" h="1362075">
                  <a:moveTo>
                    <a:pt x="76200" y="0"/>
                  </a:moveTo>
                  <a:lnTo>
                    <a:pt x="59570" y="0"/>
                  </a:lnTo>
                  <a:lnTo>
                    <a:pt x="55424" y="406"/>
                  </a:lnTo>
                  <a:lnTo>
                    <a:pt x="15716" y="21640"/>
                  </a:lnTo>
                  <a:lnTo>
                    <a:pt x="0" y="59575"/>
                  </a:lnTo>
                  <a:lnTo>
                    <a:pt x="0" y="1298321"/>
                  </a:lnTo>
                  <a:lnTo>
                    <a:pt x="0" y="1302499"/>
                  </a:lnTo>
                  <a:lnTo>
                    <a:pt x="15716" y="1340434"/>
                  </a:lnTo>
                  <a:lnTo>
                    <a:pt x="55424" y="1361668"/>
                  </a:lnTo>
                  <a:lnTo>
                    <a:pt x="59570" y="1362075"/>
                  </a:lnTo>
                  <a:lnTo>
                    <a:pt x="76200" y="1362075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F203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883245" y="4554537"/>
            <a:ext cx="5351145" cy="9251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IN" sz="1650" b="1" dirty="0">
                <a:solidFill>
                  <a:schemeClr val="bg1"/>
                </a:solidFill>
                <a:latin typeface="Trebuchet MS" panose="020B0603020202020204" pitchFamily="34" charset="0"/>
              </a:rPr>
              <a:t>Law Enforcement Support</a:t>
            </a:r>
          </a:p>
          <a:p>
            <a:pPr marL="12700" marR="5080">
              <a:lnSpc>
                <a:spcPct val="133900"/>
              </a:lnSpc>
              <a:spcBef>
                <a:spcPts val="775"/>
              </a:spcBef>
            </a:pPr>
            <a:r>
              <a:rPr lang="en-US" sz="1400" dirty="0">
                <a:solidFill>
                  <a:schemeClr val="bg1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Assists cybercrime and forensic departments in verifying video authenticity for investigations and legal evidence.</a:t>
            </a:r>
          </a:p>
        </p:txBody>
      </p:sp>
      <p:grpSp>
        <p:nvGrpSpPr>
          <p:cNvPr id="22" name="object 22"/>
          <p:cNvGrpSpPr/>
          <p:nvPr/>
        </p:nvGrpSpPr>
        <p:grpSpPr>
          <a:xfrm>
            <a:off x="619125" y="5943600"/>
            <a:ext cx="5886450" cy="1362075"/>
            <a:chOff x="619125" y="5943600"/>
            <a:chExt cx="5886450" cy="1362075"/>
          </a:xfrm>
        </p:grpSpPr>
        <p:sp>
          <p:nvSpPr>
            <p:cNvPr id="23" name="object 23"/>
            <p:cNvSpPr/>
            <p:nvPr/>
          </p:nvSpPr>
          <p:spPr>
            <a:xfrm>
              <a:off x="638175" y="5953125"/>
              <a:ext cx="5857875" cy="1343025"/>
            </a:xfrm>
            <a:custGeom>
              <a:avLst/>
              <a:gdLst/>
              <a:ahLst/>
              <a:cxnLst/>
              <a:rect l="l" t="t" r="r" b="b"/>
              <a:pathLst>
                <a:path w="5857875" h="1343025">
                  <a:moveTo>
                    <a:pt x="5807202" y="0"/>
                  </a:moveTo>
                  <a:lnTo>
                    <a:pt x="71194" y="0"/>
                  </a:lnTo>
                  <a:lnTo>
                    <a:pt x="66243" y="431"/>
                  </a:lnTo>
                  <a:lnTo>
                    <a:pt x="29706" y="13665"/>
                  </a:lnTo>
                  <a:lnTo>
                    <a:pt x="3884" y="45199"/>
                  </a:lnTo>
                  <a:lnTo>
                    <a:pt x="0" y="62293"/>
                  </a:lnTo>
                  <a:lnTo>
                    <a:pt x="0" y="1276351"/>
                  </a:lnTo>
                  <a:lnTo>
                    <a:pt x="0" y="1280726"/>
                  </a:lnTo>
                  <a:lnTo>
                    <a:pt x="15622" y="1317030"/>
                  </a:lnTo>
                  <a:lnTo>
                    <a:pt x="51663" y="1339622"/>
                  </a:lnTo>
                  <a:lnTo>
                    <a:pt x="71194" y="1343026"/>
                  </a:lnTo>
                  <a:lnTo>
                    <a:pt x="5807202" y="1343026"/>
                  </a:lnTo>
                  <a:lnTo>
                    <a:pt x="5844501" y="1324621"/>
                  </a:lnTo>
                  <a:lnTo>
                    <a:pt x="5857875" y="1292349"/>
                  </a:lnTo>
                  <a:lnTo>
                    <a:pt x="5857875" y="50673"/>
                  </a:lnTo>
                  <a:lnTo>
                    <a:pt x="5839472" y="13360"/>
                  </a:lnTo>
                  <a:lnTo>
                    <a:pt x="5810732" y="342"/>
                  </a:lnTo>
                  <a:lnTo>
                    <a:pt x="5807202" y="0"/>
                  </a:lnTo>
                  <a:close/>
                </a:path>
              </a:pathLst>
            </a:custGeom>
            <a:solidFill>
              <a:srgbClr val="242121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4" name="object 24"/>
            <p:cNvSpPr/>
            <p:nvPr/>
          </p:nvSpPr>
          <p:spPr>
            <a:xfrm>
              <a:off x="639013" y="5943612"/>
              <a:ext cx="5866765" cy="1362075"/>
            </a:xfrm>
            <a:custGeom>
              <a:avLst/>
              <a:gdLst/>
              <a:ahLst/>
              <a:cxnLst/>
              <a:rect l="l" t="t" r="r" b="b"/>
              <a:pathLst>
                <a:path w="5866765" h="1362075">
                  <a:moveTo>
                    <a:pt x="5866460" y="54825"/>
                  </a:moveTo>
                  <a:lnTo>
                    <a:pt x="5864936" y="47167"/>
                  </a:lnTo>
                  <a:lnTo>
                    <a:pt x="5858459" y="31546"/>
                  </a:lnTo>
                  <a:lnTo>
                    <a:pt x="5853849" y="24650"/>
                  </a:lnTo>
                  <a:lnTo>
                    <a:pt x="5848350" y="19151"/>
                  </a:lnTo>
                  <a:lnTo>
                    <a:pt x="5847880" y="18669"/>
                  </a:lnTo>
                  <a:lnTo>
                    <a:pt x="5841898" y="12700"/>
                  </a:lnTo>
                  <a:lnTo>
                    <a:pt x="5835002" y="8089"/>
                  </a:lnTo>
                  <a:lnTo>
                    <a:pt x="5819381" y="1612"/>
                  </a:lnTo>
                  <a:lnTo>
                    <a:pt x="5811240" y="0"/>
                  </a:lnTo>
                  <a:lnTo>
                    <a:pt x="75349" y="0"/>
                  </a:lnTo>
                  <a:lnTo>
                    <a:pt x="33007" y="12827"/>
                  </a:lnTo>
                  <a:lnTo>
                    <a:pt x="4953" y="47040"/>
                  </a:lnTo>
                  <a:lnTo>
                    <a:pt x="0" y="65430"/>
                  </a:lnTo>
                  <a:lnTo>
                    <a:pt x="1092" y="61328"/>
                  </a:lnTo>
                  <a:lnTo>
                    <a:pt x="8826" y="47332"/>
                  </a:lnTo>
                  <a:lnTo>
                    <a:pt x="46189" y="23393"/>
                  </a:lnTo>
                  <a:lnTo>
                    <a:pt x="72542" y="19151"/>
                  </a:lnTo>
                  <a:lnTo>
                    <a:pt x="5803912" y="19151"/>
                  </a:lnTo>
                  <a:lnTo>
                    <a:pt x="5840133" y="39027"/>
                  </a:lnTo>
                  <a:lnTo>
                    <a:pt x="5847499" y="63754"/>
                  </a:lnTo>
                  <a:lnTo>
                    <a:pt x="5847499" y="1298308"/>
                  </a:lnTo>
                  <a:lnTo>
                    <a:pt x="5846724" y="1306766"/>
                  </a:lnTo>
                  <a:lnTo>
                    <a:pt x="5846686" y="1307236"/>
                  </a:lnTo>
                  <a:lnTo>
                    <a:pt x="5819940" y="1339748"/>
                  </a:lnTo>
                  <a:lnTo>
                    <a:pt x="5802795" y="1343025"/>
                  </a:lnTo>
                  <a:lnTo>
                    <a:pt x="75349" y="1343025"/>
                  </a:lnTo>
                  <a:lnTo>
                    <a:pt x="33007" y="1333398"/>
                  </a:lnTo>
                  <a:lnTo>
                    <a:pt x="1092" y="1300734"/>
                  </a:lnTo>
                  <a:lnTo>
                    <a:pt x="0" y="1296619"/>
                  </a:lnTo>
                  <a:lnTo>
                    <a:pt x="609" y="1300734"/>
                  </a:lnTo>
                  <a:lnTo>
                    <a:pt x="21475" y="1339748"/>
                  </a:lnTo>
                  <a:lnTo>
                    <a:pt x="60490" y="1360614"/>
                  </a:lnTo>
                  <a:lnTo>
                    <a:pt x="75349" y="1362075"/>
                  </a:lnTo>
                  <a:lnTo>
                    <a:pt x="5811215" y="1362075"/>
                  </a:lnTo>
                  <a:lnTo>
                    <a:pt x="5819381" y="1360449"/>
                  </a:lnTo>
                  <a:lnTo>
                    <a:pt x="5835002" y="1353985"/>
                  </a:lnTo>
                  <a:lnTo>
                    <a:pt x="5841898" y="1349375"/>
                  </a:lnTo>
                  <a:lnTo>
                    <a:pt x="5847880" y="1343393"/>
                  </a:lnTo>
                  <a:lnTo>
                    <a:pt x="5848248" y="1343025"/>
                  </a:lnTo>
                  <a:lnTo>
                    <a:pt x="5848451" y="1343025"/>
                  </a:lnTo>
                  <a:lnTo>
                    <a:pt x="5853849" y="1337411"/>
                  </a:lnTo>
                  <a:lnTo>
                    <a:pt x="5858459" y="1330515"/>
                  </a:lnTo>
                  <a:lnTo>
                    <a:pt x="5864885" y="1315021"/>
                  </a:lnTo>
                  <a:lnTo>
                    <a:pt x="5864936" y="1314894"/>
                  </a:lnTo>
                  <a:lnTo>
                    <a:pt x="5866460" y="1307236"/>
                  </a:lnTo>
                  <a:lnTo>
                    <a:pt x="5866460" y="54825"/>
                  </a:lnTo>
                  <a:close/>
                </a:path>
              </a:pathLst>
            </a:custGeom>
            <a:solidFill>
              <a:srgbClr val="961B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19125" y="5943600"/>
              <a:ext cx="76200" cy="1362075"/>
            </a:xfrm>
            <a:custGeom>
              <a:avLst/>
              <a:gdLst/>
              <a:ahLst/>
              <a:cxnLst/>
              <a:rect l="l" t="t" r="r" b="b"/>
              <a:pathLst>
                <a:path w="76200" h="1362075">
                  <a:moveTo>
                    <a:pt x="76200" y="0"/>
                  </a:moveTo>
                  <a:lnTo>
                    <a:pt x="59570" y="0"/>
                  </a:lnTo>
                  <a:lnTo>
                    <a:pt x="55424" y="406"/>
                  </a:lnTo>
                  <a:lnTo>
                    <a:pt x="15716" y="21640"/>
                  </a:lnTo>
                  <a:lnTo>
                    <a:pt x="0" y="59575"/>
                  </a:lnTo>
                  <a:lnTo>
                    <a:pt x="0" y="1298318"/>
                  </a:lnTo>
                  <a:lnTo>
                    <a:pt x="0" y="1302505"/>
                  </a:lnTo>
                  <a:lnTo>
                    <a:pt x="15716" y="1340441"/>
                  </a:lnTo>
                  <a:lnTo>
                    <a:pt x="55424" y="1361664"/>
                  </a:lnTo>
                  <a:lnTo>
                    <a:pt x="76200" y="1362076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F203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883245" y="6097587"/>
            <a:ext cx="4992370" cy="96202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40" dirty="0">
                <a:solidFill>
                  <a:srgbClr val="E5E0DF"/>
                </a:solidFill>
                <a:latin typeface="Trebuchet MS"/>
                <a:cs typeface="Trebuchet MS"/>
              </a:rPr>
              <a:t>Comprehensive</a:t>
            </a:r>
            <a:r>
              <a:rPr sz="1650" b="1" spc="-114" dirty="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sz="1650" b="1" spc="-70" dirty="0">
                <a:solidFill>
                  <a:srgbClr val="E5E0DF"/>
                </a:solidFill>
                <a:latin typeface="Trebuchet MS"/>
                <a:cs typeface="Trebuchet MS"/>
              </a:rPr>
              <a:t>Feature</a:t>
            </a:r>
            <a:r>
              <a:rPr sz="1650" b="1" spc="-195" dirty="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sz="1650" b="1" spc="-10" dirty="0">
                <a:solidFill>
                  <a:srgbClr val="E5E0DF"/>
                </a:solidFill>
                <a:latin typeface="Trebuchet MS"/>
                <a:cs typeface="Trebuchet MS"/>
              </a:rPr>
              <a:t>Analysis</a:t>
            </a:r>
            <a:endParaRPr sz="1650" dirty="0">
              <a:latin typeface="Trebuchet MS"/>
              <a:cs typeface="Trebuchet MS"/>
            </a:endParaRPr>
          </a:p>
          <a:p>
            <a:pPr marL="12700" marR="5080">
              <a:lnSpc>
                <a:spcPct val="138400"/>
              </a:lnSpc>
              <a:spcBef>
                <a:spcPts val="700"/>
              </a:spcBef>
            </a:pPr>
            <a:r>
              <a:rPr sz="1400" spc="-45" dirty="0">
                <a:solidFill>
                  <a:srgbClr val="E5E0DF"/>
                </a:solidFill>
                <a:latin typeface="Lucida Sans Unicode"/>
                <a:cs typeface="Lucida Sans Unicode"/>
              </a:rPr>
              <a:t>Utilizes</a:t>
            </a:r>
            <a:r>
              <a:rPr sz="1400" spc="-6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E5E0DF"/>
                </a:solidFill>
                <a:latin typeface="Lucida Sans Unicode"/>
                <a:cs typeface="Lucida Sans Unicode"/>
              </a:rPr>
              <a:t>a</a:t>
            </a:r>
            <a:r>
              <a:rPr sz="1400" spc="-5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95" dirty="0">
                <a:solidFill>
                  <a:srgbClr val="E5E0DF"/>
                </a:solidFill>
                <a:latin typeface="Lucida Sans Unicode"/>
                <a:cs typeface="Lucida Sans Unicode"/>
              </a:rPr>
              <a:t>multi-</a:t>
            </a:r>
            <a:r>
              <a:rPr sz="1400" spc="-25" dirty="0">
                <a:solidFill>
                  <a:srgbClr val="E5E0DF"/>
                </a:solidFill>
                <a:latin typeface="Lucida Sans Unicode"/>
                <a:cs typeface="Lucida Sans Unicode"/>
              </a:rPr>
              <a:t>faceted</a:t>
            </a:r>
            <a:r>
              <a:rPr sz="1400" spc="-55" dirty="0">
                <a:solidFill>
                  <a:srgbClr val="E5E0DF"/>
                </a:solidFill>
                <a:latin typeface="Lucida Sans Unicode"/>
                <a:cs typeface="Lucida Sans Unicode"/>
              </a:rPr>
              <a:t> approach, </a:t>
            </a:r>
            <a:r>
              <a:rPr sz="1400" spc="-75" dirty="0">
                <a:solidFill>
                  <a:srgbClr val="E5E0DF"/>
                </a:solidFill>
                <a:latin typeface="Lucida Sans Unicode"/>
                <a:cs typeface="Lucida Sans Unicode"/>
              </a:rPr>
              <a:t>examining</a:t>
            </a:r>
            <a:r>
              <a:rPr sz="1400" spc="-60" dirty="0">
                <a:solidFill>
                  <a:srgbClr val="E5E0DF"/>
                </a:solidFill>
                <a:latin typeface="Lucida Sans Unicode"/>
                <a:cs typeface="Lucida Sans Unicode"/>
              </a:rPr>
              <a:t> both</a:t>
            </a:r>
            <a:r>
              <a:rPr sz="1400" spc="-5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45" dirty="0">
                <a:solidFill>
                  <a:srgbClr val="E5E0DF"/>
                </a:solidFill>
                <a:latin typeface="Lucida Sans Unicode"/>
                <a:cs typeface="Lucida Sans Unicode"/>
              </a:rPr>
              <a:t>spatial</a:t>
            </a:r>
            <a:r>
              <a:rPr sz="1400" spc="-5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E5E0DF"/>
                </a:solidFill>
                <a:latin typeface="Lucida Sans Unicode"/>
                <a:cs typeface="Lucida Sans Unicode"/>
              </a:rPr>
              <a:t>and </a:t>
            </a:r>
            <a:r>
              <a:rPr sz="1400" spc="-45" dirty="0">
                <a:solidFill>
                  <a:srgbClr val="E5E0DF"/>
                </a:solidFill>
                <a:latin typeface="Lucida Sans Unicode"/>
                <a:cs typeface="Lucida Sans Unicode"/>
              </a:rPr>
              <a:t>temporal inconsistencies </a:t>
            </a:r>
            <a:r>
              <a:rPr sz="14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for</a:t>
            </a:r>
            <a:r>
              <a:rPr sz="1400" spc="-4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50" dirty="0">
                <a:solidFill>
                  <a:srgbClr val="E5E0DF"/>
                </a:solidFill>
                <a:latin typeface="Lucida Sans Unicode"/>
                <a:cs typeface="Lucida Sans Unicode"/>
              </a:rPr>
              <a:t>superior</a:t>
            </a:r>
            <a:r>
              <a:rPr sz="1400" spc="-4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E5E0DF"/>
                </a:solidFill>
                <a:latin typeface="Lucida Sans Unicode"/>
                <a:cs typeface="Lucida Sans Unicode"/>
              </a:rPr>
              <a:t>detection.</a:t>
            </a:r>
            <a:endParaRPr sz="1400" dirty="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8839200"/>
          </a:xfrm>
          <a:custGeom>
            <a:avLst/>
            <a:gdLst/>
            <a:ahLst/>
            <a:cxnLst/>
            <a:rect l="l" t="t" r="r" b="b"/>
            <a:pathLst>
              <a:path w="11430000" h="8839200">
                <a:moveTo>
                  <a:pt x="11430000" y="0"/>
                </a:moveTo>
                <a:lnTo>
                  <a:pt x="0" y="0"/>
                </a:lnTo>
                <a:lnTo>
                  <a:pt x="0" y="8839200"/>
                </a:lnTo>
                <a:lnTo>
                  <a:pt x="11430000" y="88392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242121">
              <a:alpha val="948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43750" y="0"/>
            <a:ext cx="4286250" cy="8839199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24879" y="434975"/>
            <a:ext cx="2140585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70" dirty="0"/>
              <a:t>Limitations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539495" y="1252727"/>
            <a:ext cx="6065520" cy="1676400"/>
            <a:chOff x="539495" y="1252727"/>
            <a:chExt cx="6065520" cy="1676400"/>
          </a:xfrm>
        </p:grpSpPr>
        <p:sp>
          <p:nvSpPr>
            <p:cNvPr id="8" name="object 8"/>
            <p:cNvSpPr/>
            <p:nvPr/>
          </p:nvSpPr>
          <p:spPr>
            <a:xfrm>
              <a:off x="647700" y="1323974"/>
              <a:ext cx="5848350" cy="1524000"/>
            </a:xfrm>
            <a:custGeom>
              <a:avLst/>
              <a:gdLst/>
              <a:ahLst/>
              <a:cxnLst/>
              <a:rect l="l" t="t" r="r" b="b"/>
              <a:pathLst>
                <a:path w="5848350" h="1524000">
                  <a:moveTo>
                    <a:pt x="5797677" y="0"/>
                  </a:moveTo>
                  <a:lnTo>
                    <a:pt x="50670" y="0"/>
                  </a:lnTo>
                  <a:lnTo>
                    <a:pt x="47143" y="342"/>
                  </a:lnTo>
                  <a:lnTo>
                    <a:pt x="13364" y="18402"/>
                  </a:lnTo>
                  <a:lnTo>
                    <a:pt x="0" y="50673"/>
                  </a:lnTo>
                  <a:lnTo>
                    <a:pt x="0" y="1469771"/>
                  </a:lnTo>
                  <a:lnTo>
                    <a:pt x="0" y="1473327"/>
                  </a:lnTo>
                  <a:lnTo>
                    <a:pt x="18399" y="1510626"/>
                  </a:lnTo>
                  <a:lnTo>
                    <a:pt x="50670" y="1524000"/>
                  </a:lnTo>
                  <a:lnTo>
                    <a:pt x="5797677" y="1524000"/>
                  </a:lnTo>
                  <a:lnTo>
                    <a:pt x="5834976" y="1505597"/>
                  </a:lnTo>
                  <a:lnTo>
                    <a:pt x="5848350" y="1473327"/>
                  </a:lnTo>
                  <a:lnTo>
                    <a:pt x="5848350" y="50673"/>
                  </a:lnTo>
                  <a:lnTo>
                    <a:pt x="5829947" y="13360"/>
                  </a:lnTo>
                  <a:lnTo>
                    <a:pt x="5801207" y="342"/>
                  </a:lnTo>
                  <a:lnTo>
                    <a:pt x="5797677" y="0"/>
                  </a:lnTo>
                  <a:close/>
                </a:path>
              </a:pathLst>
            </a:custGeom>
            <a:solidFill>
              <a:srgbClr val="242121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47700" y="1323974"/>
              <a:ext cx="5848350" cy="1524000"/>
            </a:xfrm>
            <a:custGeom>
              <a:avLst/>
              <a:gdLst/>
              <a:ahLst/>
              <a:cxnLst/>
              <a:rect l="l" t="t" r="r" b="b"/>
              <a:pathLst>
                <a:path w="5848350" h="1524000">
                  <a:moveTo>
                    <a:pt x="0" y="1469771"/>
                  </a:moveTo>
                  <a:lnTo>
                    <a:pt x="0" y="54229"/>
                  </a:lnTo>
                  <a:lnTo>
                    <a:pt x="0" y="50673"/>
                  </a:lnTo>
                  <a:lnTo>
                    <a:pt x="346" y="47142"/>
                  </a:lnTo>
                  <a:lnTo>
                    <a:pt x="1041" y="43649"/>
                  </a:lnTo>
                  <a:lnTo>
                    <a:pt x="1736" y="40157"/>
                  </a:lnTo>
                  <a:lnTo>
                    <a:pt x="2763" y="36766"/>
                  </a:lnTo>
                  <a:lnTo>
                    <a:pt x="4127" y="33477"/>
                  </a:lnTo>
                  <a:lnTo>
                    <a:pt x="5491" y="30187"/>
                  </a:lnTo>
                  <a:lnTo>
                    <a:pt x="15885" y="15887"/>
                  </a:lnTo>
                  <a:lnTo>
                    <a:pt x="18399" y="13360"/>
                  </a:lnTo>
                  <a:lnTo>
                    <a:pt x="21142" y="11112"/>
                  </a:lnTo>
                  <a:lnTo>
                    <a:pt x="24100" y="9144"/>
                  </a:lnTo>
                  <a:lnTo>
                    <a:pt x="27062" y="7162"/>
                  </a:lnTo>
                  <a:lnTo>
                    <a:pt x="43651" y="1041"/>
                  </a:lnTo>
                  <a:lnTo>
                    <a:pt x="47143" y="342"/>
                  </a:lnTo>
                  <a:lnTo>
                    <a:pt x="50670" y="0"/>
                  </a:lnTo>
                  <a:lnTo>
                    <a:pt x="54232" y="0"/>
                  </a:lnTo>
                  <a:lnTo>
                    <a:pt x="5794121" y="0"/>
                  </a:lnTo>
                  <a:lnTo>
                    <a:pt x="5797677" y="0"/>
                  </a:lnTo>
                  <a:lnTo>
                    <a:pt x="5801207" y="342"/>
                  </a:lnTo>
                  <a:lnTo>
                    <a:pt x="5804700" y="1041"/>
                  </a:lnTo>
                  <a:lnTo>
                    <a:pt x="5808192" y="1739"/>
                  </a:lnTo>
                  <a:lnTo>
                    <a:pt x="5824245" y="9144"/>
                  </a:lnTo>
                  <a:lnTo>
                    <a:pt x="5827204" y="11112"/>
                  </a:lnTo>
                  <a:lnTo>
                    <a:pt x="5829947" y="13360"/>
                  </a:lnTo>
                  <a:lnTo>
                    <a:pt x="5832462" y="15887"/>
                  </a:lnTo>
                  <a:lnTo>
                    <a:pt x="5834976" y="18402"/>
                  </a:lnTo>
                  <a:lnTo>
                    <a:pt x="5837237" y="21145"/>
                  </a:lnTo>
                  <a:lnTo>
                    <a:pt x="5839206" y="24104"/>
                  </a:lnTo>
                  <a:lnTo>
                    <a:pt x="5841187" y="27063"/>
                  </a:lnTo>
                  <a:lnTo>
                    <a:pt x="5842863" y="30187"/>
                  </a:lnTo>
                  <a:lnTo>
                    <a:pt x="5844222" y="33477"/>
                  </a:lnTo>
                  <a:lnTo>
                    <a:pt x="5845581" y="36766"/>
                  </a:lnTo>
                  <a:lnTo>
                    <a:pt x="5846610" y="40157"/>
                  </a:lnTo>
                  <a:lnTo>
                    <a:pt x="5847308" y="43649"/>
                  </a:lnTo>
                  <a:lnTo>
                    <a:pt x="5848007" y="47142"/>
                  </a:lnTo>
                  <a:lnTo>
                    <a:pt x="5848350" y="50673"/>
                  </a:lnTo>
                  <a:lnTo>
                    <a:pt x="5848350" y="54229"/>
                  </a:lnTo>
                  <a:lnTo>
                    <a:pt x="5848350" y="1469771"/>
                  </a:lnTo>
                  <a:lnTo>
                    <a:pt x="5848350" y="1473327"/>
                  </a:lnTo>
                  <a:lnTo>
                    <a:pt x="5848007" y="1476844"/>
                  </a:lnTo>
                  <a:lnTo>
                    <a:pt x="5839206" y="1499895"/>
                  </a:lnTo>
                  <a:lnTo>
                    <a:pt x="5837237" y="1502854"/>
                  </a:lnTo>
                  <a:lnTo>
                    <a:pt x="5834976" y="1505597"/>
                  </a:lnTo>
                  <a:lnTo>
                    <a:pt x="5832462" y="1508112"/>
                  </a:lnTo>
                  <a:lnTo>
                    <a:pt x="5829947" y="1510626"/>
                  </a:lnTo>
                  <a:lnTo>
                    <a:pt x="5827204" y="1512887"/>
                  </a:lnTo>
                  <a:lnTo>
                    <a:pt x="5824245" y="1514856"/>
                  </a:lnTo>
                  <a:lnTo>
                    <a:pt x="5821286" y="1516837"/>
                  </a:lnTo>
                  <a:lnTo>
                    <a:pt x="5797677" y="1524000"/>
                  </a:lnTo>
                  <a:lnTo>
                    <a:pt x="5794121" y="1524000"/>
                  </a:lnTo>
                  <a:lnTo>
                    <a:pt x="54232" y="1524000"/>
                  </a:lnTo>
                  <a:lnTo>
                    <a:pt x="50670" y="1524000"/>
                  </a:lnTo>
                  <a:lnTo>
                    <a:pt x="47143" y="1523657"/>
                  </a:lnTo>
                  <a:lnTo>
                    <a:pt x="24100" y="1514856"/>
                  </a:lnTo>
                  <a:lnTo>
                    <a:pt x="21142" y="1512887"/>
                  </a:lnTo>
                  <a:lnTo>
                    <a:pt x="18399" y="1510626"/>
                  </a:lnTo>
                  <a:lnTo>
                    <a:pt x="15885" y="1508112"/>
                  </a:lnTo>
                  <a:lnTo>
                    <a:pt x="13364" y="1505597"/>
                  </a:lnTo>
                  <a:lnTo>
                    <a:pt x="0" y="1473327"/>
                  </a:lnTo>
                  <a:lnTo>
                    <a:pt x="0" y="1469771"/>
                  </a:lnTo>
                  <a:close/>
                </a:path>
              </a:pathLst>
            </a:custGeom>
            <a:ln w="19050">
              <a:solidFill>
                <a:srgbClr val="961B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9495" y="1252727"/>
              <a:ext cx="265176" cy="21031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27648" y="2706624"/>
              <a:ext cx="277368" cy="222503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917178" y="1563687"/>
            <a:ext cx="5288280" cy="95250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40" dirty="0">
                <a:solidFill>
                  <a:srgbClr val="E5E0DF"/>
                </a:solidFill>
                <a:latin typeface="Trebuchet MS"/>
                <a:cs typeface="Trebuchet MS"/>
              </a:rPr>
              <a:t>Computational</a:t>
            </a:r>
            <a:r>
              <a:rPr sz="1650" b="1" spc="-95" dirty="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sz="1650" b="1" spc="-20" dirty="0">
                <a:solidFill>
                  <a:srgbClr val="E5E0DF"/>
                </a:solidFill>
                <a:latin typeface="Trebuchet MS"/>
                <a:cs typeface="Trebuchet MS"/>
              </a:rPr>
              <a:t>Cost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38400"/>
              </a:lnSpc>
              <a:spcBef>
                <a:spcPts val="625"/>
              </a:spcBef>
            </a:pPr>
            <a:r>
              <a:rPr sz="1400" spc="-105" dirty="0">
                <a:solidFill>
                  <a:srgbClr val="E5E0DF"/>
                </a:solidFill>
                <a:latin typeface="Lucida Sans Unicode"/>
                <a:cs typeface="Lucida Sans Unicode"/>
              </a:rPr>
              <a:t>High-</a:t>
            </a:r>
            <a:r>
              <a:rPr sz="1400" spc="-60" dirty="0">
                <a:solidFill>
                  <a:srgbClr val="E5E0DF"/>
                </a:solidFill>
                <a:latin typeface="Lucida Sans Unicode"/>
                <a:cs typeface="Lucida Sans Unicode"/>
              </a:rPr>
              <a:t>resolution</a:t>
            </a:r>
            <a:r>
              <a:rPr sz="1400" spc="-3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E5E0DF"/>
                </a:solidFill>
                <a:latin typeface="Lucida Sans Unicode"/>
                <a:cs typeface="Lucida Sans Unicode"/>
              </a:rPr>
              <a:t>video</a:t>
            </a:r>
            <a:r>
              <a:rPr sz="1400" spc="-3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45" dirty="0">
                <a:solidFill>
                  <a:srgbClr val="E5E0DF"/>
                </a:solidFill>
                <a:latin typeface="Lucida Sans Unicode"/>
                <a:cs typeface="Lucida Sans Unicode"/>
              </a:rPr>
              <a:t>analysis</a:t>
            </a:r>
            <a:r>
              <a:rPr sz="1400" spc="-3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50" dirty="0">
                <a:solidFill>
                  <a:srgbClr val="E5E0DF"/>
                </a:solidFill>
                <a:latin typeface="Lucida Sans Unicode"/>
                <a:cs typeface="Lucida Sans Unicode"/>
              </a:rPr>
              <a:t>requires</a:t>
            </a:r>
            <a:r>
              <a:rPr sz="1400" spc="-3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50" dirty="0">
                <a:solidFill>
                  <a:srgbClr val="E5E0DF"/>
                </a:solidFill>
                <a:latin typeface="Lucida Sans Unicode"/>
                <a:cs typeface="Lucida Sans Unicode"/>
              </a:rPr>
              <a:t>significant</a:t>
            </a:r>
            <a:r>
              <a:rPr sz="1400" spc="-3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E5E0DF"/>
                </a:solidFill>
                <a:latin typeface="Lucida Sans Unicode"/>
                <a:cs typeface="Lucida Sans Unicode"/>
              </a:rPr>
              <a:t>computational </a:t>
            </a:r>
            <a:r>
              <a:rPr sz="1400" spc="-60" dirty="0">
                <a:solidFill>
                  <a:srgbClr val="E5E0DF"/>
                </a:solidFill>
                <a:latin typeface="Lucida Sans Unicode"/>
                <a:cs typeface="Lucida Sans Unicode"/>
              </a:rPr>
              <a:t>resources,</a:t>
            </a:r>
            <a:r>
              <a:rPr sz="1400" spc="-5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E5E0DF"/>
                </a:solidFill>
                <a:latin typeface="Lucida Sans Unicode"/>
                <a:cs typeface="Lucida Sans Unicode"/>
              </a:rPr>
              <a:t>potentially</a:t>
            </a:r>
            <a:r>
              <a:rPr sz="1400" spc="-5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60" dirty="0">
                <a:solidFill>
                  <a:srgbClr val="E5E0DF"/>
                </a:solidFill>
                <a:latin typeface="Lucida Sans Unicode"/>
                <a:cs typeface="Lucida Sans Unicode"/>
              </a:rPr>
              <a:t>limiting</a:t>
            </a:r>
            <a:r>
              <a:rPr sz="1400" spc="-45" dirty="0">
                <a:solidFill>
                  <a:srgbClr val="E5E0DF"/>
                </a:solidFill>
                <a:latin typeface="Lucida Sans Unicode"/>
                <a:cs typeface="Lucida Sans Unicode"/>
              </a:rPr>
              <a:t> deployment</a:t>
            </a:r>
            <a:r>
              <a:rPr sz="1400" spc="-5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80" dirty="0">
                <a:solidFill>
                  <a:srgbClr val="E5E0DF"/>
                </a:solidFill>
                <a:latin typeface="Lucida Sans Unicode"/>
                <a:cs typeface="Lucida Sans Unicode"/>
              </a:rPr>
              <a:t>on</a:t>
            </a:r>
            <a:r>
              <a:rPr sz="1400" spc="-4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114" dirty="0">
                <a:solidFill>
                  <a:srgbClr val="E5E0DF"/>
                </a:solidFill>
                <a:latin typeface="Lucida Sans Unicode"/>
                <a:cs typeface="Lucida Sans Unicode"/>
              </a:rPr>
              <a:t>low-</a:t>
            </a:r>
            <a:r>
              <a:rPr sz="1400" spc="-50" dirty="0">
                <a:solidFill>
                  <a:srgbClr val="E5E0DF"/>
                </a:solidFill>
                <a:latin typeface="Lucida Sans Unicode"/>
                <a:cs typeface="Lucida Sans Unicode"/>
              </a:rPr>
              <a:t>power </a:t>
            </a:r>
            <a:r>
              <a:rPr sz="1400" spc="-10" dirty="0">
                <a:solidFill>
                  <a:srgbClr val="E5E0DF"/>
                </a:solidFill>
                <a:latin typeface="Lucida Sans Unicode"/>
                <a:cs typeface="Lucida Sans Unicode"/>
              </a:rPr>
              <a:t>devices.</a:t>
            </a:r>
            <a:endParaRPr sz="1400">
              <a:latin typeface="Lucida Sans Unicode"/>
              <a:cs typeface="Lucida Sans Unicode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39495" y="2974848"/>
            <a:ext cx="6065520" cy="1975485"/>
            <a:chOff x="539495" y="2974848"/>
            <a:chExt cx="6065520" cy="1975485"/>
          </a:xfrm>
        </p:grpSpPr>
        <p:sp>
          <p:nvSpPr>
            <p:cNvPr id="14" name="object 14"/>
            <p:cNvSpPr/>
            <p:nvPr/>
          </p:nvSpPr>
          <p:spPr>
            <a:xfrm>
              <a:off x="647700" y="3047999"/>
              <a:ext cx="5848350" cy="1819275"/>
            </a:xfrm>
            <a:custGeom>
              <a:avLst/>
              <a:gdLst/>
              <a:ahLst/>
              <a:cxnLst/>
              <a:rect l="l" t="t" r="r" b="b"/>
              <a:pathLst>
                <a:path w="5848350" h="1819275">
                  <a:moveTo>
                    <a:pt x="5797677" y="0"/>
                  </a:moveTo>
                  <a:lnTo>
                    <a:pt x="50670" y="0"/>
                  </a:lnTo>
                  <a:lnTo>
                    <a:pt x="47143" y="342"/>
                  </a:lnTo>
                  <a:lnTo>
                    <a:pt x="13364" y="18402"/>
                  </a:lnTo>
                  <a:lnTo>
                    <a:pt x="0" y="50673"/>
                  </a:lnTo>
                  <a:lnTo>
                    <a:pt x="0" y="1765046"/>
                  </a:lnTo>
                  <a:lnTo>
                    <a:pt x="0" y="1768602"/>
                  </a:lnTo>
                  <a:lnTo>
                    <a:pt x="18399" y="1805901"/>
                  </a:lnTo>
                  <a:lnTo>
                    <a:pt x="50670" y="1819275"/>
                  </a:lnTo>
                  <a:lnTo>
                    <a:pt x="5797677" y="1819275"/>
                  </a:lnTo>
                  <a:lnTo>
                    <a:pt x="5834976" y="1800872"/>
                  </a:lnTo>
                  <a:lnTo>
                    <a:pt x="5848350" y="1768602"/>
                  </a:lnTo>
                  <a:lnTo>
                    <a:pt x="5848350" y="50673"/>
                  </a:lnTo>
                  <a:lnTo>
                    <a:pt x="5829947" y="13360"/>
                  </a:lnTo>
                  <a:lnTo>
                    <a:pt x="5801207" y="342"/>
                  </a:lnTo>
                  <a:lnTo>
                    <a:pt x="5797677" y="0"/>
                  </a:lnTo>
                  <a:close/>
                </a:path>
              </a:pathLst>
            </a:custGeom>
            <a:solidFill>
              <a:srgbClr val="242121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47700" y="3047999"/>
              <a:ext cx="5848350" cy="1819275"/>
            </a:xfrm>
            <a:custGeom>
              <a:avLst/>
              <a:gdLst/>
              <a:ahLst/>
              <a:cxnLst/>
              <a:rect l="l" t="t" r="r" b="b"/>
              <a:pathLst>
                <a:path w="5848350" h="1819275">
                  <a:moveTo>
                    <a:pt x="0" y="1765046"/>
                  </a:moveTo>
                  <a:lnTo>
                    <a:pt x="0" y="54229"/>
                  </a:lnTo>
                  <a:lnTo>
                    <a:pt x="0" y="50673"/>
                  </a:lnTo>
                  <a:lnTo>
                    <a:pt x="346" y="47142"/>
                  </a:lnTo>
                  <a:lnTo>
                    <a:pt x="9137" y="24104"/>
                  </a:lnTo>
                  <a:lnTo>
                    <a:pt x="11117" y="21132"/>
                  </a:lnTo>
                  <a:lnTo>
                    <a:pt x="13364" y="18402"/>
                  </a:lnTo>
                  <a:lnTo>
                    <a:pt x="15885" y="15887"/>
                  </a:lnTo>
                  <a:lnTo>
                    <a:pt x="18399" y="13360"/>
                  </a:lnTo>
                  <a:lnTo>
                    <a:pt x="21142" y="11112"/>
                  </a:lnTo>
                  <a:lnTo>
                    <a:pt x="24100" y="9144"/>
                  </a:lnTo>
                  <a:lnTo>
                    <a:pt x="27062" y="7162"/>
                  </a:lnTo>
                  <a:lnTo>
                    <a:pt x="50670" y="0"/>
                  </a:lnTo>
                  <a:lnTo>
                    <a:pt x="54232" y="0"/>
                  </a:lnTo>
                  <a:lnTo>
                    <a:pt x="5794121" y="0"/>
                  </a:lnTo>
                  <a:lnTo>
                    <a:pt x="5797677" y="0"/>
                  </a:lnTo>
                  <a:lnTo>
                    <a:pt x="5801207" y="342"/>
                  </a:lnTo>
                  <a:lnTo>
                    <a:pt x="5824245" y="9144"/>
                  </a:lnTo>
                  <a:lnTo>
                    <a:pt x="5827204" y="11112"/>
                  </a:lnTo>
                  <a:lnTo>
                    <a:pt x="5829947" y="13360"/>
                  </a:lnTo>
                  <a:lnTo>
                    <a:pt x="5832462" y="15887"/>
                  </a:lnTo>
                  <a:lnTo>
                    <a:pt x="5834976" y="18402"/>
                  </a:lnTo>
                  <a:lnTo>
                    <a:pt x="5837237" y="21132"/>
                  </a:lnTo>
                  <a:lnTo>
                    <a:pt x="5839206" y="24104"/>
                  </a:lnTo>
                  <a:lnTo>
                    <a:pt x="5841187" y="27063"/>
                  </a:lnTo>
                  <a:lnTo>
                    <a:pt x="5848350" y="50673"/>
                  </a:lnTo>
                  <a:lnTo>
                    <a:pt x="5848350" y="54229"/>
                  </a:lnTo>
                  <a:lnTo>
                    <a:pt x="5848350" y="1765046"/>
                  </a:lnTo>
                  <a:lnTo>
                    <a:pt x="5848350" y="1768602"/>
                  </a:lnTo>
                  <a:lnTo>
                    <a:pt x="5848007" y="1772132"/>
                  </a:lnTo>
                  <a:lnTo>
                    <a:pt x="5847308" y="1775625"/>
                  </a:lnTo>
                  <a:lnTo>
                    <a:pt x="5846610" y="1779117"/>
                  </a:lnTo>
                  <a:lnTo>
                    <a:pt x="5845581" y="1782508"/>
                  </a:lnTo>
                  <a:lnTo>
                    <a:pt x="5844222" y="1785797"/>
                  </a:lnTo>
                  <a:lnTo>
                    <a:pt x="5842863" y="1789087"/>
                  </a:lnTo>
                  <a:lnTo>
                    <a:pt x="5841187" y="1792211"/>
                  </a:lnTo>
                  <a:lnTo>
                    <a:pt x="5839206" y="1795170"/>
                  </a:lnTo>
                  <a:lnTo>
                    <a:pt x="5837237" y="1798129"/>
                  </a:lnTo>
                  <a:lnTo>
                    <a:pt x="5834976" y="1800872"/>
                  </a:lnTo>
                  <a:lnTo>
                    <a:pt x="5832462" y="1803387"/>
                  </a:lnTo>
                  <a:lnTo>
                    <a:pt x="5829947" y="1805901"/>
                  </a:lnTo>
                  <a:lnTo>
                    <a:pt x="5827204" y="1808162"/>
                  </a:lnTo>
                  <a:lnTo>
                    <a:pt x="5824245" y="1810131"/>
                  </a:lnTo>
                  <a:lnTo>
                    <a:pt x="5821286" y="1812112"/>
                  </a:lnTo>
                  <a:lnTo>
                    <a:pt x="5804700" y="1818233"/>
                  </a:lnTo>
                  <a:lnTo>
                    <a:pt x="5801207" y="1818932"/>
                  </a:lnTo>
                  <a:lnTo>
                    <a:pt x="5797677" y="1819275"/>
                  </a:lnTo>
                  <a:lnTo>
                    <a:pt x="5794121" y="1819275"/>
                  </a:lnTo>
                  <a:lnTo>
                    <a:pt x="54232" y="1819275"/>
                  </a:lnTo>
                  <a:lnTo>
                    <a:pt x="50670" y="1819275"/>
                  </a:lnTo>
                  <a:lnTo>
                    <a:pt x="47143" y="1818932"/>
                  </a:lnTo>
                  <a:lnTo>
                    <a:pt x="43651" y="1818233"/>
                  </a:lnTo>
                  <a:lnTo>
                    <a:pt x="40158" y="1817535"/>
                  </a:lnTo>
                  <a:lnTo>
                    <a:pt x="24100" y="1810131"/>
                  </a:lnTo>
                  <a:lnTo>
                    <a:pt x="21142" y="1808162"/>
                  </a:lnTo>
                  <a:lnTo>
                    <a:pt x="18399" y="1805901"/>
                  </a:lnTo>
                  <a:lnTo>
                    <a:pt x="15885" y="1803387"/>
                  </a:lnTo>
                  <a:lnTo>
                    <a:pt x="13364" y="1800872"/>
                  </a:lnTo>
                  <a:lnTo>
                    <a:pt x="4127" y="1785797"/>
                  </a:lnTo>
                  <a:lnTo>
                    <a:pt x="2763" y="1782508"/>
                  </a:lnTo>
                  <a:lnTo>
                    <a:pt x="1736" y="1779117"/>
                  </a:lnTo>
                  <a:lnTo>
                    <a:pt x="1041" y="1775625"/>
                  </a:lnTo>
                  <a:lnTo>
                    <a:pt x="346" y="1772132"/>
                  </a:lnTo>
                  <a:lnTo>
                    <a:pt x="0" y="1768602"/>
                  </a:lnTo>
                  <a:lnTo>
                    <a:pt x="0" y="1765046"/>
                  </a:lnTo>
                  <a:close/>
                </a:path>
              </a:pathLst>
            </a:custGeom>
            <a:ln w="19050">
              <a:solidFill>
                <a:srgbClr val="961B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39495" y="2974848"/>
              <a:ext cx="265176" cy="21336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27648" y="4727448"/>
              <a:ext cx="277368" cy="222503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917178" y="3287712"/>
            <a:ext cx="4982845" cy="12477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25" dirty="0">
                <a:solidFill>
                  <a:srgbClr val="E5E0DF"/>
                </a:solidFill>
                <a:latin typeface="Trebuchet MS"/>
                <a:cs typeface="Trebuchet MS"/>
              </a:rPr>
              <a:t>Adversarial</a:t>
            </a:r>
            <a:r>
              <a:rPr sz="1650" b="1" spc="-140" dirty="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sz="1650" b="1" spc="-10" dirty="0">
                <a:solidFill>
                  <a:srgbClr val="E5E0DF"/>
                </a:solidFill>
                <a:latin typeface="Trebuchet MS"/>
                <a:cs typeface="Trebuchet MS"/>
              </a:rPr>
              <a:t>Attacks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36200"/>
              </a:lnSpc>
              <a:spcBef>
                <a:spcPts val="740"/>
              </a:spcBef>
            </a:pPr>
            <a:r>
              <a:rPr sz="1400" spc="-40" dirty="0">
                <a:solidFill>
                  <a:srgbClr val="E5E0DF"/>
                </a:solidFill>
                <a:latin typeface="Lucida Sans Unicode"/>
                <a:cs typeface="Lucida Sans Unicode"/>
              </a:rPr>
              <a:t>Sophisticated</a:t>
            </a:r>
            <a:r>
              <a:rPr sz="1400" spc="-5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45" dirty="0">
                <a:solidFill>
                  <a:srgbClr val="E5E0DF"/>
                </a:solidFill>
                <a:latin typeface="Lucida Sans Unicode"/>
                <a:cs typeface="Lucida Sans Unicode"/>
              </a:rPr>
              <a:t>deepfake</a:t>
            </a:r>
            <a:r>
              <a:rPr sz="1400" spc="-5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E5E0DF"/>
                </a:solidFill>
                <a:latin typeface="Lucida Sans Unicode"/>
                <a:cs typeface="Lucida Sans Unicode"/>
              </a:rPr>
              <a:t>creators</a:t>
            </a:r>
            <a:r>
              <a:rPr sz="1400" spc="-5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70" dirty="0">
                <a:solidFill>
                  <a:srgbClr val="E5E0DF"/>
                </a:solidFill>
                <a:latin typeface="Lucida Sans Unicode"/>
                <a:cs typeface="Lucida Sans Unicode"/>
              </a:rPr>
              <a:t>might</a:t>
            </a:r>
            <a:r>
              <a:rPr sz="1400" spc="-5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50" dirty="0">
                <a:solidFill>
                  <a:srgbClr val="E5E0DF"/>
                </a:solidFill>
                <a:latin typeface="Lucida Sans Unicode"/>
                <a:cs typeface="Lucida Sans Unicode"/>
              </a:rPr>
              <a:t>develop </a:t>
            </a:r>
            <a:r>
              <a:rPr sz="1400" spc="-45" dirty="0">
                <a:solidFill>
                  <a:srgbClr val="E5E0DF"/>
                </a:solidFill>
                <a:latin typeface="Lucida Sans Unicode"/>
                <a:cs typeface="Lucida Sans Unicode"/>
              </a:rPr>
              <a:t>techniques</a:t>
            </a:r>
            <a:r>
              <a:rPr sz="1400" spc="-5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E5E0DF"/>
                </a:solidFill>
                <a:latin typeface="Lucida Sans Unicode"/>
                <a:cs typeface="Lucida Sans Unicode"/>
              </a:rPr>
              <a:t>to </a:t>
            </a:r>
            <a:r>
              <a:rPr sz="14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fool</a:t>
            </a:r>
            <a:r>
              <a:rPr sz="1400" spc="-5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E5E0DF"/>
                </a:solidFill>
                <a:latin typeface="Lucida Sans Unicode"/>
                <a:cs typeface="Lucida Sans Unicode"/>
              </a:rPr>
              <a:t>detection</a:t>
            </a:r>
            <a:r>
              <a:rPr sz="1400" spc="-4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70" dirty="0">
                <a:solidFill>
                  <a:srgbClr val="E5E0DF"/>
                </a:solidFill>
                <a:latin typeface="Lucida Sans Unicode"/>
                <a:cs typeface="Lucida Sans Unicode"/>
              </a:rPr>
              <a:t>models,</a:t>
            </a:r>
            <a:r>
              <a:rPr sz="1400" spc="-4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E5E0DF"/>
                </a:solidFill>
                <a:latin typeface="Lucida Sans Unicode"/>
                <a:cs typeface="Lucida Sans Unicode"/>
              </a:rPr>
              <a:t>necessitating</a:t>
            </a:r>
            <a:r>
              <a:rPr sz="1400" spc="-4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70" dirty="0">
                <a:solidFill>
                  <a:srgbClr val="E5E0DF"/>
                </a:solidFill>
                <a:latin typeface="Lucida Sans Unicode"/>
                <a:cs typeface="Lucida Sans Unicode"/>
              </a:rPr>
              <a:t>ongoing</a:t>
            </a:r>
            <a:r>
              <a:rPr sz="1400" spc="-45" dirty="0">
                <a:solidFill>
                  <a:srgbClr val="E5E0DF"/>
                </a:solidFill>
                <a:latin typeface="Lucida Sans Unicode"/>
                <a:cs typeface="Lucida Sans Unicode"/>
              </a:rPr>
              <a:t> research </a:t>
            </a:r>
            <a:r>
              <a:rPr sz="1400" spc="-25" dirty="0">
                <a:solidFill>
                  <a:srgbClr val="E5E0DF"/>
                </a:solidFill>
                <a:latin typeface="Lucida Sans Unicode"/>
                <a:cs typeface="Lucida Sans Unicode"/>
              </a:rPr>
              <a:t>and </a:t>
            </a:r>
            <a:r>
              <a:rPr sz="1400" spc="-10" dirty="0">
                <a:solidFill>
                  <a:srgbClr val="E5E0DF"/>
                </a:solidFill>
                <a:latin typeface="Lucida Sans Unicode"/>
                <a:cs typeface="Lucida Sans Unicode"/>
              </a:rPr>
              <a:t>updates.</a:t>
            </a:r>
            <a:endParaRPr sz="1400">
              <a:latin typeface="Lucida Sans Unicode"/>
              <a:cs typeface="Lucida Sans Unicode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39495" y="4995671"/>
            <a:ext cx="6065520" cy="1676400"/>
            <a:chOff x="539495" y="4995671"/>
            <a:chExt cx="6065520" cy="1676400"/>
          </a:xfrm>
        </p:grpSpPr>
        <p:sp>
          <p:nvSpPr>
            <p:cNvPr id="20" name="object 20"/>
            <p:cNvSpPr/>
            <p:nvPr/>
          </p:nvSpPr>
          <p:spPr>
            <a:xfrm>
              <a:off x="647700" y="5067299"/>
              <a:ext cx="5848350" cy="1524000"/>
            </a:xfrm>
            <a:custGeom>
              <a:avLst/>
              <a:gdLst/>
              <a:ahLst/>
              <a:cxnLst/>
              <a:rect l="l" t="t" r="r" b="b"/>
              <a:pathLst>
                <a:path w="5848350" h="1524000">
                  <a:moveTo>
                    <a:pt x="5797677" y="0"/>
                  </a:moveTo>
                  <a:lnTo>
                    <a:pt x="50670" y="0"/>
                  </a:lnTo>
                  <a:lnTo>
                    <a:pt x="47143" y="342"/>
                  </a:lnTo>
                  <a:lnTo>
                    <a:pt x="13364" y="18402"/>
                  </a:lnTo>
                  <a:lnTo>
                    <a:pt x="0" y="50673"/>
                  </a:lnTo>
                  <a:lnTo>
                    <a:pt x="0" y="1469771"/>
                  </a:lnTo>
                  <a:lnTo>
                    <a:pt x="0" y="1473327"/>
                  </a:lnTo>
                  <a:lnTo>
                    <a:pt x="18399" y="1510626"/>
                  </a:lnTo>
                  <a:lnTo>
                    <a:pt x="50670" y="1524000"/>
                  </a:lnTo>
                  <a:lnTo>
                    <a:pt x="5797677" y="1524000"/>
                  </a:lnTo>
                  <a:lnTo>
                    <a:pt x="5834976" y="1505597"/>
                  </a:lnTo>
                  <a:lnTo>
                    <a:pt x="5848350" y="1473327"/>
                  </a:lnTo>
                  <a:lnTo>
                    <a:pt x="5848350" y="50673"/>
                  </a:lnTo>
                  <a:lnTo>
                    <a:pt x="5829947" y="13360"/>
                  </a:lnTo>
                  <a:lnTo>
                    <a:pt x="5801207" y="342"/>
                  </a:lnTo>
                  <a:lnTo>
                    <a:pt x="5797677" y="0"/>
                  </a:lnTo>
                  <a:close/>
                </a:path>
              </a:pathLst>
            </a:custGeom>
            <a:solidFill>
              <a:srgbClr val="242121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47700" y="5067299"/>
              <a:ext cx="5848350" cy="1524000"/>
            </a:xfrm>
            <a:custGeom>
              <a:avLst/>
              <a:gdLst/>
              <a:ahLst/>
              <a:cxnLst/>
              <a:rect l="l" t="t" r="r" b="b"/>
              <a:pathLst>
                <a:path w="5848350" h="1524000">
                  <a:moveTo>
                    <a:pt x="0" y="1469771"/>
                  </a:moveTo>
                  <a:lnTo>
                    <a:pt x="0" y="54229"/>
                  </a:lnTo>
                  <a:lnTo>
                    <a:pt x="0" y="50673"/>
                  </a:lnTo>
                  <a:lnTo>
                    <a:pt x="346" y="47142"/>
                  </a:lnTo>
                  <a:lnTo>
                    <a:pt x="1041" y="43649"/>
                  </a:lnTo>
                  <a:lnTo>
                    <a:pt x="1736" y="40157"/>
                  </a:lnTo>
                  <a:lnTo>
                    <a:pt x="2763" y="36766"/>
                  </a:lnTo>
                  <a:lnTo>
                    <a:pt x="4127" y="33477"/>
                  </a:lnTo>
                  <a:lnTo>
                    <a:pt x="5491" y="30187"/>
                  </a:lnTo>
                  <a:lnTo>
                    <a:pt x="7164" y="27063"/>
                  </a:lnTo>
                  <a:lnTo>
                    <a:pt x="9137" y="24104"/>
                  </a:lnTo>
                  <a:lnTo>
                    <a:pt x="11117" y="21132"/>
                  </a:lnTo>
                  <a:lnTo>
                    <a:pt x="13364" y="18402"/>
                  </a:lnTo>
                  <a:lnTo>
                    <a:pt x="15885" y="15887"/>
                  </a:lnTo>
                  <a:lnTo>
                    <a:pt x="18399" y="13360"/>
                  </a:lnTo>
                  <a:lnTo>
                    <a:pt x="21142" y="11112"/>
                  </a:lnTo>
                  <a:lnTo>
                    <a:pt x="24100" y="9144"/>
                  </a:lnTo>
                  <a:lnTo>
                    <a:pt x="27062" y="7162"/>
                  </a:lnTo>
                  <a:lnTo>
                    <a:pt x="43651" y="1041"/>
                  </a:lnTo>
                  <a:lnTo>
                    <a:pt x="47143" y="342"/>
                  </a:lnTo>
                  <a:lnTo>
                    <a:pt x="50670" y="0"/>
                  </a:lnTo>
                  <a:lnTo>
                    <a:pt x="54232" y="0"/>
                  </a:lnTo>
                  <a:lnTo>
                    <a:pt x="5794121" y="0"/>
                  </a:lnTo>
                  <a:lnTo>
                    <a:pt x="5797677" y="0"/>
                  </a:lnTo>
                  <a:lnTo>
                    <a:pt x="5801207" y="342"/>
                  </a:lnTo>
                  <a:lnTo>
                    <a:pt x="5804700" y="1041"/>
                  </a:lnTo>
                  <a:lnTo>
                    <a:pt x="5808192" y="1739"/>
                  </a:lnTo>
                  <a:lnTo>
                    <a:pt x="5824245" y="9144"/>
                  </a:lnTo>
                  <a:lnTo>
                    <a:pt x="5827204" y="11112"/>
                  </a:lnTo>
                  <a:lnTo>
                    <a:pt x="5829947" y="13360"/>
                  </a:lnTo>
                  <a:lnTo>
                    <a:pt x="5832462" y="15887"/>
                  </a:lnTo>
                  <a:lnTo>
                    <a:pt x="5834976" y="18402"/>
                  </a:lnTo>
                  <a:lnTo>
                    <a:pt x="5837237" y="21132"/>
                  </a:lnTo>
                  <a:lnTo>
                    <a:pt x="5839206" y="24104"/>
                  </a:lnTo>
                  <a:lnTo>
                    <a:pt x="5841187" y="27063"/>
                  </a:lnTo>
                  <a:lnTo>
                    <a:pt x="5842863" y="30187"/>
                  </a:lnTo>
                  <a:lnTo>
                    <a:pt x="5844222" y="33477"/>
                  </a:lnTo>
                  <a:lnTo>
                    <a:pt x="5845581" y="36766"/>
                  </a:lnTo>
                  <a:lnTo>
                    <a:pt x="5846610" y="40157"/>
                  </a:lnTo>
                  <a:lnTo>
                    <a:pt x="5847308" y="43649"/>
                  </a:lnTo>
                  <a:lnTo>
                    <a:pt x="5848007" y="47142"/>
                  </a:lnTo>
                  <a:lnTo>
                    <a:pt x="5848350" y="50673"/>
                  </a:lnTo>
                  <a:lnTo>
                    <a:pt x="5848350" y="54229"/>
                  </a:lnTo>
                  <a:lnTo>
                    <a:pt x="5848350" y="1469771"/>
                  </a:lnTo>
                  <a:lnTo>
                    <a:pt x="5848350" y="1473327"/>
                  </a:lnTo>
                  <a:lnTo>
                    <a:pt x="5848007" y="1476857"/>
                  </a:lnTo>
                  <a:lnTo>
                    <a:pt x="5847308" y="1480337"/>
                  </a:lnTo>
                  <a:lnTo>
                    <a:pt x="5846610" y="1483829"/>
                  </a:lnTo>
                  <a:lnTo>
                    <a:pt x="5839206" y="1499895"/>
                  </a:lnTo>
                  <a:lnTo>
                    <a:pt x="5837237" y="1502854"/>
                  </a:lnTo>
                  <a:lnTo>
                    <a:pt x="5834976" y="1505597"/>
                  </a:lnTo>
                  <a:lnTo>
                    <a:pt x="5832462" y="1508112"/>
                  </a:lnTo>
                  <a:lnTo>
                    <a:pt x="5829947" y="1510626"/>
                  </a:lnTo>
                  <a:lnTo>
                    <a:pt x="5804700" y="1522958"/>
                  </a:lnTo>
                  <a:lnTo>
                    <a:pt x="5801207" y="1523657"/>
                  </a:lnTo>
                  <a:lnTo>
                    <a:pt x="5797677" y="1524000"/>
                  </a:lnTo>
                  <a:lnTo>
                    <a:pt x="5794121" y="1524000"/>
                  </a:lnTo>
                  <a:lnTo>
                    <a:pt x="54232" y="1524000"/>
                  </a:lnTo>
                  <a:lnTo>
                    <a:pt x="50670" y="1524000"/>
                  </a:lnTo>
                  <a:lnTo>
                    <a:pt x="47143" y="1523657"/>
                  </a:lnTo>
                  <a:lnTo>
                    <a:pt x="43651" y="1522958"/>
                  </a:lnTo>
                  <a:lnTo>
                    <a:pt x="40158" y="1522260"/>
                  </a:lnTo>
                  <a:lnTo>
                    <a:pt x="15885" y="1508112"/>
                  </a:lnTo>
                  <a:lnTo>
                    <a:pt x="13364" y="1505597"/>
                  </a:lnTo>
                  <a:lnTo>
                    <a:pt x="1041" y="1480337"/>
                  </a:lnTo>
                  <a:lnTo>
                    <a:pt x="346" y="1476857"/>
                  </a:lnTo>
                  <a:lnTo>
                    <a:pt x="0" y="1473327"/>
                  </a:lnTo>
                  <a:lnTo>
                    <a:pt x="0" y="1469771"/>
                  </a:lnTo>
                  <a:close/>
                </a:path>
              </a:pathLst>
            </a:custGeom>
            <a:ln w="19050">
              <a:solidFill>
                <a:srgbClr val="961B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39495" y="4995671"/>
              <a:ext cx="265176" cy="210312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327648" y="6449567"/>
              <a:ext cx="277368" cy="222504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917178" y="5307012"/>
            <a:ext cx="4961890" cy="95250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dirty="0">
                <a:solidFill>
                  <a:srgbClr val="E5E0DF"/>
                </a:solidFill>
                <a:latin typeface="Trebuchet MS"/>
                <a:cs typeface="Trebuchet MS"/>
              </a:rPr>
              <a:t>Data</a:t>
            </a:r>
            <a:r>
              <a:rPr sz="1650" b="1" spc="-150" dirty="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sz="1650" b="1" spc="-10" dirty="0">
                <a:solidFill>
                  <a:srgbClr val="E5E0DF"/>
                </a:solidFill>
                <a:latin typeface="Trebuchet MS"/>
                <a:cs typeface="Trebuchet MS"/>
              </a:rPr>
              <a:t>Imbalance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33900"/>
              </a:lnSpc>
              <a:spcBef>
                <a:spcPts val="775"/>
              </a:spcBef>
            </a:pPr>
            <a:r>
              <a:rPr sz="1400" spc="-45" dirty="0">
                <a:solidFill>
                  <a:srgbClr val="E5E0DF"/>
                </a:solidFill>
                <a:latin typeface="Lucida Sans Unicode"/>
                <a:cs typeface="Lucida Sans Unicode"/>
              </a:rPr>
              <a:t>The</a:t>
            </a:r>
            <a:r>
              <a:rPr sz="1400" spc="-7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E5E0DF"/>
                </a:solidFill>
                <a:latin typeface="Lucida Sans Unicode"/>
                <a:cs typeface="Lucida Sans Unicode"/>
              </a:rPr>
              <a:t>scarcity</a:t>
            </a:r>
            <a:r>
              <a:rPr sz="1400" spc="-7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of</a:t>
            </a:r>
            <a:r>
              <a:rPr sz="1400" spc="-7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E5E0DF"/>
                </a:solidFill>
                <a:latin typeface="Lucida Sans Unicode"/>
                <a:cs typeface="Lucida Sans Unicode"/>
              </a:rPr>
              <a:t>diverse</a:t>
            </a:r>
            <a:r>
              <a:rPr sz="14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50" dirty="0">
                <a:solidFill>
                  <a:srgbClr val="E5E0DF"/>
                </a:solidFill>
                <a:latin typeface="Lucida Sans Unicode"/>
                <a:cs typeface="Lucida Sans Unicode"/>
              </a:rPr>
              <a:t>and</a:t>
            </a:r>
            <a:r>
              <a:rPr sz="1400" spc="-7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E5E0DF"/>
                </a:solidFill>
                <a:latin typeface="Lucida Sans Unicode"/>
                <a:cs typeface="Lucida Sans Unicode"/>
              </a:rPr>
              <a:t>realistic</a:t>
            </a:r>
            <a:r>
              <a:rPr sz="1400" spc="-7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45" dirty="0">
                <a:solidFill>
                  <a:srgbClr val="E5E0DF"/>
                </a:solidFill>
                <a:latin typeface="Lucida Sans Unicode"/>
                <a:cs typeface="Lucida Sans Unicode"/>
              </a:rPr>
              <a:t>deepfake</a:t>
            </a:r>
            <a:r>
              <a:rPr sz="1400" spc="-7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E5E0DF"/>
                </a:solidFill>
                <a:latin typeface="Lucida Sans Unicode"/>
                <a:cs typeface="Lucida Sans Unicode"/>
              </a:rPr>
              <a:t>datasets</a:t>
            </a:r>
            <a:r>
              <a:rPr sz="14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E5E0DF"/>
                </a:solidFill>
                <a:latin typeface="Lucida Sans Unicode"/>
                <a:cs typeface="Lucida Sans Unicode"/>
              </a:rPr>
              <a:t>can </a:t>
            </a:r>
            <a:r>
              <a:rPr sz="1400" spc="-60" dirty="0">
                <a:solidFill>
                  <a:srgbClr val="E5E0DF"/>
                </a:solidFill>
                <a:latin typeface="Lucida Sans Unicode"/>
                <a:cs typeface="Lucida Sans Unicode"/>
              </a:rPr>
              <a:t>sometimes</a:t>
            </a:r>
            <a:r>
              <a:rPr sz="1400" spc="-8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E5E0DF"/>
                </a:solidFill>
                <a:latin typeface="Lucida Sans Unicode"/>
                <a:cs typeface="Lucida Sans Unicode"/>
              </a:rPr>
              <a:t>lead</a:t>
            </a:r>
            <a:r>
              <a:rPr sz="1400" spc="-8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E5E0DF"/>
                </a:solidFill>
                <a:latin typeface="Lucida Sans Unicode"/>
                <a:cs typeface="Lucida Sans Unicode"/>
              </a:rPr>
              <a:t>to</a:t>
            </a:r>
            <a:r>
              <a:rPr sz="1400" spc="-7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50" dirty="0">
                <a:solidFill>
                  <a:srgbClr val="E5E0DF"/>
                </a:solidFill>
                <a:latin typeface="Lucida Sans Unicode"/>
                <a:cs typeface="Lucida Sans Unicode"/>
              </a:rPr>
              <a:t>biases</a:t>
            </a:r>
            <a:r>
              <a:rPr sz="1400" spc="-8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in</a:t>
            </a:r>
            <a:r>
              <a:rPr sz="1400" spc="-8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50" dirty="0">
                <a:solidFill>
                  <a:srgbClr val="E5E0DF"/>
                </a:solidFill>
                <a:latin typeface="Lucida Sans Unicode"/>
                <a:cs typeface="Lucida Sans Unicode"/>
              </a:rPr>
              <a:t>model</a:t>
            </a:r>
            <a:r>
              <a:rPr sz="1400" spc="-7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55" dirty="0">
                <a:solidFill>
                  <a:srgbClr val="E5E0DF"/>
                </a:solidFill>
                <a:latin typeface="Lucida Sans Unicode"/>
                <a:cs typeface="Lucida Sans Unicode"/>
              </a:rPr>
              <a:t>training</a:t>
            </a:r>
            <a:r>
              <a:rPr sz="1400" spc="-8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50" dirty="0">
                <a:solidFill>
                  <a:srgbClr val="E5E0DF"/>
                </a:solidFill>
                <a:latin typeface="Lucida Sans Unicode"/>
                <a:cs typeface="Lucida Sans Unicode"/>
              </a:rPr>
              <a:t>and</a:t>
            </a:r>
            <a:r>
              <a:rPr sz="1400" spc="-8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E5E0DF"/>
                </a:solidFill>
                <a:latin typeface="Lucida Sans Unicode"/>
                <a:cs typeface="Lucida Sans Unicode"/>
              </a:rPr>
              <a:t>performance.</a:t>
            </a:r>
            <a:endParaRPr sz="1400">
              <a:latin typeface="Lucida Sans Unicode"/>
              <a:cs typeface="Lucida Sans Unicode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539495" y="6717792"/>
            <a:ext cx="6065520" cy="1679575"/>
            <a:chOff x="539495" y="6717792"/>
            <a:chExt cx="6065520" cy="1679575"/>
          </a:xfrm>
        </p:grpSpPr>
        <p:sp>
          <p:nvSpPr>
            <p:cNvPr id="26" name="object 26"/>
            <p:cNvSpPr/>
            <p:nvPr/>
          </p:nvSpPr>
          <p:spPr>
            <a:xfrm>
              <a:off x="647700" y="6800850"/>
              <a:ext cx="5848350" cy="1524000"/>
            </a:xfrm>
            <a:custGeom>
              <a:avLst/>
              <a:gdLst/>
              <a:ahLst/>
              <a:cxnLst/>
              <a:rect l="l" t="t" r="r" b="b"/>
              <a:pathLst>
                <a:path w="5848350" h="1524000">
                  <a:moveTo>
                    <a:pt x="5797677" y="0"/>
                  </a:moveTo>
                  <a:lnTo>
                    <a:pt x="50670" y="0"/>
                  </a:lnTo>
                  <a:lnTo>
                    <a:pt x="47143" y="342"/>
                  </a:lnTo>
                  <a:lnTo>
                    <a:pt x="13364" y="18402"/>
                  </a:lnTo>
                  <a:lnTo>
                    <a:pt x="0" y="50673"/>
                  </a:lnTo>
                  <a:lnTo>
                    <a:pt x="0" y="1469767"/>
                  </a:lnTo>
                  <a:lnTo>
                    <a:pt x="0" y="1473329"/>
                  </a:lnTo>
                  <a:lnTo>
                    <a:pt x="18399" y="1510630"/>
                  </a:lnTo>
                  <a:lnTo>
                    <a:pt x="50670" y="1524000"/>
                  </a:lnTo>
                  <a:lnTo>
                    <a:pt x="5797677" y="1524000"/>
                  </a:lnTo>
                  <a:lnTo>
                    <a:pt x="5834976" y="1505595"/>
                  </a:lnTo>
                  <a:lnTo>
                    <a:pt x="5848350" y="1473329"/>
                  </a:lnTo>
                  <a:lnTo>
                    <a:pt x="5848350" y="50673"/>
                  </a:lnTo>
                  <a:lnTo>
                    <a:pt x="5829947" y="13360"/>
                  </a:lnTo>
                  <a:lnTo>
                    <a:pt x="5801207" y="342"/>
                  </a:lnTo>
                  <a:lnTo>
                    <a:pt x="5797677" y="0"/>
                  </a:lnTo>
                  <a:close/>
                </a:path>
              </a:pathLst>
            </a:custGeom>
            <a:solidFill>
              <a:srgbClr val="242121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47700" y="6800850"/>
              <a:ext cx="5848350" cy="1524000"/>
            </a:xfrm>
            <a:custGeom>
              <a:avLst/>
              <a:gdLst/>
              <a:ahLst/>
              <a:cxnLst/>
              <a:rect l="l" t="t" r="r" b="b"/>
              <a:pathLst>
                <a:path w="5848350" h="1524000">
                  <a:moveTo>
                    <a:pt x="0" y="1469767"/>
                  </a:moveTo>
                  <a:lnTo>
                    <a:pt x="0" y="54229"/>
                  </a:lnTo>
                  <a:lnTo>
                    <a:pt x="0" y="50673"/>
                  </a:lnTo>
                  <a:lnTo>
                    <a:pt x="346" y="47142"/>
                  </a:lnTo>
                  <a:lnTo>
                    <a:pt x="9137" y="24104"/>
                  </a:lnTo>
                  <a:lnTo>
                    <a:pt x="11117" y="21132"/>
                  </a:lnTo>
                  <a:lnTo>
                    <a:pt x="13364" y="18402"/>
                  </a:lnTo>
                  <a:lnTo>
                    <a:pt x="15885" y="15887"/>
                  </a:lnTo>
                  <a:lnTo>
                    <a:pt x="18399" y="13360"/>
                  </a:lnTo>
                  <a:lnTo>
                    <a:pt x="21142" y="11112"/>
                  </a:lnTo>
                  <a:lnTo>
                    <a:pt x="24100" y="9144"/>
                  </a:lnTo>
                  <a:lnTo>
                    <a:pt x="27062" y="7162"/>
                  </a:lnTo>
                  <a:lnTo>
                    <a:pt x="43651" y="1041"/>
                  </a:lnTo>
                  <a:lnTo>
                    <a:pt x="47143" y="342"/>
                  </a:lnTo>
                  <a:lnTo>
                    <a:pt x="50670" y="0"/>
                  </a:lnTo>
                  <a:lnTo>
                    <a:pt x="54232" y="0"/>
                  </a:lnTo>
                  <a:lnTo>
                    <a:pt x="5794121" y="0"/>
                  </a:lnTo>
                  <a:lnTo>
                    <a:pt x="5797677" y="0"/>
                  </a:lnTo>
                  <a:lnTo>
                    <a:pt x="5801207" y="342"/>
                  </a:lnTo>
                  <a:lnTo>
                    <a:pt x="5804700" y="1041"/>
                  </a:lnTo>
                  <a:lnTo>
                    <a:pt x="5808192" y="1739"/>
                  </a:lnTo>
                  <a:lnTo>
                    <a:pt x="5824245" y="9144"/>
                  </a:lnTo>
                  <a:lnTo>
                    <a:pt x="5827204" y="11112"/>
                  </a:lnTo>
                  <a:lnTo>
                    <a:pt x="5829947" y="13360"/>
                  </a:lnTo>
                  <a:lnTo>
                    <a:pt x="5832462" y="15887"/>
                  </a:lnTo>
                  <a:lnTo>
                    <a:pt x="5834976" y="18402"/>
                  </a:lnTo>
                  <a:lnTo>
                    <a:pt x="5837237" y="21132"/>
                  </a:lnTo>
                  <a:lnTo>
                    <a:pt x="5839206" y="24104"/>
                  </a:lnTo>
                  <a:lnTo>
                    <a:pt x="5841187" y="27063"/>
                  </a:lnTo>
                  <a:lnTo>
                    <a:pt x="5848350" y="50673"/>
                  </a:lnTo>
                  <a:lnTo>
                    <a:pt x="5848350" y="54229"/>
                  </a:lnTo>
                  <a:lnTo>
                    <a:pt x="5848350" y="1469767"/>
                  </a:lnTo>
                  <a:lnTo>
                    <a:pt x="5848350" y="1473329"/>
                  </a:lnTo>
                  <a:lnTo>
                    <a:pt x="5848007" y="1476856"/>
                  </a:lnTo>
                  <a:lnTo>
                    <a:pt x="5847308" y="1480343"/>
                  </a:lnTo>
                  <a:lnTo>
                    <a:pt x="5846610" y="1483836"/>
                  </a:lnTo>
                  <a:lnTo>
                    <a:pt x="5845581" y="1487229"/>
                  </a:lnTo>
                  <a:lnTo>
                    <a:pt x="5844222" y="1490519"/>
                  </a:lnTo>
                  <a:lnTo>
                    <a:pt x="5842863" y="1493808"/>
                  </a:lnTo>
                  <a:lnTo>
                    <a:pt x="5841187" y="1496932"/>
                  </a:lnTo>
                  <a:lnTo>
                    <a:pt x="5839206" y="1499895"/>
                  </a:lnTo>
                  <a:lnTo>
                    <a:pt x="5837237" y="1502857"/>
                  </a:lnTo>
                  <a:lnTo>
                    <a:pt x="5814872" y="1519867"/>
                  </a:lnTo>
                  <a:lnTo>
                    <a:pt x="5811583" y="1521231"/>
                  </a:lnTo>
                  <a:lnTo>
                    <a:pt x="5808192" y="1522263"/>
                  </a:lnTo>
                  <a:lnTo>
                    <a:pt x="5804700" y="1522958"/>
                  </a:lnTo>
                  <a:lnTo>
                    <a:pt x="5801207" y="1523653"/>
                  </a:lnTo>
                  <a:lnTo>
                    <a:pt x="5797677" y="1524000"/>
                  </a:lnTo>
                  <a:lnTo>
                    <a:pt x="5794121" y="1524000"/>
                  </a:lnTo>
                  <a:lnTo>
                    <a:pt x="54232" y="1524000"/>
                  </a:lnTo>
                  <a:lnTo>
                    <a:pt x="50670" y="1524000"/>
                  </a:lnTo>
                  <a:lnTo>
                    <a:pt x="47143" y="1523653"/>
                  </a:lnTo>
                  <a:lnTo>
                    <a:pt x="43651" y="1522958"/>
                  </a:lnTo>
                  <a:lnTo>
                    <a:pt x="40158" y="1522263"/>
                  </a:lnTo>
                  <a:lnTo>
                    <a:pt x="36770" y="1521231"/>
                  </a:lnTo>
                  <a:lnTo>
                    <a:pt x="33475" y="1519867"/>
                  </a:lnTo>
                  <a:lnTo>
                    <a:pt x="30187" y="1518508"/>
                  </a:lnTo>
                  <a:lnTo>
                    <a:pt x="15885" y="1508114"/>
                  </a:lnTo>
                  <a:lnTo>
                    <a:pt x="13364" y="1505595"/>
                  </a:lnTo>
                  <a:lnTo>
                    <a:pt x="4127" y="1490519"/>
                  </a:lnTo>
                  <a:lnTo>
                    <a:pt x="2763" y="1487229"/>
                  </a:lnTo>
                  <a:lnTo>
                    <a:pt x="1736" y="1483836"/>
                  </a:lnTo>
                  <a:lnTo>
                    <a:pt x="1041" y="1480343"/>
                  </a:lnTo>
                  <a:lnTo>
                    <a:pt x="346" y="1476856"/>
                  </a:lnTo>
                  <a:lnTo>
                    <a:pt x="0" y="1473329"/>
                  </a:lnTo>
                  <a:lnTo>
                    <a:pt x="0" y="1469767"/>
                  </a:lnTo>
                  <a:close/>
                </a:path>
              </a:pathLst>
            </a:custGeom>
            <a:ln w="19050">
              <a:solidFill>
                <a:srgbClr val="961B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95" y="6717792"/>
              <a:ext cx="265176" cy="21336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327648" y="8174736"/>
              <a:ext cx="277368" cy="222504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917178" y="7031037"/>
            <a:ext cx="5180965" cy="95250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50" dirty="0">
                <a:solidFill>
                  <a:srgbClr val="E5E0DF"/>
                </a:solidFill>
                <a:latin typeface="Trebuchet MS"/>
                <a:cs typeface="Trebuchet MS"/>
              </a:rPr>
              <a:t>Generalization</a:t>
            </a:r>
            <a:r>
              <a:rPr sz="1650" b="1" spc="-75" dirty="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sz="1650" b="1" spc="-10" dirty="0">
                <a:solidFill>
                  <a:srgbClr val="E5E0DF"/>
                </a:solidFill>
                <a:latin typeface="Trebuchet MS"/>
                <a:cs typeface="Trebuchet MS"/>
              </a:rPr>
              <a:t>Challenges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33900"/>
              </a:lnSpc>
              <a:spcBef>
                <a:spcPts val="775"/>
              </a:spcBef>
            </a:pPr>
            <a:r>
              <a:rPr sz="1400" spc="-40" dirty="0">
                <a:solidFill>
                  <a:srgbClr val="E5E0DF"/>
                </a:solidFill>
                <a:latin typeface="Lucida Sans Unicode"/>
                <a:cs typeface="Lucida Sans Unicode"/>
              </a:rPr>
              <a:t>While</a:t>
            </a:r>
            <a:r>
              <a:rPr sz="1400" spc="-75" dirty="0">
                <a:solidFill>
                  <a:srgbClr val="E5E0DF"/>
                </a:solidFill>
                <a:latin typeface="Lucida Sans Unicode"/>
                <a:cs typeface="Lucida Sans Unicode"/>
              </a:rPr>
              <a:t> robust,</a:t>
            </a:r>
            <a:r>
              <a:rPr sz="1400" spc="-7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E5E0DF"/>
                </a:solidFill>
                <a:latin typeface="Lucida Sans Unicode"/>
                <a:cs typeface="Lucida Sans Unicode"/>
              </a:rPr>
              <a:t>the</a:t>
            </a:r>
            <a:r>
              <a:rPr sz="1400" spc="-7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50" dirty="0">
                <a:solidFill>
                  <a:srgbClr val="E5E0DF"/>
                </a:solidFill>
                <a:latin typeface="Lucida Sans Unicode"/>
                <a:cs typeface="Lucida Sans Unicode"/>
              </a:rPr>
              <a:t>model</a:t>
            </a:r>
            <a:r>
              <a:rPr sz="1400" spc="-7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45" dirty="0">
                <a:solidFill>
                  <a:srgbClr val="E5E0DF"/>
                </a:solidFill>
                <a:latin typeface="Lucida Sans Unicode"/>
                <a:cs typeface="Lucida Sans Unicode"/>
              </a:rPr>
              <a:t>may</a:t>
            </a:r>
            <a:r>
              <a:rPr sz="1400" spc="-7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60" dirty="0">
                <a:solidFill>
                  <a:srgbClr val="E5E0DF"/>
                </a:solidFill>
                <a:latin typeface="Lucida Sans Unicode"/>
                <a:cs typeface="Lucida Sans Unicode"/>
              </a:rPr>
              <a:t>struggle</a:t>
            </a:r>
            <a:r>
              <a:rPr sz="1400" spc="-7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55" dirty="0">
                <a:solidFill>
                  <a:srgbClr val="E5E0DF"/>
                </a:solidFill>
                <a:latin typeface="Lucida Sans Unicode"/>
                <a:cs typeface="Lucida Sans Unicode"/>
              </a:rPr>
              <a:t>with</a:t>
            </a:r>
            <a:r>
              <a:rPr sz="1400" spc="-7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50" dirty="0">
                <a:solidFill>
                  <a:srgbClr val="E5E0DF"/>
                </a:solidFill>
                <a:latin typeface="Lucida Sans Unicode"/>
                <a:cs typeface="Lucida Sans Unicode"/>
              </a:rPr>
              <a:t>deepfakes</a:t>
            </a:r>
            <a:r>
              <a:rPr sz="1400" spc="-7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E5E0DF"/>
                </a:solidFill>
                <a:latin typeface="Lucida Sans Unicode"/>
                <a:cs typeface="Lucida Sans Unicode"/>
              </a:rPr>
              <a:t>generated </a:t>
            </a:r>
            <a:r>
              <a:rPr sz="14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using</a:t>
            </a:r>
            <a:r>
              <a:rPr sz="1400" spc="-7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E5E0DF"/>
                </a:solidFill>
                <a:latin typeface="Lucida Sans Unicode"/>
                <a:cs typeface="Lucida Sans Unicode"/>
              </a:rPr>
              <a:t>entirely</a:t>
            </a:r>
            <a:r>
              <a:rPr sz="14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E5E0DF"/>
                </a:solidFill>
                <a:latin typeface="Lucida Sans Unicode"/>
                <a:cs typeface="Lucida Sans Unicode"/>
              </a:rPr>
              <a:t>novel</a:t>
            </a:r>
            <a:r>
              <a:rPr sz="14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45" dirty="0">
                <a:solidFill>
                  <a:srgbClr val="E5E0DF"/>
                </a:solidFill>
                <a:latin typeface="Lucida Sans Unicode"/>
                <a:cs typeface="Lucida Sans Unicode"/>
              </a:rPr>
              <a:t>techniques</a:t>
            </a:r>
            <a:r>
              <a:rPr sz="14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50" dirty="0">
                <a:solidFill>
                  <a:srgbClr val="E5E0DF"/>
                </a:solidFill>
                <a:latin typeface="Lucida Sans Unicode"/>
                <a:cs typeface="Lucida Sans Unicode"/>
              </a:rPr>
              <a:t>unseen</a:t>
            </a:r>
            <a:r>
              <a:rPr sz="14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60" dirty="0">
                <a:solidFill>
                  <a:srgbClr val="E5E0DF"/>
                </a:solidFill>
                <a:latin typeface="Lucida Sans Unicode"/>
                <a:cs typeface="Lucida Sans Unicode"/>
              </a:rPr>
              <a:t>during</a:t>
            </a:r>
            <a:r>
              <a:rPr sz="14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E5E0DF"/>
                </a:solidFill>
                <a:latin typeface="Lucida Sans Unicode"/>
                <a:cs typeface="Lucida Sans Unicode"/>
              </a:rPr>
              <a:t>training.</a:t>
            </a:r>
            <a:endParaRPr sz="14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4879" y="958850"/>
            <a:ext cx="2376170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55" dirty="0"/>
              <a:t>Applications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8175" y="1933574"/>
            <a:ext cx="2371725" cy="145732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24879" y="3525837"/>
            <a:ext cx="2176780" cy="182880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dirty="0">
                <a:solidFill>
                  <a:srgbClr val="E5E0DF"/>
                </a:solidFill>
                <a:latin typeface="Trebuchet MS"/>
                <a:cs typeface="Trebuchet MS"/>
              </a:rPr>
              <a:t>Social</a:t>
            </a:r>
            <a:r>
              <a:rPr sz="1650" b="1" spc="-160" dirty="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sz="1650" b="1" spc="-10" dirty="0">
                <a:solidFill>
                  <a:srgbClr val="E5E0DF"/>
                </a:solidFill>
                <a:latin typeface="Trebuchet MS"/>
                <a:cs typeface="Trebuchet MS"/>
              </a:rPr>
              <a:t>Media</a:t>
            </a:r>
            <a:r>
              <a:rPr sz="1650" b="1" spc="-155" dirty="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sz="1650" b="1" spc="-10" dirty="0">
                <a:solidFill>
                  <a:srgbClr val="E5E0DF"/>
                </a:solidFill>
                <a:latin typeface="Trebuchet MS"/>
                <a:cs typeface="Trebuchet MS"/>
              </a:rPr>
              <a:t>Platforms</a:t>
            </a:r>
            <a:endParaRPr sz="1650">
              <a:latin typeface="Trebuchet MS"/>
              <a:cs typeface="Trebuchet MS"/>
            </a:endParaRPr>
          </a:p>
          <a:p>
            <a:pPr marL="12700" marR="227965">
              <a:lnSpc>
                <a:spcPct val="136200"/>
              </a:lnSpc>
              <a:spcBef>
                <a:spcPts val="740"/>
              </a:spcBef>
            </a:pPr>
            <a:r>
              <a:rPr sz="1400" spc="-45" dirty="0">
                <a:solidFill>
                  <a:srgbClr val="E5E0DF"/>
                </a:solidFill>
                <a:latin typeface="Lucida Sans Unicode"/>
                <a:cs typeface="Lucida Sans Unicode"/>
              </a:rPr>
              <a:t>Automated</a:t>
            </a:r>
            <a:r>
              <a:rPr sz="1400" spc="-5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E5E0DF"/>
                </a:solidFill>
                <a:latin typeface="Lucida Sans Unicode"/>
                <a:cs typeface="Lucida Sans Unicode"/>
              </a:rPr>
              <a:t>detection</a:t>
            </a:r>
            <a:r>
              <a:rPr sz="1400" spc="-5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E5E0DF"/>
                </a:solidFill>
                <a:latin typeface="Lucida Sans Unicode"/>
                <a:cs typeface="Lucida Sans Unicode"/>
              </a:rPr>
              <a:t>of </a:t>
            </a:r>
            <a:r>
              <a:rPr sz="1400" spc="-55" dirty="0">
                <a:solidFill>
                  <a:srgbClr val="E5E0DF"/>
                </a:solidFill>
                <a:latin typeface="Lucida Sans Unicode"/>
                <a:cs typeface="Lucida Sans Unicode"/>
              </a:rPr>
              <a:t>malicious</a:t>
            </a:r>
            <a:r>
              <a:rPr sz="1400" spc="-50" dirty="0">
                <a:solidFill>
                  <a:srgbClr val="E5E0DF"/>
                </a:solidFill>
                <a:latin typeface="Lucida Sans Unicode"/>
                <a:cs typeface="Lucida Sans Unicode"/>
              </a:rPr>
              <a:t> deepfakes</a:t>
            </a:r>
            <a:r>
              <a:rPr sz="1400" spc="-4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E5E0DF"/>
                </a:solidFill>
                <a:latin typeface="Lucida Sans Unicode"/>
                <a:cs typeface="Lucida Sans Unicode"/>
              </a:rPr>
              <a:t>to </a:t>
            </a:r>
            <a:r>
              <a:rPr sz="1400" spc="-35" dirty="0">
                <a:solidFill>
                  <a:srgbClr val="E5E0DF"/>
                </a:solidFill>
                <a:latin typeface="Lucida Sans Unicode"/>
                <a:cs typeface="Lucida Sans Unicode"/>
              </a:rPr>
              <a:t>protect</a:t>
            </a:r>
            <a:r>
              <a:rPr sz="1400" spc="-7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50" dirty="0">
                <a:solidFill>
                  <a:srgbClr val="E5E0DF"/>
                </a:solidFill>
                <a:latin typeface="Lucida Sans Unicode"/>
                <a:cs typeface="Lucida Sans Unicode"/>
              </a:rPr>
              <a:t>users</a:t>
            </a:r>
            <a:r>
              <a:rPr sz="14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E5E0DF"/>
                </a:solidFill>
                <a:latin typeface="Lucida Sans Unicode"/>
                <a:cs typeface="Lucida Sans Unicode"/>
              </a:rPr>
              <a:t>from </a:t>
            </a:r>
            <a:r>
              <a:rPr sz="1400" spc="-70" dirty="0">
                <a:solidFill>
                  <a:srgbClr val="E5E0DF"/>
                </a:solidFill>
                <a:latin typeface="Lucida Sans Unicode"/>
                <a:cs typeface="Lucida Sans Unicode"/>
              </a:rPr>
              <a:t>misinformation</a:t>
            </a:r>
            <a:r>
              <a:rPr sz="1400" spc="2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E5E0DF"/>
                </a:solidFill>
                <a:latin typeface="Lucida Sans Unicode"/>
                <a:cs typeface="Lucida Sans Unicode"/>
              </a:rPr>
              <a:t>and </a:t>
            </a:r>
            <a:r>
              <a:rPr sz="1400" spc="-10" dirty="0">
                <a:solidFill>
                  <a:srgbClr val="E5E0DF"/>
                </a:solidFill>
                <a:latin typeface="Lucida Sans Unicode"/>
                <a:cs typeface="Lucida Sans Unicode"/>
              </a:rPr>
              <a:t>harassment.</a:t>
            </a:r>
            <a:endParaRPr sz="1400">
              <a:latin typeface="Lucida Sans Unicode"/>
              <a:cs typeface="Lucida Sans Unicode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28975" y="1933574"/>
            <a:ext cx="2371725" cy="145732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220440" y="3525837"/>
            <a:ext cx="2386330" cy="180975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497205">
              <a:lnSpc>
                <a:spcPct val="106100"/>
              </a:lnSpc>
              <a:spcBef>
                <a:spcPts val="15"/>
              </a:spcBef>
            </a:pPr>
            <a:r>
              <a:rPr sz="1650" b="1" spc="-25" dirty="0">
                <a:solidFill>
                  <a:srgbClr val="E5E0DF"/>
                </a:solidFill>
                <a:latin typeface="Trebuchet MS"/>
                <a:cs typeface="Trebuchet MS"/>
              </a:rPr>
              <a:t>Journalism</a:t>
            </a:r>
            <a:r>
              <a:rPr sz="1650" b="1" spc="-130" dirty="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sz="1650" b="1" dirty="0">
                <a:solidFill>
                  <a:srgbClr val="E5E0DF"/>
                </a:solidFill>
                <a:latin typeface="Trebuchet MS"/>
                <a:cs typeface="Trebuchet MS"/>
              </a:rPr>
              <a:t>&amp;</a:t>
            </a:r>
            <a:r>
              <a:rPr sz="1650" b="1" spc="-125" dirty="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sz="1650" b="1" spc="-20" dirty="0">
                <a:solidFill>
                  <a:srgbClr val="E5E0DF"/>
                </a:solidFill>
                <a:latin typeface="Trebuchet MS"/>
                <a:cs typeface="Trebuchet MS"/>
              </a:rPr>
              <a:t>Media </a:t>
            </a:r>
            <a:r>
              <a:rPr sz="1650" b="1" spc="-10" dirty="0">
                <a:solidFill>
                  <a:srgbClr val="E5E0DF"/>
                </a:solidFill>
                <a:latin typeface="Trebuchet MS"/>
                <a:cs typeface="Trebuchet MS"/>
              </a:rPr>
              <a:t>Verification</a:t>
            </a:r>
            <a:endParaRPr sz="1650" dirty="0">
              <a:latin typeface="Trebuchet MS"/>
              <a:cs typeface="Trebuchet MS"/>
            </a:endParaRPr>
          </a:p>
          <a:p>
            <a:pPr marL="12700" marR="5080">
              <a:lnSpc>
                <a:spcPct val="136900"/>
              </a:lnSpc>
              <a:spcBef>
                <a:spcPts val="725"/>
              </a:spcBef>
            </a:pPr>
            <a:r>
              <a:rPr sz="1400" spc="-45" dirty="0">
                <a:solidFill>
                  <a:srgbClr val="E5E0DF"/>
                </a:solidFill>
                <a:latin typeface="Lucida Sans Unicode"/>
                <a:cs typeface="Lucida Sans Unicode"/>
              </a:rPr>
              <a:t>Ensuring</a:t>
            </a:r>
            <a:r>
              <a:rPr sz="1400" spc="-5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E5E0DF"/>
                </a:solidFill>
                <a:latin typeface="Lucida Sans Unicode"/>
                <a:cs typeface="Lucida Sans Unicode"/>
              </a:rPr>
              <a:t>the</a:t>
            </a:r>
            <a:r>
              <a:rPr sz="1400" spc="-4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E5E0DF"/>
                </a:solidFill>
                <a:latin typeface="Lucida Sans Unicode"/>
                <a:cs typeface="Lucida Sans Unicode"/>
              </a:rPr>
              <a:t>authenticity</a:t>
            </a:r>
            <a:r>
              <a:rPr sz="1400" spc="-4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E5E0DF"/>
                </a:solidFill>
                <a:latin typeface="Lucida Sans Unicode"/>
                <a:cs typeface="Lucida Sans Unicode"/>
              </a:rPr>
              <a:t>of </a:t>
            </a:r>
            <a:r>
              <a:rPr sz="1400" spc="-50" dirty="0">
                <a:solidFill>
                  <a:srgbClr val="E5E0DF"/>
                </a:solidFill>
                <a:latin typeface="Lucida Sans Unicode"/>
                <a:cs typeface="Lucida Sans Unicode"/>
              </a:rPr>
              <a:t>news</a:t>
            </a:r>
            <a:r>
              <a:rPr sz="1400" spc="-8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50" dirty="0">
                <a:solidFill>
                  <a:srgbClr val="E5E0DF"/>
                </a:solidFill>
                <a:latin typeface="Lucida Sans Unicode"/>
                <a:cs typeface="Lucida Sans Unicode"/>
              </a:rPr>
              <a:t>footage</a:t>
            </a:r>
            <a:r>
              <a:rPr sz="1400" spc="-8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50" dirty="0">
                <a:solidFill>
                  <a:srgbClr val="E5E0DF"/>
                </a:solidFill>
                <a:latin typeface="Lucida Sans Unicode"/>
                <a:cs typeface="Lucida Sans Unicode"/>
              </a:rPr>
              <a:t>and</a:t>
            </a:r>
            <a:r>
              <a:rPr sz="1400" spc="-8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E5E0DF"/>
                </a:solidFill>
                <a:latin typeface="Lucida Sans Unicode"/>
                <a:cs typeface="Lucida Sans Unicode"/>
              </a:rPr>
              <a:t>interviews, </a:t>
            </a:r>
            <a:r>
              <a:rPr sz="1400" spc="-60" dirty="0">
                <a:solidFill>
                  <a:srgbClr val="E5E0DF"/>
                </a:solidFill>
                <a:latin typeface="Lucida Sans Unicode"/>
                <a:cs typeface="Lucida Sans Unicode"/>
              </a:rPr>
              <a:t>combating</a:t>
            </a:r>
            <a:r>
              <a:rPr sz="1400" spc="-7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E5E0DF"/>
                </a:solidFill>
                <a:latin typeface="Lucida Sans Unicode"/>
                <a:cs typeface="Lucida Sans Unicode"/>
              </a:rPr>
              <a:t>the</a:t>
            </a:r>
            <a:r>
              <a:rPr sz="1400" spc="-7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55" dirty="0">
                <a:solidFill>
                  <a:srgbClr val="E5E0DF"/>
                </a:solidFill>
                <a:latin typeface="Lucida Sans Unicode"/>
                <a:cs typeface="Lucida Sans Unicode"/>
              </a:rPr>
              <a:t>spread</a:t>
            </a:r>
            <a:r>
              <a:rPr sz="1400" spc="-7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of</a:t>
            </a:r>
            <a:r>
              <a:rPr sz="1400" spc="-7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E5E0DF"/>
                </a:solidFill>
                <a:latin typeface="Lucida Sans Unicode"/>
                <a:cs typeface="Lucida Sans Unicode"/>
              </a:rPr>
              <a:t>fake </a:t>
            </a:r>
            <a:r>
              <a:rPr sz="1400" spc="-10" dirty="0">
                <a:solidFill>
                  <a:srgbClr val="E5E0DF"/>
                </a:solidFill>
                <a:latin typeface="Lucida Sans Unicode"/>
                <a:cs typeface="Lucida Sans Unicode"/>
              </a:rPr>
              <a:t>news.</a:t>
            </a:r>
            <a:endParaRPr sz="1400" dirty="0">
              <a:latin typeface="Lucida Sans Unicode"/>
              <a:cs typeface="Lucida Sans Unicode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829300" y="1933574"/>
            <a:ext cx="2371725" cy="145732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5816155" y="3525837"/>
            <a:ext cx="2265680" cy="180975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720725">
              <a:lnSpc>
                <a:spcPct val="106100"/>
              </a:lnSpc>
              <a:spcBef>
                <a:spcPts val="15"/>
              </a:spcBef>
            </a:pPr>
            <a:r>
              <a:rPr sz="1650" b="1" spc="-30" dirty="0">
                <a:solidFill>
                  <a:srgbClr val="E5E0DF"/>
                </a:solidFill>
                <a:latin typeface="Trebuchet MS"/>
                <a:cs typeface="Trebuchet MS"/>
              </a:rPr>
              <a:t>Cybersecurity</a:t>
            </a:r>
            <a:r>
              <a:rPr sz="1650" b="1" spc="-110" dirty="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sz="1650" b="1" spc="-50" dirty="0">
                <a:solidFill>
                  <a:srgbClr val="E5E0DF"/>
                </a:solidFill>
                <a:latin typeface="Trebuchet MS"/>
                <a:cs typeface="Trebuchet MS"/>
              </a:rPr>
              <a:t>&amp; </a:t>
            </a:r>
            <a:r>
              <a:rPr sz="1650" b="1" spc="-10" dirty="0">
                <a:solidFill>
                  <a:srgbClr val="E5E0DF"/>
                </a:solidFill>
                <a:latin typeface="Trebuchet MS"/>
                <a:cs typeface="Trebuchet MS"/>
              </a:rPr>
              <a:t>Authentication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36900"/>
              </a:lnSpc>
              <a:spcBef>
                <a:spcPts val="725"/>
              </a:spcBef>
            </a:pPr>
            <a:r>
              <a:rPr sz="1400" spc="-40" dirty="0">
                <a:solidFill>
                  <a:srgbClr val="E5E0DF"/>
                </a:solidFill>
                <a:latin typeface="Lucida Sans Unicode"/>
                <a:cs typeface="Lucida Sans Unicode"/>
              </a:rPr>
              <a:t>Enhancing</a:t>
            </a:r>
            <a:r>
              <a:rPr sz="1400" spc="-3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E5E0DF"/>
                </a:solidFill>
                <a:latin typeface="Lucida Sans Unicode"/>
                <a:cs typeface="Lucida Sans Unicode"/>
              </a:rPr>
              <a:t>biometric </a:t>
            </a:r>
            <a:r>
              <a:rPr sz="1400" spc="-30" dirty="0">
                <a:solidFill>
                  <a:srgbClr val="E5E0DF"/>
                </a:solidFill>
                <a:latin typeface="Lucida Sans Unicode"/>
                <a:cs typeface="Lucida Sans Unicode"/>
              </a:rPr>
              <a:t>security</a:t>
            </a:r>
            <a:r>
              <a:rPr sz="1400" spc="-7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50" dirty="0">
                <a:solidFill>
                  <a:srgbClr val="E5E0DF"/>
                </a:solidFill>
                <a:latin typeface="Lucida Sans Unicode"/>
                <a:cs typeface="Lucida Sans Unicode"/>
              </a:rPr>
              <a:t>systems</a:t>
            </a:r>
            <a:r>
              <a:rPr sz="1400" spc="-7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E5E0DF"/>
                </a:solidFill>
                <a:latin typeface="Lucida Sans Unicode"/>
                <a:cs typeface="Lucida Sans Unicode"/>
              </a:rPr>
              <a:t>to</a:t>
            </a:r>
            <a:r>
              <a:rPr sz="1400" spc="-7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E5E0DF"/>
                </a:solidFill>
                <a:latin typeface="Lucida Sans Unicode"/>
                <a:cs typeface="Lucida Sans Unicode"/>
              </a:rPr>
              <a:t>prevent </a:t>
            </a:r>
            <a:r>
              <a:rPr sz="1400" spc="-70" dirty="0">
                <a:solidFill>
                  <a:srgbClr val="E5E0DF"/>
                </a:solidFill>
                <a:latin typeface="Lucida Sans Unicode"/>
                <a:cs typeface="Lucida Sans Unicode"/>
              </a:rPr>
              <a:t>deepfake-</a:t>
            </a:r>
            <a:r>
              <a:rPr sz="1400" spc="-20" dirty="0">
                <a:solidFill>
                  <a:srgbClr val="E5E0DF"/>
                </a:solidFill>
                <a:latin typeface="Lucida Sans Unicode"/>
                <a:cs typeface="Lucida Sans Unicode"/>
              </a:rPr>
              <a:t>based </a:t>
            </a:r>
            <a:r>
              <a:rPr sz="1400" spc="-60" dirty="0">
                <a:solidFill>
                  <a:srgbClr val="E5E0DF"/>
                </a:solidFill>
                <a:latin typeface="Lucida Sans Unicode"/>
                <a:cs typeface="Lucida Sans Unicode"/>
              </a:rPr>
              <a:t>impersonation</a:t>
            </a:r>
            <a:r>
              <a:rPr sz="140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E5E0DF"/>
                </a:solidFill>
                <a:latin typeface="Lucida Sans Unicode"/>
                <a:cs typeface="Lucida Sans Unicode"/>
              </a:rPr>
              <a:t>attacks.</a:t>
            </a:r>
            <a:endParaRPr sz="1400">
              <a:latin typeface="Lucida Sans Unicode"/>
              <a:cs typeface="Lucida Sans Unicode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420100" y="1933574"/>
            <a:ext cx="2371725" cy="1457325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8411718" y="3525837"/>
            <a:ext cx="2216150" cy="15430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55" dirty="0">
                <a:solidFill>
                  <a:srgbClr val="E5E0DF"/>
                </a:solidFill>
                <a:latin typeface="Trebuchet MS"/>
                <a:cs typeface="Trebuchet MS"/>
              </a:rPr>
              <a:t>Forensic</a:t>
            </a:r>
            <a:r>
              <a:rPr sz="1650" b="1" spc="-195" dirty="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sz="1650" b="1" spc="-10" dirty="0">
                <a:solidFill>
                  <a:srgbClr val="E5E0DF"/>
                </a:solidFill>
                <a:latin typeface="Trebuchet MS"/>
                <a:cs typeface="Trebuchet MS"/>
              </a:rPr>
              <a:t>Analysis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36900"/>
              </a:lnSpc>
              <a:spcBef>
                <a:spcPts val="725"/>
              </a:spcBef>
            </a:pPr>
            <a:r>
              <a:rPr sz="1400" spc="-55" dirty="0">
                <a:solidFill>
                  <a:srgbClr val="E5E0DF"/>
                </a:solidFill>
                <a:latin typeface="Lucida Sans Unicode"/>
                <a:cs typeface="Lucida Sans Unicode"/>
              </a:rPr>
              <a:t>Aiding</a:t>
            </a:r>
            <a:r>
              <a:rPr sz="14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50" dirty="0">
                <a:solidFill>
                  <a:srgbClr val="E5E0DF"/>
                </a:solidFill>
                <a:latin typeface="Lucida Sans Unicode"/>
                <a:cs typeface="Lucida Sans Unicode"/>
              </a:rPr>
              <a:t>law</a:t>
            </a:r>
            <a:r>
              <a:rPr sz="1400" spc="-6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45" dirty="0">
                <a:solidFill>
                  <a:srgbClr val="E5E0DF"/>
                </a:solidFill>
                <a:latin typeface="Lucida Sans Unicode"/>
                <a:cs typeface="Lucida Sans Unicode"/>
              </a:rPr>
              <a:t>enforcement</a:t>
            </a:r>
            <a:r>
              <a:rPr sz="14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E5E0DF"/>
                </a:solidFill>
                <a:latin typeface="Lucida Sans Unicode"/>
                <a:cs typeface="Lucida Sans Unicode"/>
              </a:rPr>
              <a:t>in </a:t>
            </a:r>
            <a:r>
              <a:rPr sz="1400" spc="-45" dirty="0">
                <a:solidFill>
                  <a:srgbClr val="E5E0DF"/>
                </a:solidFill>
                <a:latin typeface="Lucida Sans Unicode"/>
                <a:cs typeface="Lucida Sans Unicode"/>
              </a:rPr>
              <a:t>identifying</a:t>
            </a:r>
            <a:r>
              <a:rPr sz="1400" spc="-5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E5E0DF"/>
                </a:solidFill>
                <a:latin typeface="Lucida Sans Unicode"/>
                <a:cs typeface="Lucida Sans Unicode"/>
              </a:rPr>
              <a:t>digitally</a:t>
            </a:r>
            <a:r>
              <a:rPr sz="1400" spc="-5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E5E0DF"/>
                </a:solidFill>
                <a:latin typeface="Lucida Sans Unicode"/>
                <a:cs typeface="Lucida Sans Unicode"/>
              </a:rPr>
              <a:t>altered </a:t>
            </a:r>
            <a:r>
              <a:rPr sz="1400" spc="-30" dirty="0">
                <a:solidFill>
                  <a:srgbClr val="E5E0DF"/>
                </a:solidFill>
                <a:latin typeface="Lucida Sans Unicode"/>
                <a:cs typeface="Lucida Sans Unicode"/>
              </a:rPr>
              <a:t>evidence</a:t>
            </a:r>
            <a:r>
              <a:rPr sz="1400" spc="-8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50" dirty="0">
                <a:solidFill>
                  <a:srgbClr val="E5E0DF"/>
                </a:solidFill>
                <a:latin typeface="Lucida Sans Unicode"/>
                <a:cs typeface="Lucida Sans Unicode"/>
              </a:rPr>
              <a:t>and</a:t>
            </a:r>
            <a:r>
              <a:rPr sz="1400" spc="-8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E5E0DF"/>
                </a:solidFill>
                <a:latin typeface="Lucida Sans Unicode"/>
                <a:cs typeface="Lucida Sans Unicode"/>
              </a:rPr>
              <a:t>prosecuting </a:t>
            </a:r>
            <a:r>
              <a:rPr sz="1400" spc="-35" dirty="0">
                <a:solidFill>
                  <a:srgbClr val="E5E0DF"/>
                </a:solidFill>
                <a:latin typeface="Lucida Sans Unicode"/>
                <a:cs typeface="Lucida Sans Unicode"/>
              </a:rPr>
              <a:t>related</a:t>
            </a:r>
            <a:r>
              <a:rPr sz="1400" spc="-7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E5E0DF"/>
                </a:solidFill>
                <a:latin typeface="Lucida Sans Unicode"/>
                <a:cs typeface="Lucida Sans Unicode"/>
              </a:rPr>
              <a:t>crimes.</a:t>
            </a:r>
            <a:endParaRPr sz="14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8839200"/>
          </a:xfrm>
          <a:custGeom>
            <a:avLst/>
            <a:gdLst/>
            <a:ahLst/>
            <a:cxnLst/>
            <a:rect l="l" t="t" r="r" b="b"/>
            <a:pathLst>
              <a:path w="11430000" h="7029450">
                <a:moveTo>
                  <a:pt x="11430000" y="0"/>
                </a:moveTo>
                <a:lnTo>
                  <a:pt x="0" y="0"/>
                </a:lnTo>
                <a:lnTo>
                  <a:pt x="0" y="7029450"/>
                </a:lnTo>
                <a:lnTo>
                  <a:pt x="11430000" y="7029450"/>
                </a:lnTo>
                <a:lnTo>
                  <a:pt x="11430000" y="0"/>
                </a:lnTo>
                <a:close/>
              </a:path>
            </a:pathLst>
          </a:custGeom>
          <a:solidFill>
            <a:srgbClr val="242121">
              <a:alpha val="948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65" dirty="0"/>
              <a:t>Future</a:t>
            </a:r>
            <a:r>
              <a:rPr spc="-330" dirty="0"/>
              <a:t> </a:t>
            </a:r>
            <a:r>
              <a:rPr spc="-165" dirty="0"/>
              <a:t>Work</a:t>
            </a:r>
            <a:r>
              <a:rPr spc="-330" dirty="0"/>
              <a:t> </a:t>
            </a:r>
            <a:r>
              <a:rPr dirty="0"/>
              <a:t>&amp;</a:t>
            </a:r>
            <a:r>
              <a:rPr spc="-335" dirty="0"/>
              <a:t> </a:t>
            </a:r>
            <a:r>
              <a:rPr spc="-65" dirty="0"/>
              <a:t>Research</a:t>
            </a:r>
            <a:r>
              <a:rPr spc="-330" dirty="0"/>
              <a:t> </a:t>
            </a:r>
            <a:r>
              <a:rPr spc="-40" dirty="0"/>
              <a:t>Directions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638174" y="1400174"/>
            <a:ext cx="4981575" cy="2476500"/>
            <a:chOff x="638174" y="1400174"/>
            <a:chExt cx="4981575" cy="2476500"/>
          </a:xfrm>
        </p:grpSpPr>
        <p:sp>
          <p:nvSpPr>
            <p:cNvPr id="5" name="object 5"/>
            <p:cNvSpPr/>
            <p:nvPr/>
          </p:nvSpPr>
          <p:spPr>
            <a:xfrm>
              <a:off x="647700" y="1676399"/>
              <a:ext cx="4962525" cy="2190750"/>
            </a:xfrm>
            <a:custGeom>
              <a:avLst/>
              <a:gdLst/>
              <a:ahLst/>
              <a:cxnLst/>
              <a:rect l="l" t="t" r="r" b="b"/>
              <a:pathLst>
                <a:path w="4962525" h="2190750">
                  <a:moveTo>
                    <a:pt x="4900231" y="0"/>
                  </a:moveTo>
                  <a:lnTo>
                    <a:pt x="62299" y="0"/>
                  </a:lnTo>
                  <a:lnTo>
                    <a:pt x="57964" y="482"/>
                  </a:lnTo>
                  <a:lnTo>
                    <a:pt x="22622" y="18783"/>
                  </a:lnTo>
                  <a:lnTo>
                    <a:pt x="2133" y="56426"/>
                  </a:lnTo>
                  <a:lnTo>
                    <a:pt x="0" y="71196"/>
                  </a:lnTo>
                  <a:lnTo>
                    <a:pt x="0" y="2136521"/>
                  </a:lnTo>
                  <a:lnTo>
                    <a:pt x="0" y="2140077"/>
                  </a:lnTo>
                  <a:lnTo>
                    <a:pt x="18399" y="2177376"/>
                  </a:lnTo>
                  <a:lnTo>
                    <a:pt x="50670" y="2190750"/>
                  </a:lnTo>
                  <a:lnTo>
                    <a:pt x="4911852" y="2190750"/>
                  </a:lnTo>
                  <a:lnTo>
                    <a:pt x="4949164" y="2172347"/>
                  </a:lnTo>
                  <a:lnTo>
                    <a:pt x="4962525" y="2140077"/>
                  </a:lnTo>
                  <a:lnTo>
                    <a:pt x="4962525" y="71196"/>
                  </a:lnTo>
                  <a:lnTo>
                    <a:pt x="4948859" y="29705"/>
                  </a:lnTo>
                  <a:lnTo>
                    <a:pt x="4917325" y="3886"/>
                  </a:lnTo>
                  <a:lnTo>
                    <a:pt x="4904562" y="482"/>
                  </a:lnTo>
                  <a:lnTo>
                    <a:pt x="4900231" y="0"/>
                  </a:lnTo>
                  <a:close/>
                </a:path>
              </a:pathLst>
            </a:custGeom>
            <a:solidFill>
              <a:srgbClr val="242121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38162" y="1677250"/>
              <a:ext cx="4981575" cy="2199640"/>
            </a:xfrm>
            <a:custGeom>
              <a:avLst/>
              <a:gdLst/>
              <a:ahLst/>
              <a:cxnLst/>
              <a:rect l="l" t="t" r="r" b="b"/>
              <a:pathLst>
                <a:path w="4981575" h="2199640">
                  <a:moveTo>
                    <a:pt x="4981575" y="75361"/>
                  </a:moveTo>
                  <a:lnTo>
                    <a:pt x="4968748" y="33020"/>
                  </a:lnTo>
                  <a:lnTo>
                    <a:pt x="4934534" y="4965"/>
                  </a:lnTo>
                  <a:lnTo>
                    <a:pt x="4916144" y="0"/>
                  </a:lnTo>
                  <a:lnTo>
                    <a:pt x="4920246" y="1092"/>
                  </a:lnTo>
                  <a:lnTo>
                    <a:pt x="4934242" y="8826"/>
                  </a:lnTo>
                  <a:lnTo>
                    <a:pt x="4958169" y="46202"/>
                  </a:lnTo>
                  <a:lnTo>
                    <a:pt x="4962525" y="75361"/>
                  </a:lnTo>
                  <a:lnTo>
                    <a:pt x="4962525" y="2135682"/>
                  </a:lnTo>
                  <a:lnTo>
                    <a:pt x="4961750" y="2144128"/>
                  </a:lnTo>
                  <a:lnTo>
                    <a:pt x="4961712" y="2144598"/>
                  </a:lnTo>
                  <a:lnTo>
                    <a:pt x="4934991" y="2177110"/>
                  </a:lnTo>
                  <a:lnTo>
                    <a:pt x="4917821" y="2180386"/>
                  </a:lnTo>
                  <a:lnTo>
                    <a:pt x="63766" y="2180386"/>
                  </a:lnTo>
                  <a:lnTo>
                    <a:pt x="54838" y="2179561"/>
                  </a:lnTo>
                  <a:lnTo>
                    <a:pt x="46596" y="2177110"/>
                  </a:lnTo>
                  <a:lnTo>
                    <a:pt x="39039" y="2173008"/>
                  </a:lnTo>
                  <a:lnTo>
                    <a:pt x="32664" y="2167725"/>
                  </a:lnTo>
                  <a:lnTo>
                    <a:pt x="32156" y="2167293"/>
                  </a:lnTo>
                  <a:lnTo>
                    <a:pt x="26428" y="2160397"/>
                  </a:lnTo>
                  <a:lnTo>
                    <a:pt x="22326" y="2152840"/>
                  </a:lnTo>
                  <a:lnTo>
                    <a:pt x="19875" y="2144598"/>
                  </a:lnTo>
                  <a:lnTo>
                    <a:pt x="19050" y="2135682"/>
                  </a:lnTo>
                  <a:lnTo>
                    <a:pt x="19050" y="75361"/>
                  </a:lnTo>
                  <a:lnTo>
                    <a:pt x="28676" y="33020"/>
                  </a:lnTo>
                  <a:lnTo>
                    <a:pt x="61341" y="1092"/>
                  </a:lnTo>
                  <a:lnTo>
                    <a:pt x="65443" y="0"/>
                  </a:lnTo>
                  <a:lnTo>
                    <a:pt x="61341" y="609"/>
                  </a:lnTo>
                  <a:lnTo>
                    <a:pt x="22326" y="21475"/>
                  </a:lnTo>
                  <a:lnTo>
                    <a:pt x="1460" y="60490"/>
                  </a:lnTo>
                  <a:lnTo>
                    <a:pt x="0" y="75361"/>
                  </a:lnTo>
                  <a:lnTo>
                    <a:pt x="0" y="2144128"/>
                  </a:lnTo>
                  <a:lnTo>
                    <a:pt x="1625" y="2152269"/>
                  </a:lnTo>
                  <a:lnTo>
                    <a:pt x="8089" y="2167890"/>
                  </a:lnTo>
                  <a:lnTo>
                    <a:pt x="12700" y="2174786"/>
                  </a:lnTo>
                  <a:lnTo>
                    <a:pt x="19151" y="2181237"/>
                  </a:lnTo>
                  <a:lnTo>
                    <a:pt x="24650" y="2186736"/>
                  </a:lnTo>
                  <a:lnTo>
                    <a:pt x="31546" y="2191347"/>
                  </a:lnTo>
                  <a:lnTo>
                    <a:pt x="47180" y="2197824"/>
                  </a:lnTo>
                  <a:lnTo>
                    <a:pt x="55308" y="2199436"/>
                  </a:lnTo>
                  <a:lnTo>
                    <a:pt x="4926266" y="2199436"/>
                  </a:lnTo>
                  <a:lnTo>
                    <a:pt x="4934407" y="2197824"/>
                  </a:lnTo>
                  <a:lnTo>
                    <a:pt x="4950028" y="2191347"/>
                  </a:lnTo>
                  <a:lnTo>
                    <a:pt x="4956924" y="2186736"/>
                  </a:lnTo>
                  <a:lnTo>
                    <a:pt x="4962423" y="2181237"/>
                  </a:lnTo>
                  <a:lnTo>
                    <a:pt x="4962906" y="2180755"/>
                  </a:lnTo>
                  <a:lnTo>
                    <a:pt x="4968875" y="2174786"/>
                  </a:lnTo>
                  <a:lnTo>
                    <a:pt x="4973485" y="2167890"/>
                  </a:lnTo>
                  <a:lnTo>
                    <a:pt x="4979962" y="2152269"/>
                  </a:lnTo>
                  <a:lnTo>
                    <a:pt x="4981486" y="2144598"/>
                  </a:lnTo>
                  <a:lnTo>
                    <a:pt x="4981575" y="75361"/>
                  </a:lnTo>
                  <a:close/>
                </a:path>
              </a:pathLst>
            </a:custGeom>
            <a:solidFill>
              <a:srgbClr val="961B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38175" y="1400174"/>
              <a:ext cx="4981575" cy="542925"/>
            </a:xfrm>
            <a:custGeom>
              <a:avLst/>
              <a:gdLst/>
              <a:ahLst/>
              <a:cxnLst/>
              <a:rect l="l" t="t" r="r" b="b"/>
              <a:pathLst>
                <a:path w="4981575" h="542925">
                  <a:moveTo>
                    <a:pt x="4981575" y="316750"/>
                  </a:moveTo>
                  <a:lnTo>
                    <a:pt x="4965865" y="278815"/>
                  </a:lnTo>
                  <a:lnTo>
                    <a:pt x="4926139" y="257581"/>
                  </a:lnTo>
                  <a:lnTo>
                    <a:pt x="4921999" y="257175"/>
                  </a:lnTo>
                  <a:lnTo>
                    <a:pt x="2764828" y="257175"/>
                  </a:lnTo>
                  <a:lnTo>
                    <a:pt x="2764485" y="251498"/>
                  </a:lnTo>
                  <a:lnTo>
                    <a:pt x="2758630" y="211988"/>
                  </a:lnTo>
                  <a:lnTo>
                    <a:pt x="2747022" y="173774"/>
                  </a:lnTo>
                  <a:lnTo>
                    <a:pt x="2729954" y="137668"/>
                  </a:lnTo>
                  <a:lnTo>
                    <a:pt x="2707767" y="104457"/>
                  </a:lnTo>
                  <a:lnTo>
                    <a:pt x="2680944" y="74866"/>
                  </a:lnTo>
                  <a:lnTo>
                    <a:pt x="2650071" y="49517"/>
                  </a:lnTo>
                  <a:lnTo>
                    <a:pt x="2615806" y="28994"/>
                  </a:lnTo>
                  <a:lnTo>
                    <a:pt x="2578912" y="13703"/>
                  </a:lnTo>
                  <a:lnTo>
                    <a:pt x="2540165" y="4000"/>
                  </a:lnTo>
                  <a:lnTo>
                    <a:pt x="2500414" y="88"/>
                  </a:lnTo>
                  <a:lnTo>
                    <a:pt x="2493759" y="0"/>
                  </a:lnTo>
                  <a:lnTo>
                    <a:pt x="2487091" y="88"/>
                  </a:lnTo>
                  <a:lnTo>
                    <a:pt x="2447353" y="4000"/>
                  </a:lnTo>
                  <a:lnTo>
                    <a:pt x="2408605" y="13703"/>
                  </a:lnTo>
                  <a:lnTo>
                    <a:pt x="2371712" y="28994"/>
                  </a:lnTo>
                  <a:lnTo>
                    <a:pt x="2337447" y="49517"/>
                  </a:lnTo>
                  <a:lnTo>
                    <a:pt x="2306574" y="74866"/>
                  </a:lnTo>
                  <a:lnTo>
                    <a:pt x="2279751" y="104457"/>
                  </a:lnTo>
                  <a:lnTo>
                    <a:pt x="2257564" y="137668"/>
                  </a:lnTo>
                  <a:lnTo>
                    <a:pt x="2240483" y="173774"/>
                  </a:lnTo>
                  <a:lnTo>
                    <a:pt x="2228888" y="211988"/>
                  </a:lnTo>
                  <a:lnTo>
                    <a:pt x="2223033" y="251498"/>
                  </a:lnTo>
                  <a:lnTo>
                    <a:pt x="2222677" y="257175"/>
                  </a:lnTo>
                  <a:lnTo>
                    <a:pt x="59563" y="257175"/>
                  </a:lnTo>
                  <a:lnTo>
                    <a:pt x="21628" y="272884"/>
                  </a:lnTo>
                  <a:lnTo>
                    <a:pt x="406" y="312597"/>
                  </a:lnTo>
                  <a:lnTo>
                    <a:pt x="0" y="316750"/>
                  </a:lnTo>
                  <a:lnTo>
                    <a:pt x="0" y="333375"/>
                  </a:lnTo>
                  <a:lnTo>
                    <a:pt x="2229459" y="333375"/>
                  </a:lnTo>
                  <a:lnTo>
                    <a:pt x="2230437" y="337426"/>
                  </a:lnTo>
                  <a:lnTo>
                    <a:pt x="2242959" y="375361"/>
                  </a:lnTo>
                  <a:lnTo>
                    <a:pt x="2260917" y="411022"/>
                  </a:lnTo>
                  <a:lnTo>
                    <a:pt x="2283917" y="443687"/>
                  </a:lnTo>
                  <a:lnTo>
                    <a:pt x="2311450" y="472605"/>
                  </a:lnTo>
                  <a:lnTo>
                    <a:pt x="2342946" y="497179"/>
                  </a:lnTo>
                  <a:lnTo>
                    <a:pt x="2377694" y="516864"/>
                  </a:lnTo>
                  <a:lnTo>
                    <a:pt x="2414968" y="531241"/>
                  </a:lnTo>
                  <a:lnTo>
                    <a:pt x="2453932" y="539991"/>
                  </a:lnTo>
                  <a:lnTo>
                    <a:pt x="2493759" y="542925"/>
                  </a:lnTo>
                  <a:lnTo>
                    <a:pt x="2500414" y="542848"/>
                  </a:lnTo>
                  <a:lnTo>
                    <a:pt x="2540165" y="538937"/>
                  </a:lnTo>
                  <a:lnTo>
                    <a:pt x="2578912" y="529234"/>
                  </a:lnTo>
                  <a:lnTo>
                    <a:pt x="2615806" y="513943"/>
                  </a:lnTo>
                  <a:lnTo>
                    <a:pt x="2650071" y="493420"/>
                  </a:lnTo>
                  <a:lnTo>
                    <a:pt x="2680944" y="468071"/>
                  </a:lnTo>
                  <a:lnTo>
                    <a:pt x="2707767" y="438480"/>
                  </a:lnTo>
                  <a:lnTo>
                    <a:pt x="2729954" y="405269"/>
                  </a:lnTo>
                  <a:lnTo>
                    <a:pt x="2747022" y="369163"/>
                  </a:lnTo>
                  <a:lnTo>
                    <a:pt x="2758046" y="333375"/>
                  </a:lnTo>
                  <a:lnTo>
                    <a:pt x="4981575" y="333375"/>
                  </a:lnTo>
                  <a:lnTo>
                    <a:pt x="4981575" y="316750"/>
                  </a:lnTo>
                  <a:close/>
                </a:path>
              </a:pathLst>
            </a:custGeom>
            <a:solidFill>
              <a:srgbClr val="F203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17505" y="1558821"/>
              <a:ext cx="228298" cy="225098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826095" y="2087562"/>
            <a:ext cx="4556125" cy="153352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10" dirty="0">
                <a:solidFill>
                  <a:srgbClr val="E5E0DF"/>
                </a:solidFill>
                <a:latin typeface="Trebuchet MS"/>
                <a:cs typeface="Trebuchet MS"/>
              </a:rPr>
              <a:t>Advanced</a:t>
            </a:r>
            <a:r>
              <a:rPr sz="1650" b="1" spc="-125" dirty="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sz="1650" b="1" spc="-25" dirty="0">
                <a:solidFill>
                  <a:srgbClr val="E5E0DF"/>
                </a:solidFill>
                <a:latin typeface="Trebuchet MS"/>
                <a:cs typeface="Trebuchet MS"/>
              </a:rPr>
              <a:t>Model</a:t>
            </a:r>
            <a:r>
              <a:rPr sz="1650" b="1" spc="-204" dirty="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sz="1650" b="1" spc="-10" dirty="0">
                <a:solidFill>
                  <a:srgbClr val="E5E0DF"/>
                </a:solidFill>
                <a:latin typeface="Trebuchet MS"/>
                <a:cs typeface="Trebuchet MS"/>
              </a:rPr>
              <a:t>Architectures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36900"/>
              </a:lnSpc>
              <a:spcBef>
                <a:spcPts val="650"/>
              </a:spcBef>
            </a:pPr>
            <a:r>
              <a:rPr sz="1400" spc="-50" dirty="0">
                <a:solidFill>
                  <a:srgbClr val="E5E0DF"/>
                </a:solidFill>
                <a:latin typeface="Lucida Sans Unicode"/>
                <a:cs typeface="Lucida Sans Unicode"/>
              </a:rPr>
              <a:t>Explore </a:t>
            </a:r>
            <a:r>
              <a:rPr sz="1400" spc="-40" dirty="0">
                <a:solidFill>
                  <a:srgbClr val="E5E0DF"/>
                </a:solidFill>
                <a:latin typeface="Lucida Sans Unicode"/>
                <a:cs typeface="Lucida Sans Unicode"/>
              </a:rPr>
              <a:t>novel</a:t>
            </a:r>
            <a:r>
              <a:rPr sz="1400" spc="-4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E5E0DF"/>
                </a:solidFill>
                <a:latin typeface="Lucida Sans Unicode"/>
                <a:cs typeface="Lucida Sans Unicode"/>
              </a:rPr>
              <a:t>deep</a:t>
            </a:r>
            <a:r>
              <a:rPr sz="1400" spc="-4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50" dirty="0">
                <a:solidFill>
                  <a:srgbClr val="E5E0DF"/>
                </a:solidFill>
                <a:latin typeface="Lucida Sans Unicode"/>
                <a:cs typeface="Lucida Sans Unicode"/>
              </a:rPr>
              <a:t>learning</a:t>
            </a:r>
            <a:r>
              <a:rPr sz="1400" spc="-4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E5E0DF"/>
                </a:solidFill>
                <a:latin typeface="Lucida Sans Unicode"/>
                <a:cs typeface="Lucida Sans Unicode"/>
              </a:rPr>
              <a:t>architectures</a:t>
            </a:r>
            <a:r>
              <a:rPr sz="1400" spc="-4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E5E0DF"/>
                </a:solidFill>
                <a:latin typeface="Lucida Sans Unicode"/>
                <a:cs typeface="Lucida Sans Unicode"/>
              </a:rPr>
              <a:t>and </a:t>
            </a:r>
            <a:r>
              <a:rPr sz="1400" spc="-55" dirty="0">
                <a:solidFill>
                  <a:srgbClr val="E5E0DF"/>
                </a:solidFill>
                <a:latin typeface="Lucida Sans Unicode"/>
                <a:cs typeface="Lucida Sans Unicode"/>
              </a:rPr>
              <a:t>transformer</a:t>
            </a:r>
            <a:r>
              <a:rPr sz="1400" spc="-7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55" dirty="0">
                <a:solidFill>
                  <a:srgbClr val="E5E0DF"/>
                </a:solidFill>
                <a:latin typeface="Lucida Sans Unicode"/>
                <a:cs typeface="Lucida Sans Unicode"/>
              </a:rPr>
              <a:t>models</a:t>
            </a:r>
            <a:r>
              <a:rPr sz="14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E5E0DF"/>
                </a:solidFill>
                <a:latin typeface="Lucida Sans Unicode"/>
                <a:cs typeface="Lucida Sans Unicode"/>
              </a:rPr>
              <a:t>to</a:t>
            </a:r>
            <a:r>
              <a:rPr sz="14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60" dirty="0">
                <a:solidFill>
                  <a:srgbClr val="E5E0DF"/>
                </a:solidFill>
                <a:latin typeface="Lucida Sans Unicode"/>
                <a:cs typeface="Lucida Sans Unicode"/>
              </a:rPr>
              <a:t>improve</a:t>
            </a:r>
            <a:r>
              <a:rPr sz="14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E5E0DF"/>
                </a:solidFill>
                <a:latin typeface="Lucida Sans Unicode"/>
                <a:cs typeface="Lucida Sans Unicode"/>
              </a:rPr>
              <a:t>detection</a:t>
            </a:r>
            <a:r>
              <a:rPr sz="14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 of </a:t>
            </a:r>
            <a:r>
              <a:rPr sz="1400" spc="-10" dirty="0">
                <a:solidFill>
                  <a:srgbClr val="E5E0DF"/>
                </a:solidFill>
                <a:latin typeface="Lucida Sans Unicode"/>
                <a:cs typeface="Lucida Sans Unicode"/>
              </a:rPr>
              <a:t>emerging </a:t>
            </a:r>
            <a:r>
              <a:rPr sz="1400" spc="-45" dirty="0">
                <a:solidFill>
                  <a:srgbClr val="E5E0DF"/>
                </a:solidFill>
                <a:latin typeface="Lucida Sans Unicode"/>
                <a:cs typeface="Lucida Sans Unicode"/>
              </a:rPr>
              <a:t>deepfake</a:t>
            </a:r>
            <a:r>
              <a:rPr sz="1400" spc="-7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50" dirty="0">
                <a:solidFill>
                  <a:srgbClr val="E5E0DF"/>
                </a:solidFill>
                <a:latin typeface="Lucida Sans Unicode"/>
                <a:cs typeface="Lucida Sans Unicode"/>
              </a:rPr>
              <a:t>generation</a:t>
            </a:r>
            <a:r>
              <a:rPr sz="1400" spc="-6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45" dirty="0">
                <a:solidFill>
                  <a:srgbClr val="E5E0DF"/>
                </a:solidFill>
                <a:latin typeface="Lucida Sans Unicode"/>
                <a:cs typeface="Lucida Sans Unicode"/>
              </a:rPr>
              <a:t>techniques</a:t>
            </a:r>
            <a:r>
              <a:rPr sz="1400" spc="-5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50" dirty="0">
                <a:solidFill>
                  <a:srgbClr val="E5E0DF"/>
                </a:solidFill>
                <a:latin typeface="Lucida Sans Unicode"/>
                <a:cs typeface="Lucida Sans Unicode"/>
              </a:rPr>
              <a:t>and</a:t>
            </a:r>
            <a:r>
              <a:rPr sz="1400" spc="-6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E5E0DF"/>
                </a:solidFill>
                <a:latin typeface="Lucida Sans Unicode"/>
                <a:cs typeface="Lucida Sans Unicode"/>
              </a:rPr>
              <a:t>enhance</a:t>
            </a:r>
            <a:r>
              <a:rPr sz="1400" spc="-5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E5E0DF"/>
                </a:solidFill>
                <a:latin typeface="Lucida Sans Unicode"/>
                <a:cs typeface="Lucida Sans Unicode"/>
              </a:rPr>
              <a:t>resilience </a:t>
            </a:r>
            <a:r>
              <a:rPr sz="1400" spc="-45" dirty="0">
                <a:solidFill>
                  <a:srgbClr val="E5E0DF"/>
                </a:solidFill>
                <a:latin typeface="Lucida Sans Unicode"/>
                <a:cs typeface="Lucida Sans Unicode"/>
              </a:rPr>
              <a:t>against</a:t>
            </a:r>
            <a:r>
              <a:rPr sz="1400" spc="-4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E5E0DF"/>
                </a:solidFill>
                <a:latin typeface="Lucida Sans Unicode"/>
                <a:cs typeface="Lucida Sans Unicode"/>
              </a:rPr>
              <a:t>adversarial</a:t>
            </a:r>
            <a:r>
              <a:rPr sz="1400" spc="-4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E5E0DF"/>
                </a:solidFill>
                <a:latin typeface="Lucida Sans Unicode"/>
                <a:cs typeface="Lucida Sans Unicode"/>
              </a:rPr>
              <a:t>attacks.</a:t>
            </a:r>
            <a:endParaRPr sz="1400">
              <a:latin typeface="Lucida Sans Unicode"/>
              <a:cs typeface="Lucida Sans Unicode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810249" y="1400174"/>
            <a:ext cx="4981575" cy="2476500"/>
            <a:chOff x="5810249" y="1400174"/>
            <a:chExt cx="4981575" cy="2476500"/>
          </a:xfrm>
        </p:grpSpPr>
        <p:sp>
          <p:nvSpPr>
            <p:cNvPr id="11" name="object 11"/>
            <p:cNvSpPr/>
            <p:nvPr/>
          </p:nvSpPr>
          <p:spPr>
            <a:xfrm>
              <a:off x="5819775" y="1676399"/>
              <a:ext cx="4962525" cy="2190750"/>
            </a:xfrm>
            <a:custGeom>
              <a:avLst/>
              <a:gdLst/>
              <a:ahLst/>
              <a:cxnLst/>
              <a:rect l="l" t="t" r="r" b="b"/>
              <a:pathLst>
                <a:path w="4962525" h="2190750">
                  <a:moveTo>
                    <a:pt x="4900231" y="0"/>
                  </a:moveTo>
                  <a:lnTo>
                    <a:pt x="62293" y="0"/>
                  </a:lnTo>
                  <a:lnTo>
                    <a:pt x="57962" y="482"/>
                  </a:lnTo>
                  <a:lnTo>
                    <a:pt x="22618" y="18783"/>
                  </a:lnTo>
                  <a:lnTo>
                    <a:pt x="2133" y="56426"/>
                  </a:lnTo>
                  <a:lnTo>
                    <a:pt x="0" y="71196"/>
                  </a:lnTo>
                  <a:lnTo>
                    <a:pt x="0" y="2136521"/>
                  </a:lnTo>
                  <a:lnTo>
                    <a:pt x="0" y="2140077"/>
                  </a:lnTo>
                  <a:lnTo>
                    <a:pt x="18402" y="2177376"/>
                  </a:lnTo>
                  <a:lnTo>
                    <a:pt x="50673" y="2190750"/>
                  </a:lnTo>
                  <a:lnTo>
                    <a:pt x="4911852" y="2190750"/>
                  </a:lnTo>
                  <a:lnTo>
                    <a:pt x="4949151" y="2172347"/>
                  </a:lnTo>
                  <a:lnTo>
                    <a:pt x="4962525" y="2140077"/>
                  </a:lnTo>
                  <a:lnTo>
                    <a:pt x="4962525" y="71196"/>
                  </a:lnTo>
                  <a:lnTo>
                    <a:pt x="4948847" y="29705"/>
                  </a:lnTo>
                  <a:lnTo>
                    <a:pt x="4917325" y="3886"/>
                  </a:lnTo>
                  <a:lnTo>
                    <a:pt x="4904562" y="482"/>
                  </a:lnTo>
                  <a:lnTo>
                    <a:pt x="4900231" y="0"/>
                  </a:lnTo>
                  <a:close/>
                </a:path>
              </a:pathLst>
            </a:custGeom>
            <a:solidFill>
              <a:srgbClr val="242121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810237" y="1677250"/>
              <a:ext cx="4981575" cy="2199640"/>
            </a:xfrm>
            <a:custGeom>
              <a:avLst/>
              <a:gdLst/>
              <a:ahLst/>
              <a:cxnLst/>
              <a:rect l="l" t="t" r="r" b="b"/>
              <a:pathLst>
                <a:path w="4981575" h="2199640">
                  <a:moveTo>
                    <a:pt x="4981575" y="75361"/>
                  </a:moveTo>
                  <a:lnTo>
                    <a:pt x="4968748" y="33020"/>
                  </a:lnTo>
                  <a:lnTo>
                    <a:pt x="4934534" y="4965"/>
                  </a:lnTo>
                  <a:lnTo>
                    <a:pt x="4916144" y="0"/>
                  </a:lnTo>
                  <a:lnTo>
                    <a:pt x="4920246" y="1092"/>
                  </a:lnTo>
                  <a:lnTo>
                    <a:pt x="4934242" y="8826"/>
                  </a:lnTo>
                  <a:lnTo>
                    <a:pt x="4958169" y="46202"/>
                  </a:lnTo>
                  <a:lnTo>
                    <a:pt x="4962525" y="75361"/>
                  </a:lnTo>
                  <a:lnTo>
                    <a:pt x="4962525" y="2135682"/>
                  </a:lnTo>
                  <a:lnTo>
                    <a:pt x="4961750" y="2144128"/>
                  </a:lnTo>
                  <a:lnTo>
                    <a:pt x="4961712" y="2144598"/>
                  </a:lnTo>
                  <a:lnTo>
                    <a:pt x="4934991" y="2177110"/>
                  </a:lnTo>
                  <a:lnTo>
                    <a:pt x="4917821" y="2180386"/>
                  </a:lnTo>
                  <a:lnTo>
                    <a:pt x="63754" y="2180386"/>
                  </a:lnTo>
                  <a:lnTo>
                    <a:pt x="26428" y="2160397"/>
                  </a:lnTo>
                  <a:lnTo>
                    <a:pt x="19050" y="2135682"/>
                  </a:lnTo>
                  <a:lnTo>
                    <a:pt x="19050" y="75361"/>
                  </a:lnTo>
                  <a:lnTo>
                    <a:pt x="28676" y="33020"/>
                  </a:lnTo>
                  <a:lnTo>
                    <a:pt x="61328" y="1092"/>
                  </a:lnTo>
                  <a:lnTo>
                    <a:pt x="65443" y="0"/>
                  </a:lnTo>
                  <a:lnTo>
                    <a:pt x="61341" y="609"/>
                  </a:lnTo>
                  <a:lnTo>
                    <a:pt x="22313" y="21475"/>
                  </a:lnTo>
                  <a:lnTo>
                    <a:pt x="1460" y="60490"/>
                  </a:lnTo>
                  <a:lnTo>
                    <a:pt x="0" y="75361"/>
                  </a:lnTo>
                  <a:lnTo>
                    <a:pt x="0" y="2144128"/>
                  </a:lnTo>
                  <a:lnTo>
                    <a:pt x="1612" y="2152269"/>
                  </a:lnTo>
                  <a:lnTo>
                    <a:pt x="8089" y="2167890"/>
                  </a:lnTo>
                  <a:lnTo>
                    <a:pt x="12700" y="2174786"/>
                  </a:lnTo>
                  <a:lnTo>
                    <a:pt x="19151" y="2181237"/>
                  </a:lnTo>
                  <a:lnTo>
                    <a:pt x="24650" y="2186736"/>
                  </a:lnTo>
                  <a:lnTo>
                    <a:pt x="31546" y="2191347"/>
                  </a:lnTo>
                  <a:lnTo>
                    <a:pt x="47167" y="2197824"/>
                  </a:lnTo>
                  <a:lnTo>
                    <a:pt x="55308" y="2199436"/>
                  </a:lnTo>
                  <a:lnTo>
                    <a:pt x="4926266" y="2199436"/>
                  </a:lnTo>
                  <a:lnTo>
                    <a:pt x="4934407" y="2197824"/>
                  </a:lnTo>
                  <a:lnTo>
                    <a:pt x="4950028" y="2191347"/>
                  </a:lnTo>
                  <a:lnTo>
                    <a:pt x="4956924" y="2186736"/>
                  </a:lnTo>
                  <a:lnTo>
                    <a:pt x="4962423" y="2181237"/>
                  </a:lnTo>
                  <a:lnTo>
                    <a:pt x="4962906" y="2180755"/>
                  </a:lnTo>
                  <a:lnTo>
                    <a:pt x="4968875" y="2174786"/>
                  </a:lnTo>
                  <a:lnTo>
                    <a:pt x="4973485" y="2167890"/>
                  </a:lnTo>
                  <a:lnTo>
                    <a:pt x="4979949" y="2152269"/>
                  </a:lnTo>
                  <a:lnTo>
                    <a:pt x="4981486" y="2144598"/>
                  </a:lnTo>
                  <a:lnTo>
                    <a:pt x="4981575" y="75361"/>
                  </a:lnTo>
                  <a:close/>
                </a:path>
              </a:pathLst>
            </a:custGeom>
            <a:solidFill>
              <a:srgbClr val="961B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810250" y="1400174"/>
              <a:ext cx="4981575" cy="542925"/>
            </a:xfrm>
            <a:custGeom>
              <a:avLst/>
              <a:gdLst/>
              <a:ahLst/>
              <a:cxnLst/>
              <a:rect l="l" t="t" r="r" b="b"/>
              <a:pathLst>
                <a:path w="4981575" h="542925">
                  <a:moveTo>
                    <a:pt x="4981575" y="316750"/>
                  </a:moveTo>
                  <a:lnTo>
                    <a:pt x="4965852" y="278815"/>
                  </a:lnTo>
                  <a:lnTo>
                    <a:pt x="4926152" y="257581"/>
                  </a:lnTo>
                  <a:lnTo>
                    <a:pt x="4921999" y="257175"/>
                  </a:lnTo>
                  <a:lnTo>
                    <a:pt x="2764828" y="257175"/>
                  </a:lnTo>
                  <a:lnTo>
                    <a:pt x="2764485" y="251498"/>
                  </a:lnTo>
                  <a:lnTo>
                    <a:pt x="2758617" y="211988"/>
                  </a:lnTo>
                  <a:lnTo>
                    <a:pt x="2747022" y="173774"/>
                  </a:lnTo>
                  <a:lnTo>
                    <a:pt x="2729954" y="137668"/>
                  </a:lnTo>
                  <a:lnTo>
                    <a:pt x="2707767" y="104457"/>
                  </a:lnTo>
                  <a:lnTo>
                    <a:pt x="2680944" y="74866"/>
                  </a:lnTo>
                  <a:lnTo>
                    <a:pt x="2650071" y="49517"/>
                  </a:lnTo>
                  <a:lnTo>
                    <a:pt x="2615806" y="28994"/>
                  </a:lnTo>
                  <a:lnTo>
                    <a:pt x="2578912" y="13703"/>
                  </a:lnTo>
                  <a:lnTo>
                    <a:pt x="2540165" y="4000"/>
                  </a:lnTo>
                  <a:lnTo>
                    <a:pt x="2500414" y="88"/>
                  </a:lnTo>
                  <a:lnTo>
                    <a:pt x="2493759" y="0"/>
                  </a:lnTo>
                  <a:lnTo>
                    <a:pt x="2484234" y="0"/>
                  </a:lnTo>
                  <a:lnTo>
                    <a:pt x="2444407" y="2946"/>
                  </a:lnTo>
                  <a:lnTo>
                    <a:pt x="2405443" y="11684"/>
                  </a:lnTo>
                  <a:lnTo>
                    <a:pt x="2368169" y="26073"/>
                  </a:lnTo>
                  <a:lnTo>
                    <a:pt x="2333421" y="45745"/>
                  </a:lnTo>
                  <a:lnTo>
                    <a:pt x="2301925" y="70332"/>
                  </a:lnTo>
                  <a:lnTo>
                    <a:pt x="2274392" y="99250"/>
                  </a:lnTo>
                  <a:lnTo>
                    <a:pt x="2251392" y="131902"/>
                  </a:lnTo>
                  <a:lnTo>
                    <a:pt x="2233434" y="167576"/>
                  </a:lnTo>
                  <a:lnTo>
                    <a:pt x="2220912" y="205511"/>
                  </a:lnTo>
                  <a:lnTo>
                    <a:pt x="2214080" y="244868"/>
                  </a:lnTo>
                  <a:lnTo>
                    <a:pt x="2213152" y="257175"/>
                  </a:lnTo>
                  <a:lnTo>
                    <a:pt x="59575" y="257175"/>
                  </a:lnTo>
                  <a:lnTo>
                    <a:pt x="21640" y="272884"/>
                  </a:lnTo>
                  <a:lnTo>
                    <a:pt x="406" y="312597"/>
                  </a:lnTo>
                  <a:lnTo>
                    <a:pt x="0" y="316750"/>
                  </a:lnTo>
                  <a:lnTo>
                    <a:pt x="0" y="333375"/>
                  </a:lnTo>
                  <a:lnTo>
                    <a:pt x="2219934" y="333375"/>
                  </a:lnTo>
                  <a:lnTo>
                    <a:pt x="2220912" y="337426"/>
                  </a:lnTo>
                  <a:lnTo>
                    <a:pt x="2233434" y="375361"/>
                  </a:lnTo>
                  <a:lnTo>
                    <a:pt x="2251392" y="411022"/>
                  </a:lnTo>
                  <a:lnTo>
                    <a:pt x="2274392" y="443687"/>
                  </a:lnTo>
                  <a:lnTo>
                    <a:pt x="2301925" y="472605"/>
                  </a:lnTo>
                  <a:lnTo>
                    <a:pt x="2333421" y="497179"/>
                  </a:lnTo>
                  <a:lnTo>
                    <a:pt x="2368169" y="516864"/>
                  </a:lnTo>
                  <a:lnTo>
                    <a:pt x="2405443" y="531241"/>
                  </a:lnTo>
                  <a:lnTo>
                    <a:pt x="2444407" y="539991"/>
                  </a:lnTo>
                  <a:lnTo>
                    <a:pt x="2484234" y="542925"/>
                  </a:lnTo>
                  <a:lnTo>
                    <a:pt x="2493759" y="542925"/>
                  </a:lnTo>
                  <a:lnTo>
                    <a:pt x="2533586" y="539991"/>
                  </a:lnTo>
                  <a:lnTo>
                    <a:pt x="2572562" y="531241"/>
                  </a:lnTo>
                  <a:lnTo>
                    <a:pt x="2609824" y="516864"/>
                  </a:lnTo>
                  <a:lnTo>
                    <a:pt x="2644584" y="497179"/>
                  </a:lnTo>
                  <a:lnTo>
                    <a:pt x="2676067" y="472605"/>
                  </a:lnTo>
                  <a:lnTo>
                    <a:pt x="2703601" y="443687"/>
                  </a:lnTo>
                  <a:lnTo>
                    <a:pt x="2726601" y="411022"/>
                  </a:lnTo>
                  <a:lnTo>
                    <a:pt x="2744559" y="375361"/>
                  </a:lnTo>
                  <a:lnTo>
                    <a:pt x="2757081" y="337426"/>
                  </a:lnTo>
                  <a:lnTo>
                    <a:pt x="2758033" y="333375"/>
                  </a:lnTo>
                  <a:lnTo>
                    <a:pt x="4981575" y="333375"/>
                  </a:lnTo>
                  <a:lnTo>
                    <a:pt x="4981575" y="316750"/>
                  </a:lnTo>
                  <a:close/>
                </a:path>
              </a:pathLst>
            </a:custGeom>
            <a:solidFill>
              <a:srgbClr val="F203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387245" y="1604784"/>
              <a:ext cx="26034" cy="133985"/>
            </a:xfrm>
            <a:custGeom>
              <a:avLst/>
              <a:gdLst/>
              <a:ahLst/>
              <a:cxnLst/>
              <a:rect l="l" t="t" r="r" b="b"/>
              <a:pathLst>
                <a:path w="26034" h="133985">
                  <a:moveTo>
                    <a:pt x="25" y="0"/>
                  </a:moveTo>
                  <a:lnTo>
                    <a:pt x="20561" y="33896"/>
                  </a:lnTo>
                  <a:lnTo>
                    <a:pt x="25714" y="64030"/>
                  </a:lnTo>
                  <a:lnTo>
                    <a:pt x="25563" y="70807"/>
                  </a:lnTo>
                  <a:lnTo>
                    <a:pt x="15887" y="110236"/>
                  </a:lnTo>
                  <a:lnTo>
                    <a:pt x="4051" y="128587"/>
                  </a:lnTo>
                  <a:lnTo>
                    <a:pt x="0" y="133375"/>
                  </a:lnTo>
                </a:path>
              </a:pathLst>
            </a:custGeom>
            <a:ln w="96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89628" y="1561408"/>
              <a:ext cx="155623" cy="219821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5994603" y="2087562"/>
            <a:ext cx="4592320" cy="12382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35"/>
              </a:spcBef>
            </a:pPr>
            <a:r>
              <a:rPr sz="1650" b="1" spc="-30" dirty="0">
                <a:solidFill>
                  <a:srgbClr val="E5E0DF"/>
                </a:solidFill>
                <a:latin typeface="Trebuchet MS"/>
                <a:cs typeface="Trebuchet MS"/>
              </a:rPr>
              <a:t>Multimodal</a:t>
            </a:r>
            <a:r>
              <a:rPr sz="1650" b="1" spc="-105" dirty="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sz="1650" b="1" spc="-10" dirty="0">
                <a:solidFill>
                  <a:srgbClr val="E5E0DF"/>
                </a:solidFill>
                <a:latin typeface="Trebuchet MS"/>
                <a:cs typeface="Trebuchet MS"/>
              </a:rPr>
              <a:t>Detection</a:t>
            </a:r>
            <a:endParaRPr sz="1650">
              <a:latin typeface="Trebuchet MS"/>
              <a:cs typeface="Trebuchet MS"/>
            </a:endParaRPr>
          </a:p>
          <a:p>
            <a:pPr marL="12700" marR="5080" algn="just">
              <a:lnSpc>
                <a:spcPct val="136200"/>
              </a:lnSpc>
              <a:spcBef>
                <a:spcPts val="665"/>
              </a:spcBef>
            </a:pPr>
            <a:r>
              <a:rPr sz="1400" spc="-30" dirty="0">
                <a:solidFill>
                  <a:srgbClr val="E5E0DF"/>
                </a:solidFill>
                <a:latin typeface="Lucida Sans Unicode"/>
                <a:cs typeface="Lucida Sans Unicode"/>
              </a:rPr>
              <a:t>Integrate</a:t>
            </a:r>
            <a:r>
              <a:rPr sz="1400" spc="-11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60" dirty="0">
                <a:solidFill>
                  <a:srgbClr val="E5E0DF"/>
                </a:solidFill>
                <a:latin typeface="Lucida Sans Unicode"/>
                <a:cs typeface="Lucida Sans Unicode"/>
              </a:rPr>
              <a:t>audio</a:t>
            </a:r>
            <a:r>
              <a:rPr sz="1400" spc="-11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45" dirty="0">
                <a:solidFill>
                  <a:srgbClr val="E5E0DF"/>
                </a:solidFill>
                <a:latin typeface="Lucida Sans Unicode"/>
                <a:cs typeface="Lucida Sans Unicode"/>
              </a:rPr>
              <a:t>analysis,</a:t>
            </a:r>
            <a:r>
              <a:rPr sz="1400" spc="-11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50" dirty="0">
                <a:solidFill>
                  <a:srgbClr val="E5E0DF"/>
                </a:solidFill>
                <a:latin typeface="Lucida Sans Unicode"/>
                <a:cs typeface="Lucida Sans Unicode"/>
              </a:rPr>
              <a:t>physiological</a:t>
            </a:r>
            <a:r>
              <a:rPr sz="1400" spc="-11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60" dirty="0">
                <a:solidFill>
                  <a:srgbClr val="E5E0DF"/>
                </a:solidFill>
                <a:latin typeface="Lucida Sans Unicode"/>
                <a:cs typeface="Lucida Sans Unicode"/>
              </a:rPr>
              <a:t>signals,</a:t>
            </a:r>
            <a:r>
              <a:rPr sz="1400" spc="-11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45" dirty="0">
                <a:solidFill>
                  <a:srgbClr val="E5E0DF"/>
                </a:solidFill>
                <a:latin typeface="Lucida Sans Unicode"/>
                <a:cs typeface="Lucida Sans Unicode"/>
              </a:rPr>
              <a:t>and</a:t>
            </a:r>
            <a:r>
              <a:rPr sz="1400" spc="-11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E5E0DF"/>
                </a:solidFill>
                <a:latin typeface="Lucida Sans Unicode"/>
                <a:cs typeface="Lucida Sans Unicode"/>
              </a:rPr>
              <a:t>other</a:t>
            </a:r>
            <a:r>
              <a:rPr sz="1400" spc="-1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55" dirty="0">
                <a:solidFill>
                  <a:srgbClr val="E5E0DF"/>
                </a:solidFill>
                <a:latin typeface="Lucida Sans Unicode"/>
                <a:cs typeface="Lucida Sans Unicode"/>
              </a:rPr>
              <a:t>contextual</a:t>
            </a:r>
            <a:r>
              <a:rPr sz="1400" spc="-11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E5E0DF"/>
                </a:solidFill>
                <a:latin typeface="Lucida Sans Unicode"/>
                <a:cs typeface="Lucida Sans Unicode"/>
              </a:rPr>
              <a:t>data</a:t>
            </a:r>
            <a:r>
              <a:rPr sz="1400" spc="-11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50" dirty="0">
                <a:solidFill>
                  <a:srgbClr val="E5E0DF"/>
                </a:solidFill>
                <a:latin typeface="Lucida Sans Unicode"/>
                <a:cs typeface="Lucida Sans Unicode"/>
              </a:rPr>
              <a:t>streams</a:t>
            </a:r>
            <a:r>
              <a:rPr sz="1400" spc="-11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50" dirty="0">
                <a:solidFill>
                  <a:srgbClr val="E5E0DF"/>
                </a:solidFill>
                <a:latin typeface="Lucida Sans Unicode"/>
                <a:cs typeface="Lucida Sans Unicode"/>
              </a:rPr>
              <a:t>alongside</a:t>
            </a:r>
            <a:r>
              <a:rPr sz="1400" spc="-11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E5E0DF"/>
                </a:solidFill>
                <a:latin typeface="Lucida Sans Unicode"/>
                <a:cs typeface="Lucida Sans Unicode"/>
              </a:rPr>
              <a:t>video</a:t>
            </a:r>
            <a:r>
              <a:rPr sz="1400" spc="-11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E5E0DF"/>
                </a:solidFill>
                <a:latin typeface="Lucida Sans Unicode"/>
                <a:cs typeface="Lucida Sans Unicode"/>
              </a:rPr>
              <a:t>to</a:t>
            </a:r>
            <a:r>
              <a:rPr sz="1400" spc="-11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60" dirty="0">
                <a:solidFill>
                  <a:srgbClr val="E5E0DF"/>
                </a:solidFill>
                <a:latin typeface="Lucida Sans Unicode"/>
                <a:cs typeface="Lucida Sans Unicode"/>
              </a:rPr>
              <a:t>build</a:t>
            </a:r>
            <a:r>
              <a:rPr sz="1400" spc="-11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E5E0DF"/>
                </a:solidFill>
                <a:latin typeface="Lucida Sans Unicode"/>
                <a:cs typeface="Lucida Sans Unicode"/>
              </a:rPr>
              <a:t>a</a:t>
            </a:r>
            <a:r>
              <a:rPr sz="1400" spc="-11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60" dirty="0">
                <a:solidFill>
                  <a:srgbClr val="E5E0DF"/>
                </a:solidFill>
                <a:latin typeface="Lucida Sans Unicode"/>
                <a:cs typeface="Lucida Sans Unicode"/>
              </a:rPr>
              <a:t>more</a:t>
            </a:r>
            <a:r>
              <a:rPr sz="1400" spc="-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55" dirty="0">
                <a:solidFill>
                  <a:srgbClr val="E5E0DF"/>
                </a:solidFill>
                <a:latin typeface="Lucida Sans Unicode"/>
                <a:cs typeface="Lucida Sans Unicode"/>
              </a:rPr>
              <a:t>robust</a:t>
            </a:r>
            <a:r>
              <a:rPr sz="1400" spc="-11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45" dirty="0">
                <a:solidFill>
                  <a:srgbClr val="E5E0DF"/>
                </a:solidFill>
                <a:latin typeface="Lucida Sans Unicode"/>
                <a:cs typeface="Lucida Sans Unicode"/>
              </a:rPr>
              <a:t>and</a:t>
            </a:r>
            <a:r>
              <a:rPr sz="1400" spc="-11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45" dirty="0">
                <a:solidFill>
                  <a:srgbClr val="E5E0DF"/>
                </a:solidFill>
                <a:latin typeface="Lucida Sans Unicode"/>
                <a:cs typeface="Lucida Sans Unicode"/>
              </a:rPr>
              <a:t>comprehensive</a:t>
            </a:r>
            <a:r>
              <a:rPr sz="1400" spc="-11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E5E0DF"/>
                </a:solidFill>
                <a:latin typeface="Lucida Sans Unicode"/>
                <a:cs typeface="Lucida Sans Unicode"/>
              </a:rPr>
              <a:t>deepfake</a:t>
            </a:r>
            <a:r>
              <a:rPr sz="1400" spc="-11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E5E0DF"/>
                </a:solidFill>
                <a:latin typeface="Lucida Sans Unicode"/>
                <a:cs typeface="Lucida Sans Unicode"/>
              </a:rPr>
              <a:t>detection</a:t>
            </a:r>
            <a:r>
              <a:rPr sz="1400" spc="-11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55" dirty="0">
                <a:solidFill>
                  <a:srgbClr val="E5E0DF"/>
                </a:solidFill>
                <a:latin typeface="Lucida Sans Unicode"/>
                <a:cs typeface="Lucida Sans Unicode"/>
              </a:rPr>
              <a:t>system.</a:t>
            </a:r>
            <a:endParaRPr sz="1400">
              <a:latin typeface="Lucida Sans Unicode"/>
              <a:cs typeface="Lucida Sans Unicode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38174" y="4057649"/>
            <a:ext cx="4981575" cy="2466975"/>
            <a:chOff x="638174" y="4057649"/>
            <a:chExt cx="4981575" cy="2466975"/>
          </a:xfrm>
        </p:grpSpPr>
        <p:sp>
          <p:nvSpPr>
            <p:cNvPr id="18" name="object 18"/>
            <p:cNvSpPr/>
            <p:nvPr/>
          </p:nvSpPr>
          <p:spPr>
            <a:xfrm>
              <a:off x="647700" y="4333874"/>
              <a:ext cx="4962525" cy="2181225"/>
            </a:xfrm>
            <a:custGeom>
              <a:avLst/>
              <a:gdLst/>
              <a:ahLst/>
              <a:cxnLst/>
              <a:rect l="l" t="t" r="r" b="b"/>
              <a:pathLst>
                <a:path w="4962525" h="2181225">
                  <a:moveTo>
                    <a:pt x="4900231" y="0"/>
                  </a:moveTo>
                  <a:lnTo>
                    <a:pt x="62299" y="0"/>
                  </a:lnTo>
                  <a:lnTo>
                    <a:pt x="57964" y="482"/>
                  </a:lnTo>
                  <a:lnTo>
                    <a:pt x="22622" y="18783"/>
                  </a:lnTo>
                  <a:lnTo>
                    <a:pt x="2133" y="56426"/>
                  </a:lnTo>
                  <a:lnTo>
                    <a:pt x="0" y="71196"/>
                  </a:lnTo>
                  <a:lnTo>
                    <a:pt x="0" y="2126993"/>
                  </a:lnTo>
                  <a:lnTo>
                    <a:pt x="0" y="2130554"/>
                  </a:lnTo>
                  <a:lnTo>
                    <a:pt x="18399" y="2167855"/>
                  </a:lnTo>
                  <a:lnTo>
                    <a:pt x="50670" y="2181226"/>
                  </a:lnTo>
                  <a:lnTo>
                    <a:pt x="4911852" y="2181226"/>
                  </a:lnTo>
                  <a:lnTo>
                    <a:pt x="4949164" y="2162821"/>
                  </a:lnTo>
                  <a:lnTo>
                    <a:pt x="4962525" y="2130554"/>
                  </a:lnTo>
                  <a:lnTo>
                    <a:pt x="4962525" y="71196"/>
                  </a:lnTo>
                  <a:lnTo>
                    <a:pt x="4948859" y="29705"/>
                  </a:lnTo>
                  <a:lnTo>
                    <a:pt x="4917325" y="3886"/>
                  </a:lnTo>
                  <a:lnTo>
                    <a:pt x="4904562" y="482"/>
                  </a:lnTo>
                  <a:lnTo>
                    <a:pt x="4900231" y="0"/>
                  </a:lnTo>
                  <a:close/>
                </a:path>
              </a:pathLst>
            </a:custGeom>
            <a:solidFill>
              <a:srgbClr val="242121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38162" y="4334725"/>
              <a:ext cx="4981575" cy="2190115"/>
            </a:xfrm>
            <a:custGeom>
              <a:avLst/>
              <a:gdLst/>
              <a:ahLst/>
              <a:cxnLst/>
              <a:rect l="l" t="t" r="r" b="b"/>
              <a:pathLst>
                <a:path w="4981575" h="2190115">
                  <a:moveTo>
                    <a:pt x="4981575" y="75361"/>
                  </a:moveTo>
                  <a:lnTo>
                    <a:pt x="4968748" y="33020"/>
                  </a:lnTo>
                  <a:lnTo>
                    <a:pt x="4934534" y="4965"/>
                  </a:lnTo>
                  <a:lnTo>
                    <a:pt x="4916144" y="0"/>
                  </a:lnTo>
                  <a:lnTo>
                    <a:pt x="4920246" y="1092"/>
                  </a:lnTo>
                  <a:lnTo>
                    <a:pt x="4934242" y="8826"/>
                  </a:lnTo>
                  <a:lnTo>
                    <a:pt x="4958169" y="46202"/>
                  </a:lnTo>
                  <a:lnTo>
                    <a:pt x="4962525" y="75361"/>
                  </a:lnTo>
                  <a:lnTo>
                    <a:pt x="4962525" y="2126145"/>
                  </a:lnTo>
                  <a:lnTo>
                    <a:pt x="4961750" y="2134603"/>
                  </a:lnTo>
                  <a:lnTo>
                    <a:pt x="4961712" y="2135073"/>
                  </a:lnTo>
                  <a:lnTo>
                    <a:pt x="4934991" y="2167585"/>
                  </a:lnTo>
                  <a:lnTo>
                    <a:pt x="4917821" y="2170861"/>
                  </a:lnTo>
                  <a:lnTo>
                    <a:pt x="63766" y="2170861"/>
                  </a:lnTo>
                  <a:lnTo>
                    <a:pt x="54838" y="2170036"/>
                  </a:lnTo>
                  <a:lnTo>
                    <a:pt x="46596" y="2167585"/>
                  </a:lnTo>
                  <a:lnTo>
                    <a:pt x="39039" y="2163483"/>
                  </a:lnTo>
                  <a:lnTo>
                    <a:pt x="32664" y="2158200"/>
                  </a:lnTo>
                  <a:lnTo>
                    <a:pt x="32156" y="2157755"/>
                  </a:lnTo>
                  <a:lnTo>
                    <a:pt x="26428" y="2150872"/>
                  </a:lnTo>
                  <a:lnTo>
                    <a:pt x="22326" y="2143302"/>
                  </a:lnTo>
                  <a:lnTo>
                    <a:pt x="19875" y="2135073"/>
                  </a:lnTo>
                  <a:lnTo>
                    <a:pt x="19050" y="2126145"/>
                  </a:lnTo>
                  <a:lnTo>
                    <a:pt x="19050" y="75361"/>
                  </a:lnTo>
                  <a:lnTo>
                    <a:pt x="28676" y="33020"/>
                  </a:lnTo>
                  <a:lnTo>
                    <a:pt x="61341" y="1092"/>
                  </a:lnTo>
                  <a:lnTo>
                    <a:pt x="65443" y="0"/>
                  </a:lnTo>
                  <a:lnTo>
                    <a:pt x="61341" y="609"/>
                  </a:lnTo>
                  <a:lnTo>
                    <a:pt x="22326" y="21475"/>
                  </a:lnTo>
                  <a:lnTo>
                    <a:pt x="1460" y="60490"/>
                  </a:lnTo>
                  <a:lnTo>
                    <a:pt x="0" y="75361"/>
                  </a:lnTo>
                  <a:lnTo>
                    <a:pt x="0" y="2134603"/>
                  </a:lnTo>
                  <a:lnTo>
                    <a:pt x="19151" y="2171712"/>
                  </a:lnTo>
                  <a:lnTo>
                    <a:pt x="55308" y="2189911"/>
                  </a:lnTo>
                  <a:lnTo>
                    <a:pt x="4926266" y="2189911"/>
                  </a:lnTo>
                  <a:lnTo>
                    <a:pt x="4934407" y="2188286"/>
                  </a:lnTo>
                  <a:lnTo>
                    <a:pt x="4950028" y="2181822"/>
                  </a:lnTo>
                  <a:lnTo>
                    <a:pt x="4956924" y="2177211"/>
                  </a:lnTo>
                  <a:lnTo>
                    <a:pt x="4962423" y="2171712"/>
                  </a:lnTo>
                  <a:lnTo>
                    <a:pt x="4962906" y="2171230"/>
                  </a:lnTo>
                  <a:lnTo>
                    <a:pt x="4968875" y="2165248"/>
                  </a:lnTo>
                  <a:lnTo>
                    <a:pt x="4973485" y="2158352"/>
                  </a:lnTo>
                  <a:lnTo>
                    <a:pt x="4979962" y="2142731"/>
                  </a:lnTo>
                  <a:lnTo>
                    <a:pt x="4981486" y="2135073"/>
                  </a:lnTo>
                  <a:lnTo>
                    <a:pt x="4981575" y="75361"/>
                  </a:lnTo>
                  <a:close/>
                </a:path>
              </a:pathLst>
            </a:custGeom>
            <a:solidFill>
              <a:srgbClr val="961B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38175" y="4057662"/>
              <a:ext cx="4981575" cy="542925"/>
            </a:xfrm>
            <a:custGeom>
              <a:avLst/>
              <a:gdLst/>
              <a:ahLst/>
              <a:cxnLst/>
              <a:rect l="l" t="t" r="r" b="b"/>
              <a:pathLst>
                <a:path w="4981575" h="542925">
                  <a:moveTo>
                    <a:pt x="4981575" y="316738"/>
                  </a:moveTo>
                  <a:lnTo>
                    <a:pt x="4965865" y="278803"/>
                  </a:lnTo>
                  <a:lnTo>
                    <a:pt x="4926139" y="257568"/>
                  </a:lnTo>
                  <a:lnTo>
                    <a:pt x="4921999" y="257175"/>
                  </a:lnTo>
                  <a:lnTo>
                    <a:pt x="2764828" y="257175"/>
                  </a:lnTo>
                  <a:lnTo>
                    <a:pt x="2764485" y="251485"/>
                  </a:lnTo>
                  <a:lnTo>
                    <a:pt x="2758630" y="211975"/>
                  </a:lnTo>
                  <a:lnTo>
                    <a:pt x="2747022" y="173761"/>
                  </a:lnTo>
                  <a:lnTo>
                    <a:pt x="2729954" y="137655"/>
                  </a:lnTo>
                  <a:lnTo>
                    <a:pt x="2707767" y="104444"/>
                  </a:lnTo>
                  <a:lnTo>
                    <a:pt x="2680944" y="74853"/>
                  </a:lnTo>
                  <a:lnTo>
                    <a:pt x="2650071" y="49504"/>
                  </a:lnTo>
                  <a:lnTo>
                    <a:pt x="2615806" y="28981"/>
                  </a:lnTo>
                  <a:lnTo>
                    <a:pt x="2578912" y="13690"/>
                  </a:lnTo>
                  <a:lnTo>
                    <a:pt x="2540165" y="3987"/>
                  </a:lnTo>
                  <a:lnTo>
                    <a:pt x="2500414" y="76"/>
                  </a:lnTo>
                  <a:lnTo>
                    <a:pt x="2493759" y="0"/>
                  </a:lnTo>
                  <a:lnTo>
                    <a:pt x="2487091" y="76"/>
                  </a:lnTo>
                  <a:lnTo>
                    <a:pt x="2447353" y="3987"/>
                  </a:lnTo>
                  <a:lnTo>
                    <a:pt x="2408605" y="13690"/>
                  </a:lnTo>
                  <a:lnTo>
                    <a:pt x="2371712" y="28981"/>
                  </a:lnTo>
                  <a:lnTo>
                    <a:pt x="2337447" y="49504"/>
                  </a:lnTo>
                  <a:lnTo>
                    <a:pt x="2306574" y="74853"/>
                  </a:lnTo>
                  <a:lnTo>
                    <a:pt x="2279751" y="104444"/>
                  </a:lnTo>
                  <a:lnTo>
                    <a:pt x="2257564" y="137655"/>
                  </a:lnTo>
                  <a:lnTo>
                    <a:pt x="2240483" y="173761"/>
                  </a:lnTo>
                  <a:lnTo>
                    <a:pt x="2228888" y="211975"/>
                  </a:lnTo>
                  <a:lnTo>
                    <a:pt x="2223033" y="251485"/>
                  </a:lnTo>
                  <a:lnTo>
                    <a:pt x="2222677" y="257175"/>
                  </a:lnTo>
                  <a:lnTo>
                    <a:pt x="59563" y="257175"/>
                  </a:lnTo>
                  <a:lnTo>
                    <a:pt x="21628" y="272872"/>
                  </a:lnTo>
                  <a:lnTo>
                    <a:pt x="406" y="312585"/>
                  </a:lnTo>
                  <a:lnTo>
                    <a:pt x="0" y="316738"/>
                  </a:lnTo>
                  <a:lnTo>
                    <a:pt x="0" y="333375"/>
                  </a:lnTo>
                  <a:lnTo>
                    <a:pt x="2229459" y="333375"/>
                  </a:lnTo>
                  <a:lnTo>
                    <a:pt x="2230437" y="337413"/>
                  </a:lnTo>
                  <a:lnTo>
                    <a:pt x="2242959" y="375335"/>
                  </a:lnTo>
                  <a:lnTo>
                    <a:pt x="2260917" y="411010"/>
                  </a:lnTo>
                  <a:lnTo>
                    <a:pt x="2283917" y="443661"/>
                  </a:lnTo>
                  <a:lnTo>
                    <a:pt x="2311450" y="472592"/>
                  </a:lnTo>
                  <a:lnTo>
                    <a:pt x="2342946" y="497166"/>
                  </a:lnTo>
                  <a:lnTo>
                    <a:pt x="2377694" y="516851"/>
                  </a:lnTo>
                  <a:lnTo>
                    <a:pt x="2414968" y="531228"/>
                  </a:lnTo>
                  <a:lnTo>
                    <a:pt x="2453932" y="539978"/>
                  </a:lnTo>
                  <a:lnTo>
                    <a:pt x="2493759" y="542912"/>
                  </a:lnTo>
                  <a:lnTo>
                    <a:pt x="2500414" y="542836"/>
                  </a:lnTo>
                  <a:lnTo>
                    <a:pt x="2540165" y="538924"/>
                  </a:lnTo>
                  <a:lnTo>
                    <a:pt x="2578912" y="529221"/>
                  </a:lnTo>
                  <a:lnTo>
                    <a:pt x="2615806" y="513930"/>
                  </a:lnTo>
                  <a:lnTo>
                    <a:pt x="2650071" y="493407"/>
                  </a:lnTo>
                  <a:lnTo>
                    <a:pt x="2680944" y="468058"/>
                  </a:lnTo>
                  <a:lnTo>
                    <a:pt x="2707767" y="438467"/>
                  </a:lnTo>
                  <a:lnTo>
                    <a:pt x="2729954" y="405257"/>
                  </a:lnTo>
                  <a:lnTo>
                    <a:pt x="2747022" y="369150"/>
                  </a:lnTo>
                  <a:lnTo>
                    <a:pt x="2758046" y="333375"/>
                  </a:lnTo>
                  <a:lnTo>
                    <a:pt x="4981575" y="333375"/>
                  </a:lnTo>
                  <a:lnTo>
                    <a:pt x="4981575" y="316738"/>
                  </a:lnTo>
                  <a:close/>
                </a:path>
              </a:pathLst>
            </a:custGeom>
            <a:solidFill>
              <a:srgbClr val="F203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62945" y="4214619"/>
              <a:ext cx="137398" cy="228273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826095" y="4735512"/>
            <a:ext cx="4194175" cy="15430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10" dirty="0">
                <a:solidFill>
                  <a:srgbClr val="E5E0DF"/>
                </a:solidFill>
                <a:latin typeface="Trebuchet MS"/>
                <a:cs typeface="Trebuchet MS"/>
              </a:rPr>
              <a:t>Real-</a:t>
            </a:r>
            <a:r>
              <a:rPr sz="1650" b="1" spc="-45" dirty="0">
                <a:solidFill>
                  <a:srgbClr val="E5E0DF"/>
                </a:solidFill>
                <a:latin typeface="Trebuchet MS"/>
                <a:cs typeface="Trebuchet MS"/>
              </a:rPr>
              <a:t>time</a:t>
            </a:r>
            <a:r>
              <a:rPr sz="1650" b="1" spc="-150" dirty="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sz="1650" b="1" spc="-10" dirty="0">
                <a:solidFill>
                  <a:srgbClr val="E5E0DF"/>
                </a:solidFill>
                <a:latin typeface="Trebuchet MS"/>
                <a:cs typeface="Trebuchet MS"/>
              </a:rPr>
              <a:t>Optimization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36900"/>
              </a:lnSpc>
              <a:spcBef>
                <a:spcPts val="725"/>
              </a:spcBef>
            </a:pPr>
            <a:r>
              <a:rPr sz="1400" spc="-30" dirty="0">
                <a:solidFill>
                  <a:srgbClr val="E5E0DF"/>
                </a:solidFill>
                <a:latin typeface="Lucida Sans Unicode"/>
                <a:cs typeface="Lucida Sans Unicode"/>
              </a:rPr>
              <a:t>Further</a:t>
            </a:r>
            <a:r>
              <a:rPr sz="1400" spc="-7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optimize</a:t>
            </a:r>
            <a:r>
              <a:rPr sz="1400" spc="-7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E5E0DF"/>
                </a:solidFill>
                <a:latin typeface="Lucida Sans Unicode"/>
                <a:cs typeface="Lucida Sans Unicode"/>
              </a:rPr>
              <a:t>the</a:t>
            </a:r>
            <a:r>
              <a:rPr sz="1400" spc="-7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50" dirty="0">
                <a:solidFill>
                  <a:srgbClr val="E5E0DF"/>
                </a:solidFill>
                <a:latin typeface="Lucida Sans Unicode"/>
                <a:cs typeface="Lucida Sans Unicode"/>
              </a:rPr>
              <a:t>model</a:t>
            </a:r>
            <a:r>
              <a:rPr sz="1400" spc="-7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for</a:t>
            </a:r>
            <a:r>
              <a:rPr sz="1400" spc="-7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E5E0DF"/>
                </a:solidFill>
                <a:latin typeface="Lucida Sans Unicode"/>
                <a:cs typeface="Lucida Sans Unicode"/>
              </a:rPr>
              <a:t>faster</a:t>
            </a:r>
            <a:r>
              <a:rPr sz="1400" spc="-7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E5E0DF"/>
                </a:solidFill>
                <a:latin typeface="Lucida Sans Unicode"/>
                <a:cs typeface="Lucida Sans Unicode"/>
              </a:rPr>
              <a:t>inference</a:t>
            </a:r>
            <a:r>
              <a:rPr sz="1400" spc="-7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E5E0DF"/>
                </a:solidFill>
                <a:latin typeface="Lucida Sans Unicode"/>
                <a:cs typeface="Lucida Sans Unicode"/>
              </a:rPr>
              <a:t>and </a:t>
            </a:r>
            <a:r>
              <a:rPr sz="1400" spc="-50" dirty="0">
                <a:solidFill>
                  <a:srgbClr val="E5E0DF"/>
                </a:solidFill>
                <a:latin typeface="Lucida Sans Unicode"/>
                <a:cs typeface="Lucida Sans Unicode"/>
              </a:rPr>
              <a:t>lower</a:t>
            </a:r>
            <a:r>
              <a:rPr sz="1400" spc="-55" dirty="0">
                <a:solidFill>
                  <a:srgbClr val="E5E0DF"/>
                </a:solidFill>
                <a:latin typeface="Lucida Sans Unicode"/>
                <a:cs typeface="Lucida Sans Unicode"/>
              </a:rPr>
              <a:t> computational </a:t>
            </a:r>
            <a:r>
              <a:rPr sz="1400" spc="-70" dirty="0">
                <a:solidFill>
                  <a:srgbClr val="E5E0DF"/>
                </a:solidFill>
                <a:latin typeface="Lucida Sans Unicode"/>
                <a:cs typeface="Lucida Sans Unicode"/>
              </a:rPr>
              <a:t>footprint,</a:t>
            </a:r>
            <a:r>
              <a:rPr sz="1400" spc="-5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45" dirty="0">
                <a:solidFill>
                  <a:srgbClr val="E5E0DF"/>
                </a:solidFill>
                <a:latin typeface="Lucida Sans Unicode"/>
                <a:cs typeface="Lucida Sans Unicode"/>
              </a:rPr>
              <a:t>enabling</a:t>
            </a:r>
            <a:r>
              <a:rPr sz="1400" spc="-5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E5E0DF"/>
                </a:solidFill>
                <a:latin typeface="Lucida Sans Unicode"/>
                <a:cs typeface="Lucida Sans Unicode"/>
              </a:rPr>
              <a:t>seamless </a:t>
            </a:r>
            <a:r>
              <a:rPr sz="1400" spc="-45" dirty="0">
                <a:solidFill>
                  <a:srgbClr val="E5E0DF"/>
                </a:solidFill>
                <a:latin typeface="Lucida Sans Unicode"/>
                <a:cs typeface="Lucida Sans Unicode"/>
              </a:rPr>
              <a:t>deployment</a:t>
            </a:r>
            <a:r>
              <a:rPr sz="1400" spc="-6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in</a:t>
            </a:r>
            <a:r>
              <a:rPr sz="1400" spc="-6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85" dirty="0">
                <a:solidFill>
                  <a:srgbClr val="E5E0DF"/>
                </a:solidFill>
                <a:latin typeface="Lucida Sans Unicode"/>
                <a:cs typeface="Lucida Sans Unicode"/>
              </a:rPr>
              <a:t>real-</a:t>
            </a:r>
            <a:r>
              <a:rPr sz="1400" spc="-45" dirty="0">
                <a:solidFill>
                  <a:srgbClr val="E5E0DF"/>
                </a:solidFill>
                <a:latin typeface="Lucida Sans Unicode"/>
                <a:cs typeface="Lucida Sans Unicode"/>
              </a:rPr>
              <a:t>time</a:t>
            </a:r>
            <a:r>
              <a:rPr sz="1400" spc="-5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streaming,</a:t>
            </a:r>
            <a:r>
              <a:rPr sz="1400" spc="-6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E5E0DF"/>
                </a:solidFill>
                <a:latin typeface="Lucida Sans Unicode"/>
                <a:cs typeface="Lucida Sans Unicode"/>
              </a:rPr>
              <a:t>social</a:t>
            </a:r>
            <a:r>
              <a:rPr sz="1400" spc="-5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E5E0DF"/>
                </a:solidFill>
                <a:latin typeface="Lucida Sans Unicode"/>
                <a:cs typeface="Lucida Sans Unicode"/>
              </a:rPr>
              <a:t>media </a:t>
            </a:r>
            <a:r>
              <a:rPr sz="1400" spc="-70" dirty="0">
                <a:solidFill>
                  <a:srgbClr val="E5E0DF"/>
                </a:solidFill>
                <a:latin typeface="Lucida Sans Unicode"/>
                <a:cs typeface="Lucida Sans Unicode"/>
              </a:rPr>
              <a:t>platforms,</a:t>
            </a:r>
            <a:r>
              <a:rPr sz="14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50" dirty="0">
                <a:solidFill>
                  <a:srgbClr val="E5E0DF"/>
                </a:solidFill>
                <a:latin typeface="Lucida Sans Unicode"/>
                <a:cs typeface="Lucida Sans Unicode"/>
              </a:rPr>
              <a:t>and</a:t>
            </a:r>
            <a:r>
              <a:rPr sz="1400" spc="-6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45" dirty="0">
                <a:solidFill>
                  <a:srgbClr val="E5E0DF"/>
                </a:solidFill>
                <a:latin typeface="Lucida Sans Unicode"/>
                <a:cs typeface="Lucida Sans Unicode"/>
              </a:rPr>
              <a:t>edge</a:t>
            </a:r>
            <a:r>
              <a:rPr sz="14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E5E0DF"/>
                </a:solidFill>
                <a:latin typeface="Lucida Sans Unicode"/>
                <a:cs typeface="Lucida Sans Unicode"/>
              </a:rPr>
              <a:t>devices.</a:t>
            </a:r>
            <a:endParaRPr sz="1400">
              <a:latin typeface="Lucida Sans Unicode"/>
              <a:cs typeface="Lucida Sans Unicode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5810249" y="4057649"/>
            <a:ext cx="4981575" cy="2466975"/>
            <a:chOff x="5810249" y="4057649"/>
            <a:chExt cx="4981575" cy="2466975"/>
          </a:xfrm>
        </p:grpSpPr>
        <p:sp>
          <p:nvSpPr>
            <p:cNvPr id="24" name="object 24"/>
            <p:cNvSpPr/>
            <p:nvPr/>
          </p:nvSpPr>
          <p:spPr>
            <a:xfrm>
              <a:off x="5819775" y="4333874"/>
              <a:ext cx="4962525" cy="2181225"/>
            </a:xfrm>
            <a:custGeom>
              <a:avLst/>
              <a:gdLst/>
              <a:ahLst/>
              <a:cxnLst/>
              <a:rect l="l" t="t" r="r" b="b"/>
              <a:pathLst>
                <a:path w="4962525" h="2181225">
                  <a:moveTo>
                    <a:pt x="4900231" y="0"/>
                  </a:moveTo>
                  <a:lnTo>
                    <a:pt x="62293" y="0"/>
                  </a:lnTo>
                  <a:lnTo>
                    <a:pt x="57962" y="482"/>
                  </a:lnTo>
                  <a:lnTo>
                    <a:pt x="22618" y="18783"/>
                  </a:lnTo>
                  <a:lnTo>
                    <a:pt x="2133" y="56426"/>
                  </a:lnTo>
                  <a:lnTo>
                    <a:pt x="0" y="71196"/>
                  </a:lnTo>
                  <a:lnTo>
                    <a:pt x="0" y="2126993"/>
                  </a:lnTo>
                  <a:lnTo>
                    <a:pt x="0" y="2130554"/>
                  </a:lnTo>
                  <a:lnTo>
                    <a:pt x="18402" y="2167855"/>
                  </a:lnTo>
                  <a:lnTo>
                    <a:pt x="50673" y="2181226"/>
                  </a:lnTo>
                  <a:lnTo>
                    <a:pt x="4911852" y="2181226"/>
                  </a:lnTo>
                  <a:lnTo>
                    <a:pt x="4949151" y="2162821"/>
                  </a:lnTo>
                  <a:lnTo>
                    <a:pt x="4962525" y="2130554"/>
                  </a:lnTo>
                  <a:lnTo>
                    <a:pt x="4962525" y="71196"/>
                  </a:lnTo>
                  <a:lnTo>
                    <a:pt x="4948847" y="29705"/>
                  </a:lnTo>
                  <a:lnTo>
                    <a:pt x="4917325" y="3886"/>
                  </a:lnTo>
                  <a:lnTo>
                    <a:pt x="4904562" y="482"/>
                  </a:lnTo>
                  <a:lnTo>
                    <a:pt x="4900231" y="0"/>
                  </a:lnTo>
                  <a:close/>
                </a:path>
              </a:pathLst>
            </a:custGeom>
            <a:solidFill>
              <a:srgbClr val="242121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810237" y="4334725"/>
              <a:ext cx="4981575" cy="2190115"/>
            </a:xfrm>
            <a:custGeom>
              <a:avLst/>
              <a:gdLst/>
              <a:ahLst/>
              <a:cxnLst/>
              <a:rect l="l" t="t" r="r" b="b"/>
              <a:pathLst>
                <a:path w="4981575" h="2190115">
                  <a:moveTo>
                    <a:pt x="4981575" y="75361"/>
                  </a:moveTo>
                  <a:lnTo>
                    <a:pt x="4968748" y="33020"/>
                  </a:lnTo>
                  <a:lnTo>
                    <a:pt x="4934534" y="4965"/>
                  </a:lnTo>
                  <a:lnTo>
                    <a:pt x="4916144" y="0"/>
                  </a:lnTo>
                  <a:lnTo>
                    <a:pt x="4920246" y="1092"/>
                  </a:lnTo>
                  <a:lnTo>
                    <a:pt x="4934242" y="8826"/>
                  </a:lnTo>
                  <a:lnTo>
                    <a:pt x="4958169" y="46202"/>
                  </a:lnTo>
                  <a:lnTo>
                    <a:pt x="4962525" y="75361"/>
                  </a:lnTo>
                  <a:lnTo>
                    <a:pt x="4962525" y="2126145"/>
                  </a:lnTo>
                  <a:lnTo>
                    <a:pt x="4961750" y="2134603"/>
                  </a:lnTo>
                  <a:lnTo>
                    <a:pt x="4961712" y="2135073"/>
                  </a:lnTo>
                  <a:lnTo>
                    <a:pt x="4934991" y="2167585"/>
                  </a:lnTo>
                  <a:lnTo>
                    <a:pt x="4917821" y="2170861"/>
                  </a:lnTo>
                  <a:lnTo>
                    <a:pt x="63754" y="2170861"/>
                  </a:lnTo>
                  <a:lnTo>
                    <a:pt x="32156" y="2157755"/>
                  </a:lnTo>
                  <a:lnTo>
                    <a:pt x="26428" y="2150872"/>
                  </a:lnTo>
                  <a:lnTo>
                    <a:pt x="22326" y="2143302"/>
                  </a:lnTo>
                  <a:lnTo>
                    <a:pt x="19875" y="2135073"/>
                  </a:lnTo>
                  <a:lnTo>
                    <a:pt x="19050" y="2126145"/>
                  </a:lnTo>
                  <a:lnTo>
                    <a:pt x="19050" y="75361"/>
                  </a:lnTo>
                  <a:lnTo>
                    <a:pt x="28676" y="33020"/>
                  </a:lnTo>
                  <a:lnTo>
                    <a:pt x="61328" y="1092"/>
                  </a:lnTo>
                  <a:lnTo>
                    <a:pt x="65443" y="0"/>
                  </a:lnTo>
                  <a:lnTo>
                    <a:pt x="61341" y="609"/>
                  </a:lnTo>
                  <a:lnTo>
                    <a:pt x="22313" y="21475"/>
                  </a:lnTo>
                  <a:lnTo>
                    <a:pt x="1460" y="60490"/>
                  </a:lnTo>
                  <a:lnTo>
                    <a:pt x="0" y="75361"/>
                  </a:lnTo>
                  <a:lnTo>
                    <a:pt x="0" y="2134603"/>
                  </a:lnTo>
                  <a:lnTo>
                    <a:pt x="1612" y="2142731"/>
                  </a:lnTo>
                  <a:lnTo>
                    <a:pt x="8089" y="2158352"/>
                  </a:lnTo>
                  <a:lnTo>
                    <a:pt x="12700" y="2165248"/>
                  </a:lnTo>
                  <a:lnTo>
                    <a:pt x="18681" y="2171230"/>
                  </a:lnTo>
                  <a:lnTo>
                    <a:pt x="24650" y="2177211"/>
                  </a:lnTo>
                  <a:lnTo>
                    <a:pt x="31546" y="2181822"/>
                  </a:lnTo>
                  <a:lnTo>
                    <a:pt x="47167" y="2188286"/>
                  </a:lnTo>
                  <a:lnTo>
                    <a:pt x="55308" y="2189911"/>
                  </a:lnTo>
                  <a:lnTo>
                    <a:pt x="4926266" y="2189911"/>
                  </a:lnTo>
                  <a:lnTo>
                    <a:pt x="4934407" y="2188286"/>
                  </a:lnTo>
                  <a:lnTo>
                    <a:pt x="4950028" y="2181822"/>
                  </a:lnTo>
                  <a:lnTo>
                    <a:pt x="4956924" y="2177211"/>
                  </a:lnTo>
                  <a:lnTo>
                    <a:pt x="4962423" y="2171712"/>
                  </a:lnTo>
                  <a:lnTo>
                    <a:pt x="4962906" y="2171230"/>
                  </a:lnTo>
                  <a:lnTo>
                    <a:pt x="4968875" y="2165248"/>
                  </a:lnTo>
                  <a:lnTo>
                    <a:pt x="4973485" y="2158352"/>
                  </a:lnTo>
                  <a:lnTo>
                    <a:pt x="4979949" y="2142731"/>
                  </a:lnTo>
                  <a:lnTo>
                    <a:pt x="4981486" y="2135073"/>
                  </a:lnTo>
                  <a:lnTo>
                    <a:pt x="4981575" y="75361"/>
                  </a:lnTo>
                  <a:close/>
                </a:path>
              </a:pathLst>
            </a:custGeom>
            <a:solidFill>
              <a:srgbClr val="961B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810250" y="4057662"/>
              <a:ext cx="4981575" cy="542925"/>
            </a:xfrm>
            <a:custGeom>
              <a:avLst/>
              <a:gdLst/>
              <a:ahLst/>
              <a:cxnLst/>
              <a:rect l="l" t="t" r="r" b="b"/>
              <a:pathLst>
                <a:path w="4981575" h="542925">
                  <a:moveTo>
                    <a:pt x="4981575" y="316738"/>
                  </a:moveTo>
                  <a:lnTo>
                    <a:pt x="4965852" y="278803"/>
                  </a:lnTo>
                  <a:lnTo>
                    <a:pt x="4926152" y="257568"/>
                  </a:lnTo>
                  <a:lnTo>
                    <a:pt x="4921999" y="257175"/>
                  </a:lnTo>
                  <a:lnTo>
                    <a:pt x="2764828" y="257175"/>
                  </a:lnTo>
                  <a:lnTo>
                    <a:pt x="2764485" y="251485"/>
                  </a:lnTo>
                  <a:lnTo>
                    <a:pt x="2758617" y="211975"/>
                  </a:lnTo>
                  <a:lnTo>
                    <a:pt x="2747022" y="173761"/>
                  </a:lnTo>
                  <a:lnTo>
                    <a:pt x="2729954" y="137655"/>
                  </a:lnTo>
                  <a:lnTo>
                    <a:pt x="2707767" y="104444"/>
                  </a:lnTo>
                  <a:lnTo>
                    <a:pt x="2680944" y="74853"/>
                  </a:lnTo>
                  <a:lnTo>
                    <a:pt x="2650071" y="49504"/>
                  </a:lnTo>
                  <a:lnTo>
                    <a:pt x="2615806" y="28981"/>
                  </a:lnTo>
                  <a:lnTo>
                    <a:pt x="2578912" y="13690"/>
                  </a:lnTo>
                  <a:lnTo>
                    <a:pt x="2540165" y="3987"/>
                  </a:lnTo>
                  <a:lnTo>
                    <a:pt x="2500414" y="76"/>
                  </a:lnTo>
                  <a:lnTo>
                    <a:pt x="2493759" y="0"/>
                  </a:lnTo>
                  <a:lnTo>
                    <a:pt x="2484234" y="0"/>
                  </a:lnTo>
                  <a:lnTo>
                    <a:pt x="2444407" y="2933"/>
                  </a:lnTo>
                  <a:lnTo>
                    <a:pt x="2405443" y="11671"/>
                  </a:lnTo>
                  <a:lnTo>
                    <a:pt x="2368169" y="26060"/>
                  </a:lnTo>
                  <a:lnTo>
                    <a:pt x="2333421" y="45745"/>
                  </a:lnTo>
                  <a:lnTo>
                    <a:pt x="2301925" y="70319"/>
                  </a:lnTo>
                  <a:lnTo>
                    <a:pt x="2274392" y="99237"/>
                  </a:lnTo>
                  <a:lnTo>
                    <a:pt x="2251392" y="131889"/>
                  </a:lnTo>
                  <a:lnTo>
                    <a:pt x="2233434" y="167563"/>
                  </a:lnTo>
                  <a:lnTo>
                    <a:pt x="2220912" y="205498"/>
                  </a:lnTo>
                  <a:lnTo>
                    <a:pt x="2214080" y="244843"/>
                  </a:lnTo>
                  <a:lnTo>
                    <a:pt x="2213152" y="257175"/>
                  </a:lnTo>
                  <a:lnTo>
                    <a:pt x="59575" y="257175"/>
                  </a:lnTo>
                  <a:lnTo>
                    <a:pt x="21640" y="272872"/>
                  </a:lnTo>
                  <a:lnTo>
                    <a:pt x="406" y="312585"/>
                  </a:lnTo>
                  <a:lnTo>
                    <a:pt x="0" y="316738"/>
                  </a:lnTo>
                  <a:lnTo>
                    <a:pt x="0" y="333375"/>
                  </a:lnTo>
                  <a:lnTo>
                    <a:pt x="2219934" y="333375"/>
                  </a:lnTo>
                  <a:lnTo>
                    <a:pt x="2220912" y="337413"/>
                  </a:lnTo>
                  <a:lnTo>
                    <a:pt x="2233434" y="375335"/>
                  </a:lnTo>
                  <a:lnTo>
                    <a:pt x="2251392" y="411010"/>
                  </a:lnTo>
                  <a:lnTo>
                    <a:pt x="2274392" y="443661"/>
                  </a:lnTo>
                  <a:lnTo>
                    <a:pt x="2301925" y="472592"/>
                  </a:lnTo>
                  <a:lnTo>
                    <a:pt x="2333421" y="497166"/>
                  </a:lnTo>
                  <a:lnTo>
                    <a:pt x="2368169" y="516851"/>
                  </a:lnTo>
                  <a:lnTo>
                    <a:pt x="2405443" y="531228"/>
                  </a:lnTo>
                  <a:lnTo>
                    <a:pt x="2444407" y="539978"/>
                  </a:lnTo>
                  <a:lnTo>
                    <a:pt x="2484234" y="542912"/>
                  </a:lnTo>
                  <a:lnTo>
                    <a:pt x="2493759" y="542912"/>
                  </a:lnTo>
                  <a:lnTo>
                    <a:pt x="2533586" y="539978"/>
                  </a:lnTo>
                  <a:lnTo>
                    <a:pt x="2572562" y="531228"/>
                  </a:lnTo>
                  <a:lnTo>
                    <a:pt x="2609824" y="516851"/>
                  </a:lnTo>
                  <a:lnTo>
                    <a:pt x="2644584" y="497166"/>
                  </a:lnTo>
                  <a:lnTo>
                    <a:pt x="2676067" y="472592"/>
                  </a:lnTo>
                  <a:lnTo>
                    <a:pt x="2703601" y="443661"/>
                  </a:lnTo>
                  <a:lnTo>
                    <a:pt x="2726601" y="411010"/>
                  </a:lnTo>
                  <a:lnTo>
                    <a:pt x="2744559" y="375335"/>
                  </a:lnTo>
                  <a:lnTo>
                    <a:pt x="2757081" y="337413"/>
                  </a:lnTo>
                  <a:lnTo>
                    <a:pt x="2758033" y="333375"/>
                  </a:lnTo>
                  <a:lnTo>
                    <a:pt x="4981575" y="333375"/>
                  </a:lnTo>
                  <a:lnTo>
                    <a:pt x="4981575" y="316738"/>
                  </a:lnTo>
                  <a:close/>
                </a:path>
              </a:pathLst>
            </a:custGeom>
            <a:solidFill>
              <a:srgbClr val="F203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192261" y="4214735"/>
              <a:ext cx="222899" cy="228157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5994603" y="4735512"/>
            <a:ext cx="4587875" cy="15430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30" dirty="0">
                <a:solidFill>
                  <a:srgbClr val="E5E0DF"/>
                </a:solidFill>
                <a:latin typeface="Trebuchet MS"/>
                <a:cs typeface="Trebuchet MS"/>
              </a:rPr>
              <a:t>Explainable</a:t>
            </a:r>
            <a:r>
              <a:rPr sz="1650" b="1" spc="-204" dirty="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sz="1650" b="1" spc="55" dirty="0">
                <a:solidFill>
                  <a:srgbClr val="E5E0DF"/>
                </a:solidFill>
                <a:latin typeface="Trebuchet MS"/>
                <a:cs typeface="Trebuchet MS"/>
              </a:rPr>
              <a:t>AI</a:t>
            </a:r>
            <a:r>
              <a:rPr sz="1650" b="1" spc="-130" dirty="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sz="1650" b="1" spc="-10" dirty="0">
                <a:solidFill>
                  <a:srgbClr val="E5E0DF"/>
                </a:solidFill>
                <a:latin typeface="Trebuchet MS"/>
                <a:cs typeface="Trebuchet MS"/>
              </a:rPr>
              <a:t>(XAI)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36900"/>
              </a:lnSpc>
              <a:spcBef>
                <a:spcPts val="725"/>
              </a:spcBef>
            </a:pPr>
            <a:r>
              <a:rPr sz="1400" spc="-55" dirty="0">
                <a:solidFill>
                  <a:srgbClr val="E5E0DF"/>
                </a:solidFill>
                <a:latin typeface="Lucida Sans Unicode"/>
                <a:cs typeface="Lucida Sans Unicode"/>
              </a:rPr>
              <a:t>Develop</a:t>
            </a:r>
            <a:r>
              <a:rPr sz="1400" spc="-6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E5E0DF"/>
                </a:solidFill>
                <a:latin typeface="Lucida Sans Unicode"/>
                <a:cs typeface="Lucida Sans Unicode"/>
              </a:rPr>
              <a:t>interpretability</a:t>
            </a:r>
            <a:r>
              <a:rPr sz="1400" spc="-5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50" dirty="0">
                <a:solidFill>
                  <a:srgbClr val="E5E0DF"/>
                </a:solidFill>
                <a:latin typeface="Lucida Sans Unicode"/>
                <a:cs typeface="Lucida Sans Unicode"/>
              </a:rPr>
              <a:t>features</a:t>
            </a:r>
            <a:r>
              <a:rPr sz="1400" spc="-5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E5E0DF"/>
                </a:solidFill>
                <a:latin typeface="Lucida Sans Unicode"/>
                <a:cs typeface="Lucida Sans Unicode"/>
              </a:rPr>
              <a:t>to</a:t>
            </a:r>
            <a:r>
              <a:rPr sz="1400" spc="-55" dirty="0">
                <a:solidFill>
                  <a:srgbClr val="E5E0DF"/>
                </a:solidFill>
                <a:latin typeface="Lucida Sans Unicode"/>
                <a:cs typeface="Lucida Sans Unicode"/>
              </a:rPr>
              <a:t> provide</a:t>
            </a:r>
            <a:r>
              <a:rPr sz="1400" spc="-6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E5E0DF"/>
                </a:solidFill>
                <a:latin typeface="Lucida Sans Unicode"/>
                <a:cs typeface="Lucida Sans Unicode"/>
              </a:rPr>
              <a:t>clear</a:t>
            </a:r>
            <a:r>
              <a:rPr sz="1400" spc="50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60" dirty="0">
                <a:solidFill>
                  <a:srgbClr val="E5E0DF"/>
                </a:solidFill>
                <a:latin typeface="Lucida Sans Unicode"/>
                <a:cs typeface="Lucida Sans Unicode"/>
              </a:rPr>
              <a:t>insights</a:t>
            </a:r>
            <a:r>
              <a:rPr sz="1400" spc="-8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60" dirty="0">
                <a:solidFill>
                  <a:srgbClr val="E5E0DF"/>
                </a:solidFill>
                <a:latin typeface="Lucida Sans Unicode"/>
                <a:cs typeface="Lucida Sans Unicode"/>
              </a:rPr>
              <a:t>into</a:t>
            </a:r>
            <a:r>
              <a:rPr sz="1400" spc="-7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45" dirty="0">
                <a:solidFill>
                  <a:srgbClr val="E5E0DF"/>
                </a:solidFill>
                <a:latin typeface="Lucida Sans Unicode"/>
                <a:cs typeface="Lucida Sans Unicode"/>
              </a:rPr>
              <a:t>why</a:t>
            </a:r>
            <a:r>
              <a:rPr sz="1400" spc="-7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E5E0DF"/>
                </a:solidFill>
                <a:latin typeface="Lucida Sans Unicode"/>
                <a:cs typeface="Lucida Sans Unicode"/>
              </a:rPr>
              <a:t>a</a:t>
            </a:r>
            <a:r>
              <a:rPr sz="1400" spc="-7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45" dirty="0">
                <a:solidFill>
                  <a:srgbClr val="E5E0DF"/>
                </a:solidFill>
                <a:latin typeface="Lucida Sans Unicode"/>
                <a:cs typeface="Lucida Sans Unicode"/>
              </a:rPr>
              <a:t>deepfake</a:t>
            </a:r>
            <a:r>
              <a:rPr sz="1400" spc="-7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50" dirty="0">
                <a:solidFill>
                  <a:srgbClr val="E5E0DF"/>
                </a:solidFill>
                <a:latin typeface="Lucida Sans Unicode"/>
                <a:cs typeface="Lucida Sans Unicode"/>
              </a:rPr>
              <a:t>is</a:t>
            </a:r>
            <a:r>
              <a:rPr sz="1400" spc="-7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E5E0DF"/>
                </a:solidFill>
                <a:latin typeface="Lucida Sans Unicode"/>
                <a:cs typeface="Lucida Sans Unicode"/>
              </a:rPr>
              <a:t>detected,</a:t>
            </a:r>
            <a:r>
              <a:rPr sz="1400" spc="-7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50" dirty="0">
                <a:solidFill>
                  <a:srgbClr val="E5E0DF"/>
                </a:solidFill>
                <a:latin typeface="Lucida Sans Unicode"/>
                <a:cs typeface="Lucida Sans Unicode"/>
              </a:rPr>
              <a:t>increasing</a:t>
            </a:r>
            <a:r>
              <a:rPr sz="1400" spc="-7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E5E0DF"/>
                </a:solidFill>
                <a:latin typeface="Lucida Sans Unicode"/>
                <a:cs typeface="Lucida Sans Unicode"/>
              </a:rPr>
              <a:t>user </a:t>
            </a:r>
            <a:r>
              <a:rPr sz="1400" spc="-45" dirty="0">
                <a:solidFill>
                  <a:srgbClr val="E5E0DF"/>
                </a:solidFill>
                <a:latin typeface="Lucida Sans Unicode"/>
                <a:cs typeface="Lucida Sans Unicode"/>
              </a:rPr>
              <a:t>trust</a:t>
            </a:r>
            <a:r>
              <a:rPr sz="1400" spc="-7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50" dirty="0">
                <a:solidFill>
                  <a:srgbClr val="E5E0DF"/>
                </a:solidFill>
                <a:latin typeface="Lucida Sans Unicode"/>
                <a:cs typeface="Lucida Sans Unicode"/>
              </a:rPr>
              <a:t>and</a:t>
            </a:r>
            <a:r>
              <a:rPr sz="14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60" dirty="0">
                <a:solidFill>
                  <a:srgbClr val="E5E0DF"/>
                </a:solidFill>
                <a:latin typeface="Lucida Sans Unicode"/>
                <a:cs typeface="Lucida Sans Unicode"/>
              </a:rPr>
              <a:t>aiding</a:t>
            </a:r>
            <a:r>
              <a:rPr sz="14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55" dirty="0">
                <a:solidFill>
                  <a:srgbClr val="E5E0DF"/>
                </a:solidFill>
                <a:latin typeface="Lucida Sans Unicode"/>
                <a:cs typeface="Lucida Sans Unicode"/>
              </a:rPr>
              <a:t>forensic</a:t>
            </a:r>
            <a:r>
              <a:rPr sz="14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E5E0DF"/>
                </a:solidFill>
                <a:latin typeface="Lucida Sans Unicode"/>
                <a:cs typeface="Lucida Sans Unicode"/>
              </a:rPr>
              <a:t>analysts</a:t>
            </a:r>
            <a:r>
              <a:rPr sz="1400" spc="-7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65" dirty="0">
                <a:solidFill>
                  <a:srgbClr val="E5E0DF"/>
                </a:solidFill>
                <a:latin typeface="Lucida Sans Unicode"/>
                <a:cs typeface="Lucida Sans Unicode"/>
              </a:rPr>
              <a:t>in </a:t>
            </a:r>
            <a:r>
              <a:rPr sz="1400" spc="-10" dirty="0">
                <a:solidFill>
                  <a:srgbClr val="E5E0DF"/>
                </a:solidFill>
                <a:latin typeface="Lucida Sans Unicode"/>
                <a:cs typeface="Lucida Sans Unicode"/>
              </a:rPr>
              <a:t>understanding </a:t>
            </a:r>
            <a:r>
              <a:rPr sz="1400" spc="-55" dirty="0">
                <a:solidFill>
                  <a:srgbClr val="E5E0DF"/>
                </a:solidFill>
                <a:latin typeface="Lucida Sans Unicode"/>
                <a:cs typeface="Lucida Sans Unicode"/>
              </a:rPr>
              <a:t>manipulation</a:t>
            </a:r>
            <a:r>
              <a:rPr sz="1400" spc="-110" dirty="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E5E0DF"/>
                </a:solidFill>
                <a:latin typeface="Lucida Sans Unicode"/>
                <a:cs typeface="Lucida Sans Unicode"/>
              </a:rPr>
              <a:t>patterns.</a:t>
            </a:r>
            <a:endParaRPr sz="14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3475</TotalTime>
  <Words>890</Words>
  <Application>Microsoft Office PowerPoint</Application>
  <PresentationFormat>Custom</PresentationFormat>
  <Paragraphs>95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 MT</vt:lpstr>
      <vt:lpstr>Calibri</vt:lpstr>
      <vt:lpstr>Lucida Sans Unicode</vt:lpstr>
      <vt:lpstr>Trebuchet MS</vt:lpstr>
      <vt:lpstr>Office Theme</vt:lpstr>
      <vt:lpstr>PowerPoint Presentation</vt:lpstr>
      <vt:lpstr>PowerPoint Presentation</vt:lpstr>
      <vt:lpstr>Libraries Used</vt:lpstr>
      <vt:lpstr>Block Diagram: Detection Workflow</vt:lpstr>
      <vt:lpstr>Model Description</vt:lpstr>
      <vt:lpstr>Working Principle</vt:lpstr>
      <vt:lpstr>Result: High Accuracy Detection</vt:lpstr>
      <vt:lpstr>Advantages</vt:lpstr>
      <vt:lpstr>Limitations</vt:lpstr>
      <vt:lpstr>Applications</vt:lpstr>
      <vt:lpstr>Future Work &amp; Research Directions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</dc:title>
  <cp:lastModifiedBy>Nikhil Divekar</cp:lastModifiedBy>
  <cp:revision>6</cp:revision>
  <dcterms:created xsi:type="dcterms:W3CDTF">2026-01-26T14:23:29Z</dcterms:created>
  <dcterms:modified xsi:type="dcterms:W3CDTF">2026-01-29T06:02:39Z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2026-01-25T00:00:00Z</vt:filetime>
  </property>
  <property fmtid="{D5CDD505-2E9C-101B-9397-08002B2CF9AE}" pid="3" name="Creator">
    <vt:lpwstr>pdf-lib (https://github.com/Hopding/pdf-lib)</vt:lpwstr>
  </property>
  <property fmtid="{D5CDD505-2E9C-101B-9397-08002B2CF9AE}" pid="4" name="LastSaved">
    <vt:filetime>2026-01-26T00:00:00Z</vt:filetime>
  </property>
  <property fmtid="{D5CDD505-2E9C-101B-9397-08002B2CF9AE}" pid="5" name="Producer">
    <vt:lpwstr>GPL Ghostscript 9.56.1</vt:lpwstr>
  </property>
</Properties>
</file>