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/ppt/media/image9.png" Type="http://schemas.openxmlformats.org/officeDocument/2006/relationships/image"/><Relationship Id="rId10" Target="/ppt/media/image10.png" Type="http://schemas.openxmlformats.org/officeDocument/2006/relationships/image"/><Relationship Id="rId11" Target="/ppt/media/image11.png" Type="http://schemas.openxmlformats.org/officeDocument/2006/relationships/image"/><Relationship Id="rId12" Target="ppt/media/img_cc_black.png" Type="http://schemas.openxmlformats.org/officeDocument/2006/relationships/image"/><Relationship Id="rId13" Target="ppt/presentation.xml" Type="http://schemas.openxmlformats.org/officeDocument/2006/relationships/officeDocument"/><Relationship Id="rId14" Target="docProps/core.xml" Type="http://schemas.openxmlformats.org/package/2006/relationships/metadata/core-properties"/><Relationship Id="rId15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9144000" cy="5143500"/>
  <p:embeddedFontLst>
    <p:embeddedFont>
      <p:font typeface="Zoho Puvi"/>
      <p:regular r:id="rId16"/>
      <p:bold r:id="rId17"/>
    </p:embeddedFont>
    <p:embeddedFont>
      <p:font typeface="Lato"/>
      <p:regular r:id="rId18"/>
      <p:bold r:id="rId19"/>
    </p:embeddedFont>
  </p:embeddedFontLst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>
  <a:tblStyle styleId="{4565FFFA-593B-4160-AE56-AA1E85AAE889}" styleName="style 1">
    <a:wholeTbl>
      <a:tcTxStyle>
        <a:fontRef idx="minor">
          <a:srgbClr val="000000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tableStyles.xml" Type="http://schemas.openxmlformats.org/officeDocument/2006/relationships/tableStyles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0" Target="presProps.xml" Type="http://schemas.openxmlformats.org/officeDocument/2006/relationships/presProps"/><Relationship Id="rId21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2" Target="../media/image7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2" Target="../media/image8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2" Target="../media/image9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media/image10.png" Type="http://schemas.openxmlformats.org/officeDocument/2006/relationships/image"/><Relationship Id="rId3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media/image11.png" Type="http://schemas.openxmlformats.org/officeDocument/2006/relationships/image"/><Relationship Id="rId3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3E48EFC-C93F-410C-A35E-8969896A171C}">
                <a16:creationId xmlns:a16="http://schemas.microsoft.com/office/drawing/2010/main" id="{E94D1A89-FAEA-4DBD-9181-4E3C555462D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33500" y="2095500"/>
            <a:ext cx="6477000" cy="762000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09D03899-678C-4E42-B470-564EA6B30A15}">
                <a16:creationId xmlns:a16="http://schemas.microsoft.com/office/drawing/2010/main" id="{D29FA7D7-880B-48D5-B0EE-8284863C05B9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33500" y="2952750"/>
            <a:ext cx="6477000" cy="381000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97022520-3AD6-4223-8E13-8D6973822588}">
                <a16:creationId xmlns:a16="http://schemas.microsoft.com/office/drawing/2010/main" id="{1005C261-7ABC-44FA-A586-54A2785C576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FD3A768A-5770-4C11-8711-78703DBED547}">
                <a16:creationId xmlns:a16="http://schemas.microsoft.com/office/drawing/2010/main" id="{E8EB0CE9-51FD-4C45-8DEA-A69A01BA1FA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2B1BB2FE-198C-4B27-A4EB-C31A00E1F549}">
                <a16:creationId xmlns:a16="http://schemas.microsoft.com/office/drawing/2010/main" id="{CC692988-245F-47D2-A96D-748E9E940E3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69C21336-98E5-4A67-B24A-F20AEA64014F}">
        <p14:creationId xmlns:p14="http://schemas.microsoft.com/office/powerpoint/2010/main" val="1764837064962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FA70A7F-82DD-468B-9CFF-9FFA8F56D951}">
                <a16:creationId xmlns:a16="http://schemas.microsoft.com/office/drawing/2010/main" id="{A413AEDB-0DEC-489C-B5E4-761322080D6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82F1F1C7-0C4A-4D8F-A7B1-0586F386A476}">
                <a16:creationId xmlns:a16="http://schemas.microsoft.com/office/drawing/2010/main" id="{D3A3930E-1F6F-473E-8164-ADD399B307E8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333500"/>
            <a:ext cx="7620000" cy="31432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F60DE3E6-2B1B-4B03-8535-A8D08730C18D}">
                <a16:creationId xmlns:a16="http://schemas.microsoft.com/office/drawing/2010/main" id="{3561B079-46F4-4954-8502-139AF86DACA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4566A1EE-82C4-4532-832B-1F4C7A60D8DC}">
                <a16:creationId xmlns:a16="http://schemas.microsoft.com/office/drawing/2010/main" id="{144F8319-7EE1-474C-81F0-CFA2AE28DD2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1B861D38-BF90-4980-8232-103FB1B87BBB}">
                <a16:creationId xmlns:a16="http://schemas.microsoft.com/office/drawing/2010/main" id="{1704DEC4-B56D-45FC-BD87-DB67BA40314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2CE297E9-9B96-41F9-9025-872C3F974B43}">
        <p14:creationId xmlns:p14="http://schemas.microsoft.com/office/powerpoint/2010/main" val="1764837064964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089E2EA7-DBC2-454C-94AE-4244E5B067A9}">
                <a16:creationId xmlns:a16="http://schemas.microsoft.com/office/drawing/2010/main" id="{339EFA8E-8EF1-4C76-BC60-A33400977D9A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1333500" y="2000250"/>
            <a:ext cx="6477000" cy="381000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algn="ctr" indent="0" lvl="0" marL="0">
              <a:buNone/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false" id="3" name="Title 1">
            <a:extLst>
              <a:ext uri="{91C0A116-1A0F-47B1-AEC0-A289771D85B9}">
                <a16:creationId xmlns:a16="http://schemas.microsoft.com/office/drawing/2010/main" id="{ED902189-E6BB-4125-845C-3DD0B8263647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1333500" y="2476500"/>
            <a:ext cx="6477000" cy="666750"/>
          </a:xfrm>
          <a:prstGeom prst="rect">
            <a:avLst/>
          </a:prstGeom>
        </p:spPr>
        <p:txBody>
          <a:bodyPr anchor="t" rtlCol="0"/>
          <a:lstStyle>
            <a:lvl1pPr algn="ctr"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52945821-D749-4C84-96CB-8BB51A420B9A}">
                <a16:creationId xmlns:a16="http://schemas.microsoft.com/office/drawing/2010/main" id="{C8EE9143-45FD-4987-B7D3-78640A5309A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512A9B16-9C6D-450F-B3E9-67D57907C95E}">
                <a16:creationId xmlns:a16="http://schemas.microsoft.com/office/drawing/2010/main" id="{F7855767-56BF-462D-9714-27376DB1086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1A05CB92-DC9C-4036-9DC1-DE5F8EC3CD07}">
                <a16:creationId xmlns:a16="http://schemas.microsoft.com/office/drawing/2010/main" id="{99FC57AA-5CD6-45DF-BBE9-1D3F62AD331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AE778DE2-5F68-4580-88BF-DF018FF6D7A1}">
        <p14:creationId xmlns:p14="http://schemas.microsoft.com/office/powerpoint/2010/main" val="1764837064965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10B3BDE-1BC4-45B9-96C7-2A8A1D15A7AB}">
                <a16:creationId xmlns:a16="http://schemas.microsoft.com/office/drawing/2010/main" id="{766B244E-5127-4A3D-9E95-10DAC872ED1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C8558800-DD54-4071-AF97-55F06BC37168}">
                <a16:creationId xmlns:a16="http://schemas.microsoft.com/office/drawing/2010/main" id="{E4BDFF47-4D47-4460-8009-B5B713A41461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333500"/>
            <a:ext cx="3714750" cy="31432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2">
            <a:extLst>
              <a:ext uri="{653A417E-665F-4695-8AC1-E0EE23013004}">
                <a16:creationId xmlns:a16="http://schemas.microsoft.com/office/drawing/2010/main" id="{0916B1EC-0018-4F8B-BAFC-1E9445B23EA3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667250" y="1333500"/>
            <a:ext cx="3714750" cy="31432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6">
            <a:extLst>
              <a:ext uri="{4818E9EF-169F-436A-8E2B-801D9DE53F3E}">
                <a16:creationId xmlns:a16="http://schemas.microsoft.com/office/drawing/2010/main" id="{C75B6672-5D76-4D65-9674-2B46ABFB1D0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5">
            <a:extLst>
              <a:ext uri="{DCF13FA6-8F3D-4DFC-99C9-412964C0C692}">
                <a16:creationId xmlns:a16="http://schemas.microsoft.com/office/drawing/2010/main" id="{C79C6139-4630-4054-9FBB-81A9E91B2ED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4">
            <a:extLst>
              <a:ext uri="{3A508C8A-831D-4561-9A6C-0897AA27C191}">
                <a16:creationId xmlns:a16="http://schemas.microsoft.com/office/drawing/2010/main" id="{8846A365-8583-4EF1-A240-79CC3A7D79F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D542F4F5-27D9-4E5B-939D-B57EEE0EEC1B}">
        <p14:creationId xmlns:p14="http://schemas.microsoft.com/office/powerpoint/2010/main" val="1764837064966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56928E13-2C57-419E-93E4-6AF13BA957C6}">
                <a16:creationId xmlns:a16="http://schemas.microsoft.com/office/drawing/2010/main" id="{5AC3E1C3-4194-42E8-991F-89DEF02AFDD0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333500"/>
            <a:ext cx="3714750" cy="381000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D59BC942-9756-465F-B7B1-229FB880FBD4}">
                <a16:creationId xmlns:a16="http://schemas.microsoft.com/office/drawing/2010/main" id="{9175731E-B317-475F-B28A-BF55D4CC01EB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667250" y="1333500"/>
            <a:ext cx="3714750" cy="381000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E8E25E63-7AFB-4D82-9337-8A42E1378166}">
                <a16:creationId xmlns:a16="http://schemas.microsoft.com/office/drawing/2010/main" id="{8C320698-F059-4C76-A181-F27A3E092308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809750"/>
            <a:ext cx="3714750" cy="25717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4E28EFFE-6F67-477E-AC8F-D61C59D9B6B1}">
                <a16:creationId xmlns:a16="http://schemas.microsoft.com/office/drawing/2010/main" id="{93A70260-0197-473F-8CE0-8E7F085870E3}"/>
              </a:ext>
            </a:extLst>
          </p:cNvPr>
          <p:cNvSpPr>
            <a:spLocks noGrp="true"/>
          </p:cNvSpPr>
          <p:nvPr>
            <p:ph idx="3" type="title"/>
          </p:nvPr>
        </p:nvSpPr>
        <p:spPr>
          <a:xfrm rot="0">
            <a:off x="762000" y="571500"/>
            <a:ext cx="7620000" cy="5715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34206C52-39A1-4C70-A901-448DAEF754A5}">
                <a16:creationId xmlns:a16="http://schemas.microsoft.com/office/drawing/2010/main" id="{BE76996F-51FA-42D4-B78E-3509B7B990E9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667250" y="1809750"/>
            <a:ext cx="3714750" cy="25717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1016B4B2-42F0-4CE8-8D01-977310F05350}">
                <a16:creationId xmlns:a16="http://schemas.microsoft.com/office/drawing/2010/main" id="{BB06DF19-FB5D-46D9-8C4F-CDB94FB7019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6D74B98F-0C38-4D33-9C18-EF2F364D5F6E}">
                <a16:creationId xmlns:a16="http://schemas.microsoft.com/office/drawing/2010/main" id="{AF198DF3-ABC8-4AD1-9988-9F51D5DA7BF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C3832640-4F6B-44D8-8578-565E8C1D1D5E}">
                <a16:creationId xmlns:a16="http://schemas.microsoft.com/office/drawing/2010/main" id="{E215AE1F-80E0-4FC8-B236-FCE3DB44466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0E2F3BCF-5069-4CE6-B276-51E629BEACA6}">
        <p14:creationId xmlns:p14="http://schemas.microsoft.com/office/powerpoint/2010/main" val="1764837064968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91DDF6D-4D5B-464D-8309-7779B1C60DF4}">
                <a16:creationId xmlns:a16="http://schemas.microsoft.com/office/drawing/2010/main" id="{E013AEB8-341A-4738-8508-0BE186A8C0B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25908" y="2190750"/>
            <a:ext cx="6477000" cy="666750"/>
          </a:xfrm>
        </p:spPr>
        <p:txBody>
          <a:bodyPr anchor="ctr" rtlCol="0"/>
          <a:lstStyle>
            <a:lvl1pPr algn="ctr"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11ED399F-BC8A-418D-9CEA-54C1BB7EE129}">
                <a16:creationId xmlns:a16="http://schemas.microsoft.com/office/drawing/2010/main" id="{F3A3D3FF-AE1E-4E64-8B21-4F4DF3CC15F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48E57D41-771E-43D7-B1CC-75734431C72E}">
                <a16:creationId xmlns:a16="http://schemas.microsoft.com/office/drawing/2010/main" id="{787C5A7D-5248-41B4-9C20-BB7F7C5FA53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5CBBA8D3-8613-4AD1-8926-9053503752E5}">
                <a16:creationId xmlns:a16="http://schemas.microsoft.com/office/drawing/2010/main" id="{2BC54028-E577-47B7-8183-DC9235208EA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277DD835-8D85-4ADF-8AD8-9EF4FA23D9C2}">
        <p14:creationId xmlns:p14="http://schemas.microsoft.com/office/powerpoint/2010/main" val="1764837064969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30A5967A-733A-44F5-A7C9-3014E50780C3}">
                <a16:creationId xmlns:a16="http://schemas.microsoft.com/office/drawing/2010/main" id="{D245D739-87DD-4668-9EF7-5D725B636B0B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38878D1D-3A47-4AD0-99B5-B74DDEA1F545}">
                <a16:creationId xmlns:a16="http://schemas.microsoft.com/office/drawing/2010/main" id="{29568080-D9EC-4DBB-A78A-7BD5E685C74C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C3EA1FDF-A412-40AF-A4AE-EA6623D90C31}">
                <a16:creationId xmlns:a16="http://schemas.microsoft.com/office/drawing/2010/main" id="{AF746944-75DC-491A-BF66-C211FC5ADF1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E607BC88-394A-401E-81B0-111EA1AA5676}">
        <p14:creationId xmlns:p14="http://schemas.microsoft.com/office/powerpoint/2010/main" val="1764837064971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1CFAF46-C684-47C0-97C4-DEA638E84403}">
                <a16:creationId xmlns:a16="http://schemas.microsoft.com/office/drawing/2010/main" id="{35F268E6-73D9-4D24-8301-999CD13DEF9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0054AD08-AD5D-4CBF-A4D2-ACD40DB01B92}">
                <a16:creationId xmlns:a16="http://schemas.microsoft.com/office/drawing/2010/main" id="{2F7A1167-5D8A-4E9E-8732-E164D0A2CA89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333500"/>
            <a:ext cx="2857500" cy="314325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buNone/>
              <a:defRPr dirty="0" lang="en-US" sz="1400"/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6D3EE04F-F9D2-4CEE-86DD-25CFE1D2727C}">
                <a16:creationId xmlns:a16="http://schemas.microsoft.com/office/drawing/2010/main" id="{C1971DB8-EB60-4D8A-B47F-34F6459BCE97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14750" y="1333500"/>
            <a:ext cx="4667250" cy="31432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E9AC3A77-6E42-4CFE-8FC1-85B1B571CC11}">
                <a16:creationId xmlns:a16="http://schemas.microsoft.com/office/drawing/2010/main" id="{143D2E90-9F1B-483B-9B0F-2C04EC47A9B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F7DB409B-DD8D-4019-B809-E75315FB1FD2}">
                <a16:creationId xmlns:a16="http://schemas.microsoft.com/office/drawing/2010/main" id="{EF38EEB3-9061-422A-A7E1-6C6F57F0AB8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7F3BCDE1-5E17-4068-AA0A-EB33B0633156}">
                <a16:creationId xmlns:a16="http://schemas.microsoft.com/office/drawing/2010/main" id="{0BDB6215-8699-45ED-B460-67D43057468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A4B1D162-B965-4039-9593-728C6119BB4E}">
        <p14:creationId xmlns:p14="http://schemas.microsoft.com/office/powerpoint/2010/main" val="1764837064972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D24D85A-E3EC-41F3-AE4F-DCA6BE71F203}">
                <a16:creationId xmlns:a16="http://schemas.microsoft.com/office/drawing/2010/main" id="{2DBAB0E8-22F4-4008-A459-7E7517BD5D6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E70914EE-C8CA-4530-BDE4-5CB46B28F1EF}">
                <a16:creationId xmlns:a16="http://schemas.microsoft.com/office/drawing/2010/main" id="{9A140BF0-765F-4D6D-9B7C-B20F1F2B53F5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333500"/>
            <a:ext cx="2857500" cy="314325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buNone/>
              <a:defRPr dirty="0" lang="en-US" sz="1400"/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Picture Placeholder 2">
            <a:extLst>
              <a:ext uri="{84438C78-212A-4F2A-9898-6B801A671DC3}">
                <a16:creationId xmlns:a16="http://schemas.microsoft.com/office/drawing/2010/main" id="{165A586F-2DB6-4570-8DFB-8A6EE71CB2E3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14750" y="1333500"/>
            <a:ext cx="4667250" cy="31432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Slide Number Placeholder 4">
            <a:extLst>
              <a:ext uri="{FEBE1E7F-DBF8-4823-9E05-042B8F50C6A0}">
                <a16:creationId xmlns:a16="http://schemas.microsoft.com/office/drawing/2010/main" id="{7D32E0EB-CF9B-496C-A2A3-419262D72A1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3">
            <a:extLst>
              <a:ext uri="{C9BDCECE-81DA-426B-9907-408327DC4A75}">
                <a16:creationId xmlns:a16="http://schemas.microsoft.com/office/drawing/2010/main" id="{6B3CAC11-1FFE-4699-A5DA-CFB9CC1258B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B87AEBB2-24DD-4284-B503-2EA1FCC4210F}">
                <a16:creationId xmlns:a16="http://schemas.microsoft.com/office/drawing/2010/main" id="{8EB59A4F-B44A-483F-B95F-CAF6E1772289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237CF42F-CBF6-4986-9C78-9E09501F5489}">
        <p14:creationId xmlns:p14="http://schemas.microsoft.com/office/powerpoint/2010/main" val="1764837064974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8C7106D-AE8F-4BBF-8843-5A0C433E469C}">
                <a16:creationId xmlns:a16="http://schemas.microsoft.com/office/drawing/2010/main" id="{7F57A237-47E3-4551-9A9A-E7BAB538487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8E070479-D139-4E8F-B436-3806E9F98800}">
                <a16:creationId xmlns:a16="http://schemas.microsoft.com/office/drawing/2010/main" id="{E6C92549-82C1-4B1E-B970-CBF1BB9979CF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762000" y="1333500"/>
            <a:ext cx="19050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Content Placeholder 2">
            <a:extLst>
              <a:ext uri="{3862678C-1A5E-466A-A9EA-7B2B5981A3EC}">
                <a16:creationId xmlns:a16="http://schemas.microsoft.com/office/drawing/2010/main" id="{AE66EB29-C1E9-48EF-A954-EEA3C5EE8920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74777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buNone/>
              <a:defRPr dirty="0" lang="en-US" sz="12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09596DCD-7A3A-4926-8579-787D82A2B96F}">
                <a16:creationId xmlns:a16="http://schemas.microsoft.com/office/drawing/2010/main" id="{E951DF57-0F16-47A9-BB86-158149C50E11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57500" y="1333500"/>
            <a:ext cx="34290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Content Placeholder 2">
            <a:extLst>
              <a:ext uri="{F387B6D7-2910-4DA1-B44C-65A3E00F5C7C}">
                <a16:creationId xmlns:a16="http://schemas.microsoft.com/office/drawing/2010/main" id="{EF2F17B0-B44C-4C96-90E0-EA76604F9B23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857500" y="3810000"/>
            <a:ext cx="342900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buNone/>
              <a:defRPr dirty="0" lang="en-US" sz="12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7" name="Picture Placeholder 2">
            <a:extLst>
              <a:ext uri="{0ACB5EA6-C401-4387-AF13-1C699A3D3673}">
                <a16:creationId xmlns:a16="http://schemas.microsoft.com/office/drawing/2010/main" id="{1B0E565A-21B9-4C80-9E99-F6C158314CEB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477000" y="1333500"/>
            <a:ext cx="19050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8" name="Content Placeholder 2">
            <a:extLst>
              <a:ext uri="{10F9AEE8-81EA-4EBF-B0FE-120786AE834F}">
                <a16:creationId xmlns:a16="http://schemas.microsoft.com/office/drawing/2010/main" id="{9BB4D76A-546A-4394-B02C-C94A460E80DA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507222" y="3810000"/>
            <a:ext cx="187160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buNone/>
              <a:defRPr dirty="0" lang="en-US" sz="12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9" name="Slide Number Placeholder 4">
            <a:extLst>
              <a:ext uri="{359543B4-E499-4F97-AC73-32BC5B133F7C}">
                <a16:creationId xmlns:a16="http://schemas.microsoft.com/office/drawing/2010/main" id="{53CC8BB4-85BC-4621-B22C-7081E1955B0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0" name="Footer Placeholder 3">
            <a:extLst>
              <a:ext uri="{6100AD54-3166-4B52-AAA1-101F7D82914F}">
                <a16:creationId xmlns:a16="http://schemas.microsoft.com/office/drawing/2010/main" id="{6B2C2338-A2A2-44A2-9BC6-5A61386070F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1" name="Date Placeholder 1">
            <a:extLst>
              <a:ext uri="{F5DDA5B1-B9B7-437E-90A7-A8386A6E4EA7}">
                <a16:creationId xmlns:a16="http://schemas.microsoft.com/office/drawing/2010/main" id="{697BB9A1-38BA-4750-89FB-B08DA0245B2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3"/>
    </p:custDataLst>
    <p:extLst>
      <p:ext uri="{29807726-CF59-4814-B6CC-3D5DD18896F6}">
        <p14:creationId xmlns:p14="http://schemas.microsoft.com/office/powerpoint/2010/main" val="1764837064977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15E8C34-AD99-4E07-811A-79411FA92DAD}">
                <a16:creationId xmlns:a16="http://schemas.microsoft.com/office/drawing/2010/main" id="{356C59B9-FE15-4A6B-BE5D-8C33B4B3485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7365829C-C8B1-435C-B2F9-A02E2B8245FB}">
                <a16:creationId xmlns:a16="http://schemas.microsoft.com/office/drawing/2010/main" id="{E70F806D-F750-475F-83CB-602B1F797247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762000" y="1333500"/>
            <a:ext cx="2286000" cy="31432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0B25FC18-80EB-4E6A-8430-D424F0C53E03}">
                <a16:creationId xmlns:a16="http://schemas.microsoft.com/office/drawing/2010/main" id="{26F72102-1872-45C6-93C1-4D850641BC6B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333750" y="1333500"/>
            <a:ext cx="2476500" cy="133350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C8B16092-5E95-4DB3-A456-9A1B24A41647}">
                <a16:creationId xmlns:a16="http://schemas.microsoft.com/office/drawing/2010/main" id="{0AA0201E-EC19-48BB-A129-41638DFA518F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3333750" y="3143250"/>
            <a:ext cx="2476500" cy="133350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967B5AFF-AF54-45F2-AB05-0B52BA8B3D98}">
                <a16:creationId xmlns:a16="http://schemas.microsoft.com/office/drawing/2010/main" id="{942A110A-3518-4DB8-9538-7935079E5C3C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096000" y="1333500"/>
            <a:ext cx="2286000" cy="31432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hidden="true" id="7" name="Slide Number Placeholder 4">
            <a:extLst>
              <a:ext uri="{8E0A2431-9D70-4C6E-8FBF-1D4485FA9535}">
                <a16:creationId xmlns:a16="http://schemas.microsoft.com/office/drawing/2010/main" id="{20B36D6E-4D0B-407E-8D64-A97E8EF9C17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8" name="Footer Placeholder 3">
            <a:extLst>
              <a:ext uri="{66E23DAB-83A4-47B6-963D-213061AE970F}">
                <a16:creationId xmlns:a16="http://schemas.microsoft.com/office/drawing/2010/main" id="{240C5C5A-B603-4FB7-8903-BB7488903E7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9" name="Date Placeholder 1">
            <a:extLst>
              <a:ext uri="{99AC435A-0BA8-4E63-889F-32D1E6D336CE}">
                <a16:creationId xmlns:a16="http://schemas.microsoft.com/office/drawing/2010/main" id="{5794DDCA-12D5-466F-BC18-D74022B4B03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3"/>
    </p:custDataLst>
    <p:extLst>
      <p:ext uri="{56E1757A-DD34-4057-83BA-FD0684501C1F}">
        <p14:creationId xmlns:p14="http://schemas.microsoft.com/office/powerpoint/2010/main" val="1764837064979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C7348E0-B282-45C5-BE89-B7C9F73C0772}">
                <a16:creationId xmlns:a16="http://schemas.microsoft.com/office/drawing/2010/main" id="{6378CF55-F305-4693-91AA-10E38444B98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D64BEB0B-5AA8-41BA-9A22-51095789C377}">
                <a16:creationId xmlns:a16="http://schemas.microsoft.com/office/drawing/2010/main" id="{C4CF510D-FF91-4900-BABC-54379CD21EC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4" name="Slide Number Placeholder 5">
            <a:extLst>
              <a:ext uri="{4F3DDE52-DC3F-4531-9C32-EA04AF30BC2B}">
                <a16:creationId xmlns:a16="http://schemas.microsoft.com/office/drawing/2010/main" id="{4CD753D6-B4D0-4AA5-A416-6CD87EC6368D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5" name="Footer Placeholder 4">
            <a:extLst>
              <a:ext uri="{7E229F2E-9B72-4314-A158-7F3E3367B92B}">
                <a16:creationId xmlns:a16="http://schemas.microsoft.com/office/drawing/2010/main" id="{F70550A7-EEF2-4368-878A-A5BA3315185A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6" name="Date Placeholder 3">
            <a:extLst>
              <a:ext uri="{90120B3E-392E-4FB5-B446-47A3B43F530D}">
                <a16:creationId xmlns:a16="http://schemas.microsoft.com/office/drawing/2010/main" id="{44982678-8075-4D2E-8830-01AF4863B4DE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dk1" bg2="dk2" folHlink="folHlink" hlink="hlink" tx1="lt1" tx2="lt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har char="•"/>
        <a:buClr>
          <a:schemeClr val="tx1"/>
        </a:buClr>
        <a:buFont typeface="Arial"/>
        <a:defRPr b="0" dirty="0" i="0" lang="en-US" sz="1600">
          <a:solidFill>
            <a:srgbClr val="ffffff"/>
          </a:solidFill>
          <a:latin typeface="+mn-lt"/>
        </a:defRPr>
      </a:lvl1pPr>
      <a:lvl2pPr algn="l" indent="-285750" lvl="1" marL="742950" rtl="false">
        <a:spcBef>
          <a:spcPts val="300"/>
        </a:spcBef>
        <a:buChar char="-"/>
        <a:buClr>
          <a:schemeClr val="tx1"/>
        </a:buClr>
        <a:buFont typeface="Arial"/>
        <a:defRPr b="0" dirty="0" i="0" lang="en-US" sz="1400">
          <a:solidFill>
            <a:srgbClr val="ffffff"/>
          </a:solidFill>
          <a:latin typeface="+mn-lt"/>
        </a:defRPr>
      </a:lvl2pPr>
      <a:lvl3pPr algn="l" indent="-228600" lvl="2" marL="1143000" rtl="false">
        <a:spcBef>
          <a:spcPts val="300"/>
        </a:spcBef>
        <a:buChar char="-"/>
        <a:buClr>
          <a:schemeClr val="tx1"/>
        </a:buClr>
        <a:buFont typeface="Arial"/>
        <a:defRPr b="0" dirty="0" i="0" lang="en-US" sz="1200">
          <a:solidFill>
            <a:srgbClr val="ffffff"/>
          </a:solidFill>
          <a:latin typeface="+mn-lt"/>
        </a:defRPr>
      </a:lvl3pPr>
      <a:lvl4pPr algn="l" indent="-228600" lvl="3" marL="1600200" rtl="false">
        <a:spcBef>
          <a:spcPts val="300"/>
        </a:spcBef>
        <a:buChar char="-"/>
        <a:buClr>
          <a:schemeClr val="tx1"/>
        </a:buClr>
        <a:buFont typeface="Arial"/>
        <a:defRPr b="0" dirty="0" i="0" lang="en-US" sz="1000">
          <a:solidFill>
            <a:srgbClr val="ffffff"/>
          </a:solidFill>
          <a:latin typeface="+mn-lt"/>
        </a:defRPr>
      </a:lvl4pPr>
      <a:lvl5pPr algn="l" indent="-228600" lvl="4" marL="2057400" rtl="false">
        <a:spcBef>
          <a:spcPts val="300"/>
        </a:spcBef>
        <a:buChar char="-"/>
        <a:buClr>
          <a:schemeClr val="tx1"/>
        </a:buClr>
        <a:buFont typeface="Arial"/>
        <a:defRPr b="0" dirty="0" i="0" lang="en-US" sz="900">
          <a:solidFill>
            <a:srgbClr val="ffffff"/>
          </a:solidFill>
          <a:latin typeface="+mn-lt"/>
        </a:defRPr>
      </a:lvl5pPr>
      <a:lvl6pPr algn="l" indent="-228600" lvl="5" marL="25146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FECBF76-4995-41AA-A485-FF41A83E349D}">
                <a16:creationId xmlns:a16="http://schemas.microsoft.com/office/drawing/2010/main" id="{CA015140-6E1F-4FFA-8215-1D941AB294E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33500" y="385371"/>
            <a:ext cx="6477000" cy="1339748"/>
          </a:xfrm>
        </p:spPr>
        <p:txBody>
          <a:bodyPr rtlCol="0"/>
          <a:lstStyle/>
          <a:p>
            <a:pPr/>
            <a:r>
              <a:rPr dirty="0" lang="en-US"/>
              <a:t>Deepfake</a:t>
            </a:r>
            <a:r>
              <a:rPr dirty="0" lang="en-US"/>
              <a:t> </a:t>
            </a:r>
            <a:r>
              <a:rPr dirty="0" lang="en-US"/>
              <a:t>faceswap</a:t>
            </a:r>
            <a:r>
              <a:rPr dirty="0" lang="en-US"/>
              <a:t> video classification</a:t>
            </a:r>
            <a:endParaRPr dirty="0" lang="en-US"/>
          </a:p>
        </p:txBody>
      </p:sp>
      <p:sp>
        <p:nvSpPr>
          <p:cNvPr id="3" name="Subtitle 2">
            <a:extLst>
              <a:ext uri="{34A5E875-8465-48A1-84E0-28E82F225B12}">
                <a16:creationId xmlns:a16="http://schemas.microsoft.com/office/drawing/2010/main" id="{11E7EA69-F59E-427E-B225-EA5E4ECE989A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33500" y="2952750"/>
            <a:ext cx="6477000" cy="1424263"/>
          </a:xfrm>
        </p:spPr>
        <p:txBody>
          <a:bodyPr rtlCol="0"/>
          <a:lstStyle/>
          <a:p>
            <a:pPr/>
            <a:r>
              <a:rPr dirty="0" lang="en-US"/>
              <a:t>By - Swapnil Lade </a:t>
            </a:r>
          </a:p>
          <a:p>
            <a:pPr/>
            <a:r>
              <a:rPr dirty="0" lang="en-US"/>
              <a:t>Nikhil Divekar</a:t>
            </a:r>
          </a:p>
          <a:p>
            <a:pPr/>
            <a:r>
              <a:rPr dirty="0" lang="en-US"/>
              <a:t>Vicky Pawar</a:t>
            </a:r>
            <a:endParaRPr dirty="0" lang="en-US"/>
          </a:p>
        </p:txBody>
      </p:sp>
    </p:spTree>
    <p:extLst>
      <p:ext uri="{1EE5BA95-AC7B-40CE-BA21-F65B1C179B20}">
        <p14:creationId xmlns:p14="http://schemas.microsoft.com/office/powerpoint/2010/main" val="176483706498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4F8630E1-DE79-46E8-BFFF-928E2FA79661}">
                <a16:creationId xmlns:a16="http://schemas.microsoft.com/office/drawing/2010/main" id="{6E880F0C-7BE8-4EDF-8E38-300DC5DD290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PROBLEM STATEMENT</a:t>
            </a:r>
            <a:endParaRPr dirty="0" lang="en-US"/>
          </a:p>
        </p:txBody>
      </p:sp>
      <p:sp>
        <p:nvSpPr>
          <p:cNvPr id="3" name="Content Placeholder 2">
            <a:extLst>
              <a:ext uri="{30B91900-0178-4C50-9422-9CEBE105BAED}">
                <a16:creationId xmlns:a16="http://schemas.microsoft.com/office/drawing/2010/main" id="{955C982E-96F8-47CE-AE74-AB1BE3D9C5D3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dirty="0" lang="en-US"/>
              <a:t>The </a:t>
            </a:r>
            <a:r>
              <a:rPr dirty="0" lang="en-US"/>
              <a:t>deepfake</a:t>
            </a:r>
            <a:r>
              <a:rPr dirty="0" lang="en-US"/>
              <a:t> videos are create using Generative adversarial networks (</a:t>
            </a:r>
            <a:r>
              <a:rPr dirty="0" lang="en-US"/>
              <a:t>GANs</a:t>
            </a:r>
            <a:r>
              <a:rPr dirty="0" lang="en-US"/>
              <a:t>) and </a:t>
            </a:r>
            <a:r>
              <a:rPr dirty="0" lang="en-US"/>
              <a:t>Variational</a:t>
            </a:r>
            <a:r>
              <a:rPr dirty="0" lang="en-US"/>
              <a:t>  </a:t>
            </a:r>
            <a:r>
              <a:rPr dirty="0" lang="en-US"/>
              <a:t>autoencoders </a:t>
            </a:r>
            <a:r>
              <a:rPr dirty="0" lang="en-US"/>
              <a:t>(</a:t>
            </a:r>
            <a:r>
              <a:rPr dirty="0" lang="en-US"/>
              <a:t>VAEs</a:t>
            </a:r>
            <a:r>
              <a:rPr dirty="0" lang="en-US"/>
              <a:t>).</a:t>
            </a:r>
          </a:p>
          <a:p>
            <a:pPr algn="just"/>
            <a:r>
              <a:rPr dirty="0" lang="en-US">
                <a:latin typeface="Lato"/>
              </a:rPr>
              <a:t>These </a:t>
            </a:r>
            <a:r>
              <a:rPr dirty="0" lang="en-US">
                <a:latin typeface="Lato"/>
              </a:rPr>
              <a:t>deepfake</a:t>
            </a:r>
            <a:r>
              <a:rPr dirty="0" lang="en-US">
                <a:latin typeface="Lato"/>
              </a:rPr>
              <a:t> videos are often indistinguishable from authentic content to the human eye.</a:t>
            </a:r>
          </a:p>
          <a:p>
            <a:pPr algn="just"/>
            <a:r>
              <a:rPr dirty="0" lang="en-US">
                <a:latin typeface="Lato"/>
              </a:rPr>
              <a:t>This technology is being increasingly exploited for </a:t>
            </a:r>
            <a:r>
              <a:rPr b="1" dirty="0" lang="en-US">
                <a:latin typeface="Lato"/>
              </a:rPr>
              <a:t>malicious purposes</a:t>
            </a:r>
            <a:r>
              <a:rPr dirty="0" lang="en-US">
                <a:latin typeface="Lato"/>
              </a:rPr>
              <a:t> such as spreading misinformation, political manipulation, financial fraud, identity theft, and creating non-consensual content, which poses a significant threat to digital media authenticity, public trust, and individual reputation.</a:t>
            </a:r>
            <a:endParaRPr dirty="0" lang="en-US">
              <a:latin typeface="Lato"/>
            </a:endParaRPr>
          </a:p>
        </p:txBody>
      </p:sp>
    </p:spTree>
    <p:extLst>
      <p:ext uri="{C2564279-5F75-45E4-8376-C958FDCFB96B}">
        <p14:creationId xmlns:p14="http://schemas.microsoft.com/office/powerpoint/2010/main" val="1764837064987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20BC63F-4E67-4FC5-9A10-DB0290D44374}">
                <a16:creationId xmlns:a16="http://schemas.microsoft.com/office/drawing/2010/main" id="{D2B4D1EA-5B4B-4AEA-AA4F-DEB5F71D1E99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OBJECTIVE</a:t>
            </a:r>
            <a:endParaRPr dirty="0" lang="en-US"/>
          </a:p>
        </p:txBody>
      </p:sp>
      <p:sp>
        <p:nvSpPr>
          <p:cNvPr id="3" name="Content Placeholder 2">
            <a:extLst>
              <a:ext uri="{EE1F76D8-3BF9-4259-88C2-F41FB5648A43}">
                <a16:creationId xmlns:a16="http://schemas.microsoft.com/office/drawing/2010/main" id="{112FA1E4-840E-47D0-BAE0-4F602721D88E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333500"/>
            <a:ext cx="7620000" cy="3628587"/>
          </a:xfrm>
        </p:spPr>
        <p:txBody>
          <a:bodyPr rtlCol="0">
            <a:normAutofit fontScale="100000" lnSpcReduction="10000"/>
          </a:bodyPr>
          <a:lstStyle/>
          <a:p>
            <a:pPr algn="just"/>
            <a:r>
              <a:rPr dirty="0" lang="en-US">
                <a:latin typeface="Lato"/>
              </a:rPr>
              <a:t>The primary objective of deepfake video classification is to </a:t>
            </a:r>
            <a:r>
              <a:rPr b="0" dirty="0" lang="en-US">
                <a:latin typeface="Lato"/>
              </a:rPr>
              <a:t>develop robust, accurate, and generalizable models</a:t>
            </a:r>
            <a:r>
              <a:rPr dirty="0" lang="en-US">
                <a:latin typeface="Lato"/>
              </a:rPr>
              <a:t> that can automatically and reliably distinguish between authentic and manipulated video content.</a:t>
            </a:r>
          </a:p>
          <a:p>
            <a:pPr algn="just"/>
            <a:r>
              <a:rPr dirty="0" lang="en-US">
                <a:latin typeface="Lato"/>
              </a:rPr>
              <a:t>Robustness - </a:t>
            </a:r>
            <a:r>
              <a:rPr dirty="0" lang="en-US">
                <a:latin typeface="Lato"/>
              </a:rPr>
              <a:t>Maintaining performance even when videos are subjected to common distortions like compression, resizing, and low quality, which are typical on social media.</a:t>
            </a:r>
          </a:p>
          <a:p>
            <a:pPr algn="just"/>
            <a:r>
              <a:rPr dirty="0" lang="en-US">
                <a:latin typeface="Lato"/>
              </a:rPr>
              <a:t>Highly accurate - </a:t>
            </a:r>
            <a:r>
              <a:rPr dirty="0" lang="en-US">
                <a:latin typeface="Lato"/>
              </a:rPr>
              <a:t>Achieving high true positive and true negative  rates.</a:t>
            </a:r>
          </a:p>
          <a:p>
            <a:pPr algn="just"/>
            <a:r>
              <a:rPr dirty="0" lang="en-US">
                <a:latin typeface="Lato"/>
              </a:rPr>
              <a:t>Generalization - </a:t>
            </a:r>
            <a:r>
              <a:rPr dirty="0" lang="en-US">
                <a:latin typeface="Lato"/>
              </a:rPr>
              <a:t>Creating models that can detect </a:t>
            </a:r>
            <a:r>
              <a:rPr dirty="0" lang="en-US">
                <a:latin typeface="Lato"/>
              </a:rPr>
              <a:t>deepfakes</a:t>
            </a:r>
            <a:r>
              <a:rPr dirty="0" lang="en-US">
                <a:latin typeface="Lato"/>
              </a:rPr>
              <a:t> generated by novel or unseen generation techniques and models, which is a major challenge.</a:t>
            </a:r>
          </a:p>
          <a:p>
            <a:pPr algn="just"/>
            <a:r>
              <a:rPr b="0" dirty="0" lang="en-US">
                <a:latin typeface="Lato"/>
              </a:rPr>
              <a:t>Real-time Processing</a:t>
            </a:r>
            <a:r>
              <a:rPr b="1" dirty="0" lang="en-US">
                <a:latin typeface="Lato"/>
              </a:rPr>
              <a:t> - </a:t>
            </a:r>
            <a:r>
              <a:rPr dirty="0" lang="en-US">
                <a:latin typeface="Lato"/>
              </a:rPr>
              <a:t>Developing computationally efficient methods for deepfake detection, especially for application in social media platforms and live streams.</a:t>
            </a:r>
            <a:endParaRPr dirty="0" lang="en-US">
              <a:latin typeface="Lato"/>
            </a:endParaRPr>
          </a:p>
        </p:txBody>
      </p:sp>
    </p:spTree>
    <p:extLst>
      <p:ext uri="{D4D5D0B0-E5A1-47A0-9368-437FF692E14E}">
        <p14:creationId xmlns:p14="http://schemas.microsoft.com/office/powerpoint/2010/main" val="1764837064989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B50A2CF-580D-47D2-B201-8F6ED53FE3A9}">
                <a16:creationId xmlns:a16="http://schemas.microsoft.com/office/drawing/2010/main" id="{6268205B-EC1D-46FF-BA7E-B6DB80D2E1C9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TECHNOLOGIES</a:t>
            </a:r>
            <a:endParaRPr dirty="0" lang="en-US"/>
          </a:p>
        </p:txBody>
      </p:sp>
      <p:graphicFrame>
        <p:nvGraphicFramePr>
          <p:cNvPr hidden="false" id="3" name="Content Placeholder 2">
            <a:extLst>
              <a:ext uri="{3BC0C9DA-3E69-4AB8-B9CC-6E69133380FC}">
                <a16:creationId xmlns:a16="http://schemas.microsoft.com/office/drawing/2010/main" id="{577184D8-D09F-463D-AC0F-41FC037A36CE}"/>
              </a:ext>
            </a:extLst>
          </p:cNvPr>
          <p:cNvGraphicFramePr>
            <a:graphicFrameLocks noGrp="true"/>
          </p:cNvGraphicFramePr>
          <p:nvPr>
            <p:ph idx="1"/>
          </p:nvPr>
        </p:nvGraphicFramePr>
        <p:xfrm rot="0">
          <a:off x="762000" y="1333500"/>
          <a:ext cx="7620000" cy="3143250"/>
        </p:xfrm>
        <a:graphic>
          <a:graphicData uri="http://schemas.openxmlformats.org/drawingml/2006/table">
            <a:tbl>
              <a:tblPr firstRow="1">
                <a:tableStyleId>{4565FFFA-593B-4160-AE56-AA1E85AAE889}</a:tableStyleId>
              </a:tblPr>
              <a:tblGrid>
                <a:gridCol w="3810000"/>
                <a:gridCol w="3810000"/>
              </a:tblGrid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Category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Technology</a:t>
                      </a:r>
                      <a:endParaRPr dirty="0" lang="en-US"/>
                    </a:p>
                  </a:txBody>
                  <a:tcPr/>
                </a:tc>
              </a:tr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Language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Python</a:t>
                      </a:r>
                      <a:endParaRPr dirty="0" lang="en-US"/>
                    </a:p>
                  </a:txBody>
                  <a:tcPr/>
                </a:tc>
              </a:tr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Deep learning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Tensorflow/PyTorch</a:t>
                      </a:r>
                      <a:endParaRPr dirty="0" lang="en-US"/>
                    </a:p>
                  </a:txBody>
                  <a:tcPr/>
                </a:tc>
              </a:tr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Face detection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OpenCV</a:t>
                      </a:r>
                      <a:endParaRPr dirty="0" lang="en-US"/>
                    </a:p>
                  </a:txBody>
                  <a:tcPr/>
                </a:tc>
              </a:tr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CNN model 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Xception</a:t>
                      </a:r>
                      <a:r>
                        <a:rPr dirty="0" lang="en-US"/>
                        <a:t>/</a:t>
                      </a:r>
                      <a:r>
                        <a:rPr dirty="0" lang="en-US"/>
                        <a:t>ResNet</a:t>
                      </a:r>
                      <a:endParaRPr dirty="0" lang="en-US"/>
                    </a:p>
                  </a:txBody>
                  <a:tcPr/>
                </a:tc>
              </a:tr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Video processing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OpenCV</a:t>
                      </a:r>
                      <a:endParaRPr dirty="0" lang="en-US"/>
                    </a:p>
                  </a:txBody>
                  <a:tcPr/>
                </a:tc>
              </a:tr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Web application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Streamlit</a:t>
                      </a:r>
                      <a:endParaRPr dirty="0" lang="en-US"/>
                    </a:p>
                  </a:txBody>
                  <a:tcPr/>
                </a:tc>
              </a:tr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Dataset 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FaceForensics</a:t>
                      </a:r>
                      <a:r>
                        <a:rPr dirty="0" lang="en-US"/>
                        <a:t>++/</a:t>
                      </a:r>
                      <a:r>
                        <a:rPr dirty="0" lang="en-US"/>
                        <a:t>DFDC</a:t>
                      </a:r>
                      <a:r>
                        <a:rPr dirty="0" lang="en-US"/>
                        <a:t>/Celeb-DF</a:t>
                      </a:r>
                      <a:endParaRPr dirty="0"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991626C0-364B-4449-B223-2403DDDAB7BA}">
        <p14:creationId xmlns:p14="http://schemas.microsoft.com/office/powerpoint/2010/main" val="1764837064992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4A91D80-2B5E-4CF9-A0DA-AE6E5ACBCE27}">
                <a16:creationId xmlns:a16="http://schemas.microsoft.com/office/drawing/2010/main" id="{9B4D8D6A-D42D-435C-9812-A2BFD65276EB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METHODOLOGY</a:t>
            </a:r>
            <a:endParaRPr dirty="0" lang="en-US"/>
          </a:p>
        </p:txBody>
      </p:sp>
      <p:sp>
        <p:nvSpPr>
          <p:cNvPr id="3" name="Content Placeholder 2">
            <a:extLst>
              <a:ext uri="{79D9B091-E562-4704-B372-CC993CB885EF}">
                <a16:creationId xmlns:a16="http://schemas.microsoft.com/office/drawing/2010/main" id="{DECD021B-D2A4-463F-A3B1-AEC2792AFD8F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indent="-342900" marL="342900">
              <a:buChar char="•"/>
              <a:buFont typeface="Arial"/>
            </a:pPr>
            <a:r>
              <a:rPr dirty="0" lang="en-US"/>
              <a:t>The will be three main steps involved in the implementation of the deepfake faceswap detection project.</a:t>
            </a:r>
          </a:p>
          <a:p>
            <a:pPr indent="-342900" marL="342900">
              <a:buChar char="•"/>
              <a:buFont typeface="Arial"/>
            </a:pPr>
            <a:r>
              <a:rPr dirty="0" lang="en-US"/>
              <a:t>Steps :</a:t>
            </a:r>
          </a:p>
          <a:p>
            <a:pPr indent="-342900" lvl="1" marL="742950"/>
            <a:r>
              <a:rPr dirty="0" lang="en-US"/>
              <a:t>Data collection and preparation</a:t>
            </a:r>
          </a:p>
          <a:p>
            <a:pPr indent="-342900" lvl="1" marL="742950"/>
            <a:r>
              <a:rPr dirty="0" lang="en-US"/>
              <a:t>Feature analysis (Core part)</a:t>
            </a:r>
          </a:p>
          <a:p>
            <a:pPr indent="-342900" lvl="1" marL="742950"/>
            <a:r>
              <a:rPr dirty="0" lang="en-US"/>
              <a:t>Classification (Final output)</a:t>
            </a:r>
          </a:p>
          <a:p>
            <a:pPr indent="-342900" marL="342900">
              <a:buChar char="•"/>
              <a:buFont typeface="Arial"/>
            </a:pPr>
            <a:r>
              <a:rPr dirty="0" lang="en-US"/>
              <a:t/>
            </a:r>
          </a:p>
          <a:p>
            <a:pPr indent="-342900" marL="342900">
              <a:buChar char="•"/>
              <a:buFont typeface="Arial"/>
            </a:pPr>
            <a:r>
              <a:rPr dirty="0" lang="en-US"/>
              <a:t/>
            </a:r>
            <a:endParaRPr dirty="0" lang="en-US"/>
          </a:p>
        </p:txBody>
      </p:sp>
    </p:spTree>
    <p:extLst>
      <p:ext uri="{6C2BC0F9-02F5-4D28-9F28-E91EE7733FE7}">
        <p14:creationId xmlns:p14="http://schemas.microsoft.com/office/powerpoint/2010/main" val="1764837064994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C5D62EC-ECF6-4EB0-A0FB-BF3F22813E00}">
                <a16:creationId xmlns:a16="http://schemas.microsoft.com/office/drawing/2010/main" id="{B6ECAD7E-D6C4-42BC-A823-87BF3E0218CB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DATA COLLECTION N </a:t>
            </a:r>
            <a:r>
              <a:rPr dirty="0" lang="en-US"/>
              <a:t>PREAPRATION</a:t>
            </a:r>
            <a:endParaRPr dirty="0" lang="en-US"/>
          </a:p>
        </p:txBody>
      </p:sp>
      <p:sp>
        <p:nvSpPr>
          <p:cNvPr id="3" name="Content Placeholder 2">
            <a:extLst>
              <a:ext uri="{3814B4A8-608F-461C-9D27-BF80F219FE27}">
                <a16:creationId xmlns:a16="http://schemas.microsoft.com/office/drawing/2010/main" id="{7F8F134B-2743-4C30-B976-98B2E2BED630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dirty="0" lang="en-US"/>
              <a:t>As for the dataset, we will be using either the Faceforencis++ dataset or Deepfake detection challenge (DFDC) dataset.</a:t>
            </a:r>
          </a:p>
          <a:p>
            <a:pPr algn="just"/>
            <a:r>
              <a:rPr dirty="0" lang="en-US"/>
              <a:t>The main focus will be on the facial features.</a:t>
            </a:r>
          </a:p>
          <a:p>
            <a:pPr algn="just"/>
            <a:r>
              <a:rPr dirty="0" lang="en-US"/>
              <a:t>We will be using the face detection algorithms like MTCNN or </a:t>
            </a:r>
            <a:r>
              <a:rPr dirty="0" lang="en-US"/>
              <a:t>RetinaFace</a:t>
            </a:r>
            <a:r>
              <a:rPr dirty="0" lang="en-US"/>
              <a:t> to localize and extract the facial region from each video frame. </a:t>
            </a:r>
            <a:endParaRPr dirty="0" lang="en-US"/>
          </a:p>
        </p:txBody>
      </p:sp>
    </p:spTree>
    <p:extLst>
      <p:ext uri="{20AA33D5-281E-40A2-BFC3-FA09E6D3A6AD}">
        <p14:creationId xmlns:p14="http://schemas.microsoft.com/office/powerpoint/2010/main" val="176483706499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0FAD2F3-5209-4280-A847-9558356DE217}">
                <a16:creationId xmlns:a16="http://schemas.microsoft.com/office/drawing/2010/main" id="{F79F2627-9B84-4964-A895-55651260285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FEATURE ANALYSIS</a:t>
            </a:r>
            <a:endParaRPr dirty="0" lang="en-US"/>
          </a:p>
        </p:txBody>
      </p:sp>
      <p:graphicFrame>
        <p:nvGraphicFramePr>
          <p:cNvPr hidden="false" id="3" name="Content Placeholder 2">
            <a:extLst>
              <a:ext uri="{62BB5A7F-2A92-43DB-B411-DABF64E1CD87}">
                <a16:creationId xmlns:a16="http://schemas.microsoft.com/office/drawing/2010/main" id="{E9F63545-A92E-43DA-B579-B0D7811D46D9}"/>
              </a:ext>
            </a:extLst>
          </p:cNvPr>
          <p:cNvGraphicFramePr>
            <a:graphicFrameLocks noGrp="true"/>
          </p:cNvGraphicFramePr>
          <p:nvPr>
            <p:ph idx="1"/>
          </p:nvPr>
        </p:nvGraphicFramePr>
        <p:xfrm rot="0">
          <a:off x="762000" y="1297362"/>
          <a:ext cx="7620000" cy="3143250"/>
        </p:xfrm>
        <a:graphic>
          <a:graphicData uri="http://schemas.openxmlformats.org/drawingml/2006/table">
            <a:tbl>
              <a:tblPr firstRow="1">
                <a:tableStyleId>{4565FFFA-593B-4160-AE56-AA1E85AAE889}</a:tableStyleId>
              </a:tblPr>
              <a:tblGrid>
                <a:gridCol w="2540000"/>
                <a:gridCol w="2540000"/>
                <a:gridCol w="2540000"/>
              </a:tblGrid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Analysis type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Focus</a:t>
                      </a:r>
                      <a:endParaRPr dirty="0" lang="en-US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/>
                        <a:t>Key technology</a:t>
                      </a:r>
                      <a:endParaRPr dirty="0" lang="en-US"/>
                    </a:p>
                  </a:txBody>
                  <a:tcPr/>
                </a:tc>
              </a:tr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 sz="1400"/>
                        <a:t>Spatial inconsistencies </a:t>
                      </a:r>
                    </a:p>
                    <a:p>
                      <a:pPr/>
                      <a:r>
                        <a:rPr dirty="0" lang="en-US" sz="1400"/>
                        <a:t>(Frame-Level)</a:t>
                      </a:r>
                      <a:endParaRPr dirty="0" lang="en-US" sz="1400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 algn="l"/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Detecting </a:t>
                      </a:r>
                      <a:r>
                        <a:rPr b="0"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pixel-level artifacts</a:t>
                      </a:r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, texture mismatches,</a:t>
                      </a:r>
                    </a:p>
                    <a:p>
                      <a:pPr algn="l"/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inconsistent noise patterns, or unnatural facial symmetry/blending boundaries</a:t>
                      </a:r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.</a:t>
                      </a:r>
                      <a:endParaRPr dirty="0" lang="en-US" sz="1400">
                        <a:solidFill>
                          <a:schemeClr val="dk1"/>
                        </a:solidFill>
                        <a:latin typeface="Lato"/>
                      </a:endParaRPr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b="0"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CNN Architectures</a:t>
                      </a:r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 (</a:t>
                      </a:r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ResNet</a:t>
                      </a:r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 or </a:t>
                      </a:r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Xception</a:t>
                      </a:r>
                      <a:r>
                        <a:rPr dirty="0" err="1" lang="en-US" sz="1400">
                          <a:solidFill>
                            <a:schemeClr val="dk1"/>
                          </a:solidFill>
                          <a:latin typeface="Lato"/>
                        </a:rPr>
                        <a:t>)</a:t>
                      </a:r>
                      <a:endParaRPr dirty="0" err="1" lang="en-US" sz="1400">
                        <a:solidFill>
                          <a:schemeClr val="dk1"/>
                        </a:solidFill>
                        <a:latin typeface="Lato"/>
                      </a:endParaRPr>
                    </a:p>
                  </a:txBody>
                  <a:tcPr/>
                </a:tc>
              </a:tr>
              <a:tr h="371475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 sz="1400"/>
                        <a:t>Temporal inconsistencies</a:t>
                      </a:r>
                    </a:p>
                    <a:p>
                      <a:pPr/>
                      <a:r>
                        <a:rPr dirty="0" lang="en-US" sz="1400"/>
                        <a:t>(Video-Level)</a:t>
                      </a:r>
                      <a:endParaRPr dirty="0" lang="en-US" sz="1400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Detecting </a:t>
                      </a:r>
                      <a:r>
                        <a:rPr b="0"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flickering</a:t>
                      </a:r>
                      <a:r>
                        <a:rPr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, lack of smooth head movements, inconsistent lighting across frames, or lack of natural eye blinking/lip synchronization over time.</a:t>
                      </a:r>
                      <a:endParaRPr dirty="0" lang="en-US" sz="1400">
                        <a:solidFill>
                          <a:schemeClr val="dk1"/>
                        </a:solidFill>
                        <a:latin typeface="Lato"/>
                      </a:endParaRPr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b="0"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RNNs</a:t>
                      </a:r>
                      <a:r>
                        <a:rPr b="0"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 / </a:t>
                      </a:r>
                      <a:r>
                        <a:rPr b="0"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LSTMs</a:t>
                      </a:r>
                      <a:r>
                        <a:rPr b="0" dirty="0" lang="en-US" sz="1400">
                          <a:solidFill>
                            <a:schemeClr val="dk1"/>
                          </a:solidFill>
                          <a:latin typeface="Lato"/>
                        </a:rPr>
                        <a:t> </a:t>
                      </a:r>
                      <a:endParaRPr b="0" dirty="0" lang="en-US" sz="1400">
                        <a:solidFill>
                          <a:schemeClr val="dk1"/>
                        </a:solidFill>
                        <a:latin typeface="Lato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FBDCEAA9-31D3-44A8-AF99-228A75A8EE87}">
        <p14:creationId xmlns:p14="http://schemas.microsoft.com/office/powerpoint/2010/main" val="1764837064998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D9AA846-9ABA-42FE-BCA8-25E9E4AEC921}">
                <a16:creationId xmlns:a16="http://schemas.microsoft.com/office/drawing/2010/main" id="{D4574BC5-7C36-4D8B-B49D-31768931AEE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CLASSIFICATION</a:t>
            </a:r>
            <a:endParaRPr dirty="0" lang="en-US"/>
          </a:p>
        </p:txBody>
      </p:sp>
      <p:sp>
        <p:nvSpPr>
          <p:cNvPr id="3" name="Content Placeholder 2">
            <a:extLst>
              <a:ext uri="{12EE9B2C-A785-4FB7-B94D-64ED6C12A5C9}">
                <a16:creationId xmlns:a16="http://schemas.microsoft.com/office/drawing/2010/main" id="{805F9DB6-A5EC-47C8-B19C-1B07C82C5D89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dirty="0" lang="en-US">
                <a:latin typeface="Lato"/>
              </a:rPr>
              <a:t>The extracted spatial and temporal features are fed into a final classification layer which performs the </a:t>
            </a:r>
            <a:r>
              <a:rPr b="0" dirty="0" lang="en-US">
                <a:latin typeface="Lato"/>
              </a:rPr>
              <a:t>binary classification</a:t>
            </a:r>
            <a:r>
              <a:rPr dirty="0" lang="en-US">
                <a:latin typeface="Lato"/>
              </a:rPr>
              <a:t>—predicting if the input video is </a:t>
            </a:r>
            <a:r>
              <a:rPr b="0" dirty="0" lang="en-US">
                <a:latin typeface="Lato"/>
              </a:rPr>
              <a:t>Real</a:t>
            </a:r>
            <a:r>
              <a:rPr b="0" dirty="0" lang="en-US">
                <a:latin typeface="Lato"/>
              </a:rPr>
              <a:t> or </a:t>
            </a:r>
            <a:r>
              <a:rPr b="0" dirty="0" lang="en-US">
                <a:latin typeface="Lato"/>
              </a:rPr>
              <a:t>Fake</a:t>
            </a:r>
            <a:r>
              <a:rPr dirty="0" lang="en-US">
                <a:latin typeface="Lato"/>
              </a:rPr>
              <a:t>.</a:t>
            </a:r>
            <a:endParaRPr dirty="0" lang="en-US">
              <a:latin typeface="Lato"/>
            </a:endParaRPr>
          </a:p>
        </p:txBody>
      </p:sp>
    </p:spTree>
    <p:extLst>
      <p:ext uri="{DC837F0C-1D78-4689-A3BD-FFD942FF2851}">
        <p14:creationId xmlns:p14="http://schemas.microsoft.com/office/powerpoint/2010/main" val="1764837065000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D4BFF20-C503-4072-BD5B-B6E0730D0495}">
                <a16:creationId xmlns:a16="http://schemas.microsoft.com/office/drawing/2010/main" id="{1DFCFD13-93AB-4933-A15C-23A807075E5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FUTURE SCOPE </a:t>
            </a:r>
            <a:endParaRPr dirty="0" lang="en-US"/>
          </a:p>
        </p:txBody>
      </p:sp>
      <p:sp>
        <p:nvSpPr>
          <p:cNvPr id="3" name="Content Placeholder 2">
            <a:extLst>
              <a:ext uri="{7445737D-9809-4F42-8BE4-A6F698330136}">
                <a16:creationId xmlns:a16="http://schemas.microsoft.com/office/drawing/2010/main" id="{7D6045FA-192E-4442-951F-F632B58C373E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dirty="0" lang="en-US"/>
              <a:t>Multimodal</a:t>
            </a:r>
            <a:r>
              <a:rPr dirty="0" lang="en-US"/>
              <a:t> detection frameworks can be added in order to detect inconsistencies in audio or text (subtitles or transcripts).</a:t>
            </a:r>
          </a:p>
          <a:p>
            <a:pPr algn="just"/>
            <a:r>
              <a:rPr dirty="0" lang="en-US">
                <a:latin typeface="Lato"/>
              </a:rPr>
              <a:t>Extend detection capabilities beyond just the face to cover manipulation of </a:t>
            </a:r>
            <a:r>
              <a:rPr b="0" dirty="0" lang="en-US">
                <a:latin typeface="Lato"/>
              </a:rPr>
              <a:t>entire scenes, body movements, and complex interactions.</a:t>
            </a:r>
          </a:p>
          <a:p>
            <a:pPr algn="just"/>
            <a:r>
              <a:rPr b="0" dirty="0" lang="en-US">
                <a:latin typeface="Lato"/>
              </a:rPr>
              <a:t>Develop models that are less reliant on detecting specific, known generation artifacts and can generalize effectively to </a:t>
            </a:r>
            <a:r>
              <a:rPr b="0" dirty="0" lang="en-US">
                <a:latin typeface="Lato"/>
              </a:rPr>
              <a:t>novel or unseen deepfake techniques</a:t>
            </a:r>
            <a:r>
              <a:rPr b="0" dirty="0" lang="en-US">
                <a:latin typeface="Lato"/>
              </a:rPr>
              <a:t>.</a:t>
            </a:r>
            <a:endParaRPr b="0" dirty="0" lang="en-US">
              <a:latin typeface="Lato"/>
            </a:endParaRPr>
          </a:p>
        </p:txBody>
      </p:sp>
    </p:spTree>
    <p:extLst>
      <p:ext uri="{B69EBCE2-00EE-44B2-93D4-0A047CA4C7F6}">
        <p14:creationId xmlns:p14="http://schemas.microsoft.com/office/powerpoint/2010/main" val="176483706500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EA9593F-A5A9-4309-9BF9-515E4F812D48}">
                <a16:creationId xmlns:a16="http://schemas.microsoft.com/office/drawing/2010/main" id="{34F4AA07-BBA8-4DB6-9B0D-3DDB28C1FADE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CONCLUSION</a:t>
            </a:r>
            <a:endParaRPr dirty="0" lang="en-US"/>
          </a:p>
        </p:txBody>
      </p:sp>
      <p:sp>
        <p:nvSpPr>
          <p:cNvPr id="3" name="Content Placeholder 2">
            <a:extLst>
              <a:ext uri="{237B7146-28E7-42D3-87EA-FB6B32BBBBB2}">
                <a16:creationId xmlns:a16="http://schemas.microsoft.com/office/drawing/2010/main" id="{87F753DE-41F1-47D7-B565-09C3A4C19F14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b="0" dirty="0" lang="en-US">
                <a:latin typeface="Lato"/>
              </a:rPr>
              <a:t>Arms Race</a:t>
            </a:r>
            <a:r>
              <a:rPr b="1" dirty="0" lang="en-US">
                <a:latin typeface="Lato"/>
              </a:rPr>
              <a:t> -</a:t>
            </a:r>
            <a:r>
              <a:rPr dirty="0" lang="en-US">
                <a:latin typeface="Lato"/>
              </a:rPr>
              <a:t> Detection is difficult because generative models (deepfakes) are constantly evolving, requiring models to achieve </a:t>
            </a:r>
            <a:r>
              <a:rPr b="0" dirty="0" lang="en-US">
                <a:latin typeface="Lato"/>
              </a:rPr>
              <a:t>generalization</a:t>
            </a:r>
            <a:r>
              <a:rPr dirty="0" lang="en-US">
                <a:latin typeface="Lato"/>
              </a:rPr>
              <a:t> to unseen fakes.</a:t>
            </a:r>
          </a:p>
          <a:p>
            <a:pPr algn="just"/>
            <a:r>
              <a:rPr b="0" dirty="0" lang="en-US">
                <a:latin typeface="Lato"/>
              </a:rPr>
              <a:t>Core Methodology</a:t>
            </a:r>
            <a:r>
              <a:rPr b="1" dirty="0" lang="en-US">
                <a:latin typeface="Lato"/>
              </a:rPr>
              <a:t>:</a:t>
            </a:r>
            <a:r>
              <a:rPr dirty="0" lang="en-US">
                <a:latin typeface="Lato"/>
              </a:rPr>
              <a:t> Successful detection relies on Deep Learning models that exploit both </a:t>
            </a:r>
            <a:r>
              <a:rPr b="0" dirty="0" lang="en-US">
                <a:latin typeface="Lato"/>
              </a:rPr>
              <a:t>subtle spatial artifacts</a:t>
            </a:r>
            <a:r>
              <a:rPr dirty="0" lang="en-US">
                <a:latin typeface="Lato"/>
              </a:rPr>
              <a:t> and </a:t>
            </a:r>
            <a:r>
              <a:rPr b="0" dirty="0" lang="en-US">
                <a:latin typeface="Lato"/>
              </a:rPr>
              <a:t>temporal inconsistencies</a:t>
            </a:r>
            <a:r>
              <a:rPr dirty="0" lang="en-US">
                <a:latin typeface="Lato"/>
              </a:rPr>
              <a:t> (like unnatural movement or flickering) in the manipulated videos.</a:t>
            </a:r>
          </a:p>
          <a:p>
            <a:pPr algn="just"/>
            <a:r>
              <a:rPr b="0" dirty="0" lang="en-US">
                <a:latin typeface="Lato"/>
              </a:rPr>
              <a:t>Future Focus</a:t>
            </a:r>
            <a:r>
              <a:rPr b="1" dirty="0" lang="en-US">
                <a:latin typeface="Lato"/>
              </a:rPr>
              <a:t>:</a:t>
            </a:r>
            <a:r>
              <a:rPr dirty="0" lang="en-US">
                <a:latin typeface="Lato"/>
              </a:rPr>
              <a:t> The field must move toward </a:t>
            </a:r>
            <a:r>
              <a:rPr b="0" dirty="0" lang="en-US">
                <a:latin typeface="Lato"/>
              </a:rPr>
              <a:t>Multimodal detection</a:t>
            </a:r>
            <a:r>
              <a:rPr dirty="0" lang="en-US">
                <a:latin typeface="Lato"/>
              </a:rPr>
              <a:t> (analyzing audio and video) and integrating</a:t>
            </a:r>
            <a:r>
              <a:rPr b="1" dirty="0" lang="en-US">
                <a:latin typeface="Lato"/>
              </a:rPr>
              <a:t> </a:t>
            </a:r>
            <a:r>
              <a:rPr b="0" dirty="0" lang="en-US">
                <a:latin typeface="Lato"/>
              </a:rPr>
              <a:t>Explainable AI (XAI)</a:t>
            </a:r>
            <a:r>
              <a:rPr dirty="0" lang="en-US">
                <a:latin typeface="Lato"/>
              </a:rPr>
              <a:t> to build trust and forensic utility.</a:t>
            </a:r>
            <a:endParaRPr dirty="0" lang="en-US">
              <a:latin typeface="Lato"/>
            </a:endParaRPr>
          </a:p>
        </p:txBody>
      </p:sp>
    </p:spTree>
    <p:extLst>
      <p:ext uri="{CD208E0E-DAC2-4E86-A3A2-8A02FAA77190}">
        <p14:creationId xmlns:p14="http://schemas.microsoft.com/office/powerpoint/2010/main" val="1764837065005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Stardust">
  <a:themeElements>
    <a:clrScheme name="Stardust">
      <a:dk1>
        <a:srgbClr val="000000"/>
      </a:dk1>
      <a:lt1>
        <a:srgbClr val="ffffff"/>
      </a:lt1>
      <a:dk2>
        <a:srgbClr val="121314"/>
      </a:dk2>
      <a:lt2>
        <a:srgbClr val="f0f0f0"/>
      </a:lt2>
      <a:accent1>
        <a:srgbClr val="f2cd4a"/>
      </a:accent1>
      <a:accent2>
        <a:srgbClr val="ffa300"/>
      </a:accent2>
      <a:accent3>
        <a:srgbClr val="c28120"/>
      </a:accent3>
      <a:accent4>
        <a:srgbClr val="d96a0d"/>
      </a:accent4>
      <a:accent5>
        <a:srgbClr val="803310"/>
      </a:accent5>
      <a:accent6>
        <a:srgbClr val="ac0f1e"/>
      </a:accent6>
      <a:hlink>
        <a:srgbClr val="2d83d8"/>
      </a:hlink>
      <a:folHlink>
        <a:srgbClr val="c1408a"/>
      </a:folHlink>
    </a:clrScheme>
    <a:fontScheme name="Stardust">
      <a:majorFont>
        <a:latin typeface="Zoho Puvi"/>
        <a:ea typeface=""/>
        <a:cs typeface=""/>
      </a:majorFont>
      <a:minorFont>
        <a:latin typeface="Zoho Puvi"/>
        <a:ea typeface=""/>
        <a:cs typeface=""/>
      </a:minorFont>
    </a:fontScheme>
    <a:fmtScheme name="Stardu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Stardust">
  <a:themeElements>
    <a:clrScheme name="Stardust">
      <a:dk1>
        <a:srgbClr val="000000"/>
      </a:dk1>
      <a:lt1>
        <a:srgbClr val="ffffff"/>
      </a:lt1>
      <a:dk2>
        <a:srgbClr val="121314"/>
      </a:dk2>
      <a:lt2>
        <a:srgbClr val="f0f0f0"/>
      </a:lt2>
      <a:accent1>
        <a:srgbClr val="f2cd4a"/>
      </a:accent1>
      <a:accent2>
        <a:srgbClr val="ffa300"/>
      </a:accent2>
      <a:accent3>
        <a:srgbClr val="c28120"/>
      </a:accent3>
      <a:accent4>
        <a:srgbClr val="d96a0d"/>
      </a:accent4>
      <a:accent5>
        <a:srgbClr val="803310"/>
      </a:accent5>
      <a:accent6>
        <a:srgbClr val="ac0f1e"/>
      </a:accent6>
      <a:hlink>
        <a:srgbClr val="2d83d8"/>
      </a:hlink>
      <a:folHlink>
        <a:srgbClr val="c1408a"/>
      </a:folHlink>
    </a:clrScheme>
    <a:fontScheme name="Stardust">
      <a:majorFont>
        <a:latin typeface="Zoho Puvi"/>
        <a:ea typeface=""/>
        <a:cs typeface=""/>
      </a:majorFont>
      <a:minorFont>
        <a:latin typeface="Zoho Puvi"/>
        <a:ea typeface=""/>
        <a:cs typeface=""/>
      </a:minorFont>
    </a:fontScheme>
    <a:fmtScheme name="Stardu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2025-12-02T23:07:11Z</dcterms:created>
  <dcterms:modified xsi:type="dcterms:W3CDTF">2025-12-04T14:00:34Z</dcterms:modified>
</cp:coreProperties>
</file>